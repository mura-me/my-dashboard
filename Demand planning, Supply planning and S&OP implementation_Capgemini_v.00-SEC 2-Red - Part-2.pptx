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ags/tag2.xml" ContentType="application/vnd.openxmlformats-officedocument.presentationml.tags+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ags/tag5.xml" ContentType="application/vnd.openxmlformats-officedocument.presentationml.tags+xml"/>
  <Override PartName="/ppt/tags/tag6.xml" ContentType="application/vnd.openxmlformats-officedocument.presentationml.tags+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tags/tag7.xml" ContentType="application/vnd.openxmlformats-officedocument.presentationml.tags+xml"/>
  <Override PartName="/ppt/tags/tag8.xml" ContentType="application/vnd.openxmlformats-officedocument.presentationml.tags+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notesSlides/notesSlide3.xml" ContentType="application/vnd.openxmlformats-officedocument.presentationml.notesSlide+xml"/>
  <Override PartName="/ppt/theme/themeOverride6.xml" ContentType="application/vnd.openxmlformats-officedocument.themeOverride+xml"/>
  <Override PartName="/ppt/notesSlides/notesSlide4.xml" ContentType="application/vnd.openxmlformats-officedocument.presentationml.notesSlide+xml"/>
  <Override PartName="/ppt/theme/themeOverride7.xml" ContentType="application/vnd.openxmlformats-officedocument.themeOverride+xml"/>
  <Override PartName="/ppt/tags/tag9.xml" ContentType="application/vnd.openxmlformats-officedocument.presentationml.tags+xml"/>
  <Override PartName="/ppt/tags/tag10.xml" ContentType="application/vnd.openxmlformats-officedocument.presentationml.tags+xml"/>
  <Override PartName="/ppt/theme/themeOverride8.xml" ContentType="application/vnd.openxmlformats-officedocument.themeOverride+xml"/>
  <Override PartName="/ppt/tags/tag11.xml" ContentType="application/vnd.openxmlformats-officedocument.presentationml.tags+xml"/>
  <Override PartName="/ppt/tags/tag1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4118" r:id="rId4"/>
    <p:sldMasterId id="2147484232" r:id="rId5"/>
    <p:sldMasterId id="2147484250" r:id="rId6"/>
  </p:sldMasterIdLst>
  <p:notesMasterIdLst>
    <p:notesMasterId r:id="rId32"/>
  </p:notesMasterIdLst>
  <p:handoutMasterIdLst>
    <p:handoutMasterId r:id="rId33"/>
  </p:handoutMasterIdLst>
  <p:sldIdLst>
    <p:sldId id="2147376699" r:id="rId7"/>
    <p:sldId id="2147376700" r:id="rId8"/>
    <p:sldId id="2147376701" r:id="rId9"/>
    <p:sldId id="2147376702" r:id="rId10"/>
    <p:sldId id="2147376708" r:id="rId11"/>
    <p:sldId id="2147376713" r:id="rId12"/>
    <p:sldId id="2147376705" r:id="rId13"/>
    <p:sldId id="2147483569" r:id="rId14"/>
    <p:sldId id="2142533961" r:id="rId15"/>
    <p:sldId id="2147376711" r:id="rId16"/>
    <p:sldId id="2147376673" r:id="rId17"/>
    <p:sldId id="2147376709" r:id="rId18"/>
    <p:sldId id="2147376710" r:id="rId19"/>
    <p:sldId id="2147375527" r:id="rId20"/>
    <p:sldId id="2147483570" r:id="rId21"/>
    <p:sldId id="2147483571" r:id="rId22"/>
    <p:sldId id="2147376714" r:id="rId23"/>
    <p:sldId id="2147483572" r:id="rId24"/>
    <p:sldId id="2147483567" r:id="rId25"/>
    <p:sldId id="580" r:id="rId26"/>
    <p:sldId id="2147483568" r:id="rId27"/>
    <p:sldId id="589" r:id="rId28"/>
    <p:sldId id="590" r:id="rId29"/>
    <p:sldId id="591" r:id="rId30"/>
    <p:sldId id="2147376609" r:id="rId31"/>
  </p:sldIdLst>
  <p:sldSz cx="12192000" cy="6858000"/>
  <p:notesSz cx="6797675" cy="9926638"/>
  <p:embeddedFontLst>
    <p:embeddedFont>
      <p:font typeface="Arial Narrow" panose="020B0606020202030204" pitchFamily="34" charset="0"/>
      <p:regular r:id="rId34"/>
      <p:bold r:id="rId35"/>
      <p:italic r:id="rId36"/>
      <p:boldItalic r:id="rId37"/>
    </p:embeddedFont>
    <p:embeddedFont>
      <p:font typeface="Segoe UI" panose="020B0502040204020203" pitchFamily="34" charset="0"/>
      <p:regular r:id="rId38"/>
      <p:bold r:id="rId39"/>
      <p:italic r:id="rId40"/>
      <p:boldItalic r:id="rId41"/>
    </p:embeddedFont>
    <p:embeddedFont>
      <p:font typeface="Tahoma" panose="020B0604030504040204" pitchFamily="34" charset="0"/>
      <p:regular r:id="rId42"/>
      <p:bold r:id="rId43"/>
    </p:embeddedFont>
    <p:embeddedFont>
      <p:font typeface="Ubuntu" panose="020B0504030602030204" pitchFamily="34" charset="0"/>
      <p:regular r:id="rId44"/>
      <p:bold r:id="rId45"/>
      <p:italic r:id="rId46"/>
      <p:boldItalic r:id="rId47"/>
    </p:embeddedFont>
    <p:embeddedFont>
      <p:font typeface="Ubuntu Light" panose="020B0304030602030204" pitchFamily="34" charset="0"/>
      <p:regular r:id="rId48"/>
      <p:italic r:id="rId49"/>
    </p:embeddedFont>
    <p:embeddedFont>
      <p:font typeface="Ubuntu Medium" panose="020B0604030602030204" pitchFamily="34" charset="0"/>
      <p:regular r:id="rId50"/>
      <p:italic r:id="rId51"/>
    </p:embeddedFont>
    <p:embeddedFont>
      <p:font typeface="Verdana" panose="020B0604030504040204" pitchFamily="34" charset="0"/>
      <p:regular r:id="rId52"/>
      <p:bold r:id="rId53"/>
      <p:italic r:id="rId54"/>
      <p:boldItalic r:id="rId55"/>
    </p:embeddedFont>
  </p:embeddedFontLst>
  <p:custDataLst>
    <p:tags r:id="rId56"/>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lan" id="{16F9D93D-2D5D-429D-9AC6-2631606B4FF5}">
          <p14:sldIdLst>
            <p14:sldId id="2147376699"/>
            <p14:sldId id="2147376700"/>
          </p14:sldIdLst>
        </p14:section>
        <p14:section name="Team and governance model" id="{8DDE78D7-D5C5-4263-ACA5-210FC92A3721}">
          <p14:sldIdLst>
            <p14:sldId id="2147376701"/>
            <p14:sldId id="2147376702"/>
            <p14:sldId id="2147376708"/>
            <p14:sldId id="2147376713"/>
          </p14:sldIdLst>
        </p14:section>
        <p14:section name="Credentials" id="{AD8DC837-707E-4FD2-8859-C0A777862C84}">
          <p14:sldIdLst>
            <p14:sldId id="2147376705"/>
            <p14:sldId id="2147483569"/>
            <p14:sldId id="2142533961"/>
            <p14:sldId id="2147376711"/>
            <p14:sldId id="2147376673"/>
            <p14:sldId id="2147376709"/>
            <p14:sldId id="2147376710"/>
            <p14:sldId id="2147375527"/>
            <p14:sldId id="2147483570"/>
            <p14:sldId id="2147483571"/>
            <p14:sldId id="2147376714"/>
            <p14:sldId id="2147483572"/>
            <p14:sldId id="2147483567"/>
            <p14:sldId id="580"/>
            <p14:sldId id="2147483568"/>
            <p14:sldId id="589"/>
            <p14:sldId id="590"/>
            <p14:sldId id="591"/>
            <p14:sldId id="2147376609"/>
          </p14:sldIdLst>
        </p14:section>
      </p14:sectionLst>
    </p:ext>
    <p:ext uri="{EFAFB233-063F-42B5-8137-9DF3F51BA10A}">
      <p15:sldGuideLst xmlns:p15="http://schemas.microsoft.com/office/powerpoint/2012/main">
        <p15:guide id="10" orient="horz" pos="2886" userDrawn="1">
          <p15:clr>
            <a:srgbClr val="A4A3A4"/>
          </p15:clr>
        </p15:guide>
        <p15:guide id="19" pos="5995" userDrawn="1">
          <p15:clr>
            <a:srgbClr val="A4A3A4"/>
          </p15:clr>
        </p15:guide>
        <p15:guide id="20" pos="207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B9CB66-C024-C61B-ACF9-FCD421A60596}" name="Gaspar, Nuno" initials="NG" userId="S::nuno.gaspar@capgemini.com::b00d4094-c313-4b66-8919-d486b931f6bd" providerId="AD"/>
  <p188:author id="{1A305B6E-C1CA-4339-C11F-9DAEEFBE3DFC}" name="Reinoso Otero, Maria" initials="MR" userId="S::maria.reinoso-otero@capgemini.com::ea4c15e1-0ad8-424b-8ca4-f24c2d775cf6" providerId="AD"/>
  <p188:author id="{74E3F497-D2C2-6912-68CB-EAA7E5E8AF1B}" name="Jimenez Pearce, Bryant" initials="BJ" userId="S::bryant.jimenez-pearce@capgemini.com::d6dff0b6-966c-4e26-bdf3-15b146b313c7" providerId="AD"/>
  <p188:author id="{1BBB2AD6-A21A-8FFC-6142-B8C41CA17477}" name="Pedro, Paulo" initials="PP" userId="S::paulo.pedro.external@capgemini.com::67960ec2-58f0-4841-b9f7-0d4a560f41ed" providerId="AD"/>
  <p188:author id="{6C8FFAEB-9885-73F7-7909-89105660BC77}" name="Pera Luna, Isabella" initials="PI" userId="S::isabella.pera-luna@capgemini.com::9ad9611a-d588-4c70-9458-31f5ac87092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2ABDB"/>
    <a:srgbClr val="000000"/>
    <a:srgbClr val="BFBFBF"/>
    <a:srgbClr val="063C4C"/>
    <a:srgbClr val="0B6C8A"/>
    <a:srgbClr val="005482"/>
    <a:srgbClr val="CEDBE6"/>
    <a:srgbClr val="09566D"/>
    <a:srgbClr val="0070AD"/>
    <a:srgbClr val="9D46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59" d="100"/>
          <a:sy n="59" d="100"/>
        </p:scale>
        <p:origin x="1000" y="52"/>
      </p:cViewPr>
      <p:guideLst>
        <p:guide orient="horz" pos="2886"/>
        <p:guide pos="5995"/>
        <p:guide pos="2071"/>
      </p:guideLst>
    </p:cSldViewPr>
  </p:slideViewPr>
  <p:notesTextViewPr>
    <p:cViewPr>
      <p:scale>
        <a:sx n="1" d="1"/>
        <a:sy n="1" d="1"/>
      </p:scale>
      <p:origin x="0" y="0"/>
    </p:cViewPr>
  </p:notesTextViewPr>
  <p:sorterViewPr>
    <p:cViewPr>
      <p:scale>
        <a:sx n="100" d="100"/>
        <a:sy n="100" d="100"/>
      </p:scale>
      <p:origin x="0" y="-1396"/>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6.fntdata"/><Relationship Id="rId21" Type="http://schemas.openxmlformats.org/officeDocument/2006/relationships/slide" Target="slides/slide15.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font" Target="fonts/font22.fntdata"/><Relationship Id="rId63"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font" Target="fonts/font20.fntdata"/><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tags" Target="tags/tag1.xml"/><Relationship Id="rId8" Type="http://schemas.openxmlformats.org/officeDocument/2006/relationships/slide" Target="slides/slide2.xml"/><Relationship Id="rId51" Type="http://schemas.openxmlformats.org/officeDocument/2006/relationships/font" Target="fonts/font18.fntdata"/><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font" Target="fonts/font13.fntdata"/><Relationship Id="rId59"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font" Target="fonts/font8.fntdata"/><Relationship Id="rId54" Type="http://schemas.openxmlformats.org/officeDocument/2006/relationships/font" Target="fonts/font21.fntdata"/><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3.fntdata"/><Relationship Id="rId49" Type="http://schemas.openxmlformats.org/officeDocument/2006/relationships/font" Target="fonts/font16.fntdata"/><Relationship Id="rId57" Type="http://schemas.openxmlformats.org/officeDocument/2006/relationships/commentAuthors" Target="commentAuthor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font" Target="fonts/font11.fntdata"/><Relationship Id="rId52" Type="http://schemas.openxmlformats.org/officeDocument/2006/relationships/font" Target="fonts/font19.fntdata"/><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 Monika" userId="3e7e7951-9e5c-4c09-b6f2-99d7e04311fa" providerId="ADAL" clId="{88AAC528-C633-48C5-AC35-D26402FD33C8}"/>
    <pc:docChg chg="undo custSel addSld delSld sldOrd addMainMaster delMainMaster addSection delSection modSection">
      <pc:chgData name="E, Monika" userId="3e7e7951-9e5c-4c09-b6f2-99d7e04311fa" providerId="ADAL" clId="{88AAC528-C633-48C5-AC35-D26402FD33C8}" dt="2026-10-19T08:35:17.664" v="8" actId="18676"/>
      <pc:docMkLst>
        <pc:docMk/>
      </pc:docMkLst>
      <pc:sldChg chg="add del">
        <pc:chgData name="E, Monika" userId="3e7e7951-9e5c-4c09-b6f2-99d7e04311fa" providerId="ADAL" clId="{88AAC528-C633-48C5-AC35-D26402FD33C8}" dt="2026-10-19T08:35:02.273" v="5" actId="18676"/>
        <pc:sldMkLst>
          <pc:docMk/>
          <pc:sldMk cId="3554770742" sldId="2147376101"/>
        </pc:sldMkLst>
      </pc:sldChg>
      <pc:sldChg chg="add del">
        <pc:chgData name="E, Monika" userId="3e7e7951-9e5c-4c09-b6f2-99d7e04311fa" providerId="ADAL" clId="{88AAC528-C633-48C5-AC35-D26402FD33C8}" dt="2026-10-19T08:35:02.273" v="5" actId="18676"/>
        <pc:sldMkLst>
          <pc:docMk/>
          <pc:sldMk cId="2407834489" sldId="2147376605"/>
        </pc:sldMkLst>
      </pc:sldChg>
      <pc:sldChg chg="del">
        <pc:chgData name="E, Monika" userId="3e7e7951-9e5c-4c09-b6f2-99d7e04311fa" providerId="ADAL" clId="{88AAC528-C633-48C5-AC35-D26402FD33C8}" dt="2026-10-19T08:35:07.395" v="6" actId="18676"/>
        <pc:sldMkLst>
          <pc:docMk/>
          <pc:sldMk cId="2745900094" sldId="2147376607"/>
        </pc:sldMkLst>
      </pc:sldChg>
      <pc:sldChg chg="del">
        <pc:chgData name="E, Monika" userId="3e7e7951-9e5c-4c09-b6f2-99d7e04311fa" providerId="ADAL" clId="{88AAC528-C633-48C5-AC35-D26402FD33C8}" dt="2026-10-19T08:35:07.395" v="6" actId="18676"/>
        <pc:sldMkLst>
          <pc:docMk/>
          <pc:sldMk cId="672357345" sldId="2147376677"/>
        </pc:sldMkLst>
      </pc:sldChg>
      <pc:sldChg chg="del">
        <pc:chgData name="E, Monika" userId="3e7e7951-9e5c-4c09-b6f2-99d7e04311fa" providerId="ADAL" clId="{88AAC528-C633-48C5-AC35-D26402FD33C8}" dt="2026-10-19T08:35:12.736" v="7" actId="18676"/>
        <pc:sldMkLst>
          <pc:docMk/>
          <pc:sldMk cId="2288528394" sldId="2147376680"/>
        </pc:sldMkLst>
      </pc:sldChg>
      <pc:sldChg chg="del">
        <pc:chgData name="E, Monika" userId="3e7e7951-9e5c-4c09-b6f2-99d7e04311fa" providerId="ADAL" clId="{88AAC528-C633-48C5-AC35-D26402FD33C8}" dt="2026-10-19T08:35:12.736" v="7" actId="18676"/>
        <pc:sldMkLst>
          <pc:docMk/>
          <pc:sldMk cId="2093044568" sldId="2147376682"/>
        </pc:sldMkLst>
      </pc:sldChg>
      <pc:sldChg chg="del">
        <pc:chgData name="E, Monika" userId="3e7e7951-9e5c-4c09-b6f2-99d7e04311fa" providerId="ADAL" clId="{88AAC528-C633-48C5-AC35-D26402FD33C8}" dt="2026-10-19T08:35:12.736" v="7" actId="18676"/>
        <pc:sldMkLst>
          <pc:docMk/>
          <pc:sldMk cId="3297680505" sldId="2147376683"/>
        </pc:sldMkLst>
      </pc:sldChg>
      <pc:sldChg chg="del">
        <pc:chgData name="E, Monika" userId="3e7e7951-9e5c-4c09-b6f2-99d7e04311fa" providerId="ADAL" clId="{88AAC528-C633-48C5-AC35-D26402FD33C8}" dt="2026-10-19T08:35:12.736" v="7" actId="18676"/>
        <pc:sldMkLst>
          <pc:docMk/>
          <pc:sldMk cId="3400010728" sldId="2147376684"/>
        </pc:sldMkLst>
      </pc:sldChg>
      <pc:sldChg chg="del">
        <pc:chgData name="E, Monika" userId="3e7e7951-9e5c-4c09-b6f2-99d7e04311fa" providerId="ADAL" clId="{88AAC528-C633-48C5-AC35-D26402FD33C8}" dt="2026-10-19T08:35:12.736" v="7" actId="18676"/>
        <pc:sldMkLst>
          <pc:docMk/>
          <pc:sldMk cId="641246555" sldId="2147376685"/>
        </pc:sldMkLst>
      </pc:sldChg>
      <pc:sldChg chg="del">
        <pc:chgData name="E, Monika" userId="3e7e7951-9e5c-4c09-b6f2-99d7e04311fa" providerId="ADAL" clId="{88AAC528-C633-48C5-AC35-D26402FD33C8}" dt="2026-10-19T08:35:12.736" v="7" actId="18676"/>
        <pc:sldMkLst>
          <pc:docMk/>
          <pc:sldMk cId="1656965416" sldId="2147376686"/>
        </pc:sldMkLst>
      </pc:sldChg>
      <pc:sldChg chg="del">
        <pc:chgData name="E, Monika" userId="3e7e7951-9e5c-4c09-b6f2-99d7e04311fa" providerId="ADAL" clId="{88AAC528-C633-48C5-AC35-D26402FD33C8}" dt="2026-10-19T08:35:12.736" v="7" actId="18676"/>
        <pc:sldMkLst>
          <pc:docMk/>
          <pc:sldMk cId="1933284117" sldId="2147376687"/>
        </pc:sldMkLst>
      </pc:sldChg>
      <pc:sldChg chg="del">
        <pc:chgData name="E, Monika" userId="3e7e7951-9e5c-4c09-b6f2-99d7e04311fa" providerId="ADAL" clId="{88AAC528-C633-48C5-AC35-D26402FD33C8}" dt="2026-10-19T08:35:12.736" v="7" actId="18676"/>
        <pc:sldMkLst>
          <pc:docMk/>
          <pc:sldMk cId="894445257" sldId="2147376688"/>
        </pc:sldMkLst>
      </pc:sldChg>
      <pc:sldChg chg="del">
        <pc:chgData name="E, Monika" userId="3e7e7951-9e5c-4c09-b6f2-99d7e04311fa" providerId="ADAL" clId="{88AAC528-C633-48C5-AC35-D26402FD33C8}" dt="2026-10-19T08:35:17.664" v="8" actId="18676"/>
        <pc:sldMkLst>
          <pc:docMk/>
          <pc:sldMk cId="297889157" sldId="2147376689"/>
        </pc:sldMkLst>
      </pc:sldChg>
      <pc:sldChg chg="del">
        <pc:chgData name="E, Monika" userId="3e7e7951-9e5c-4c09-b6f2-99d7e04311fa" providerId="ADAL" clId="{88AAC528-C633-48C5-AC35-D26402FD33C8}" dt="2026-10-19T08:35:17.664" v="8" actId="18676"/>
        <pc:sldMkLst>
          <pc:docMk/>
          <pc:sldMk cId="3292742794" sldId="2147376690"/>
        </pc:sldMkLst>
      </pc:sldChg>
      <pc:sldChg chg="del">
        <pc:chgData name="E, Monika" userId="3e7e7951-9e5c-4c09-b6f2-99d7e04311fa" providerId="ADAL" clId="{88AAC528-C633-48C5-AC35-D26402FD33C8}" dt="2026-10-19T08:35:17.664" v="8" actId="18676"/>
        <pc:sldMkLst>
          <pc:docMk/>
          <pc:sldMk cId="1285478001" sldId="2147376691"/>
        </pc:sldMkLst>
      </pc:sldChg>
      <pc:sldChg chg="del">
        <pc:chgData name="E, Monika" userId="3e7e7951-9e5c-4c09-b6f2-99d7e04311fa" providerId="ADAL" clId="{88AAC528-C633-48C5-AC35-D26402FD33C8}" dt="2026-10-19T08:35:17.664" v="8" actId="18676"/>
        <pc:sldMkLst>
          <pc:docMk/>
          <pc:sldMk cId="1143337413" sldId="2147376693"/>
        </pc:sldMkLst>
      </pc:sldChg>
      <pc:sldChg chg="del">
        <pc:chgData name="E, Monika" userId="3e7e7951-9e5c-4c09-b6f2-99d7e04311fa" providerId="ADAL" clId="{88AAC528-C633-48C5-AC35-D26402FD33C8}" dt="2026-10-19T08:35:17.664" v="8" actId="18676"/>
        <pc:sldMkLst>
          <pc:docMk/>
          <pc:sldMk cId="2657241548" sldId="2147376694"/>
        </pc:sldMkLst>
      </pc:sldChg>
      <pc:sldChg chg="del">
        <pc:chgData name="E, Monika" userId="3e7e7951-9e5c-4c09-b6f2-99d7e04311fa" providerId="ADAL" clId="{88AAC528-C633-48C5-AC35-D26402FD33C8}" dt="2026-10-19T08:35:17.664" v="8" actId="18676"/>
        <pc:sldMkLst>
          <pc:docMk/>
          <pc:sldMk cId="700740594" sldId="2147376696"/>
        </pc:sldMkLst>
      </pc:sldChg>
      <pc:sldChg chg="del">
        <pc:chgData name="E, Monika" userId="3e7e7951-9e5c-4c09-b6f2-99d7e04311fa" providerId="ADAL" clId="{88AAC528-C633-48C5-AC35-D26402FD33C8}" dt="2026-10-19T08:35:17.664" v="8" actId="18676"/>
        <pc:sldMkLst>
          <pc:docMk/>
          <pc:sldMk cId="3882430859" sldId="2147376697"/>
        </pc:sldMkLst>
      </pc:sldChg>
      <pc:sldChg chg="del">
        <pc:chgData name="E, Monika" userId="3e7e7951-9e5c-4c09-b6f2-99d7e04311fa" providerId="ADAL" clId="{88AAC528-C633-48C5-AC35-D26402FD33C8}" dt="2026-10-19T08:35:17.664" v="8" actId="18676"/>
        <pc:sldMkLst>
          <pc:docMk/>
          <pc:sldMk cId="3870289695" sldId="2147376698"/>
        </pc:sldMkLst>
      </pc:sldChg>
      <pc:sldChg chg="del">
        <pc:chgData name="E, Monika" userId="3e7e7951-9e5c-4c09-b6f2-99d7e04311fa" providerId="ADAL" clId="{88AAC528-C633-48C5-AC35-D26402FD33C8}" dt="2026-10-19T08:35:17.664" v="8" actId="18676"/>
        <pc:sldMkLst>
          <pc:docMk/>
          <pc:sldMk cId="3436864471" sldId="2147376706"/>
        </pc:sldMkLst>
      </pc:sldChg>
      <pc:sldChg chg="del">
        <pc:chgData name="E, Monika" userId="3e7e7951-9e5c-4c09-b6f2-99d7e04311fa" providerId="ADAL" clId="{88AAC528-C633-48C5-AC35-D26402FD33C8}" dt="2026-10-19T08:35:17.664" v="8" actId="18676"/>
        <pc:sldMkLst>
          <pc:docMk/>
          <pc:sldMk cId="2348043950" sldId="2147376707"/>
        </pc:sldMkLst>
      </pc:sldChg>
      <pc:sldChg chg="add del ord">
        <pc:chgData name="E, Monika" userId="3e7e7951-9e5c-4c09-b6f2-99d7e04311fa" providerId="ADAL" clId="{88AAC528-C633-48C5-AC35-D26402FD33C8}" dt="2026-10-19T08:35:02.273" v="5" actId="18676"/>
        <pc:sldMkLst>
          <pc:docMk/>
          <pc:sldMk cId="3910382311" sldId="2147376712"/>
        </pc:sldMkLst>
      </pc:sldChg>
      <pc:sldChg chg="add del">
        <pc:chgData name="E, Monika" userId="3e7e7951-9e5c-4c09-b6f2-99d7e04311fa" providerId="ADAL" clId="{88AAC528-C633-48C5-AC35-D26402FD33C8}" dt="2026-10-19T08:35:02.273" v="5" actId="18676"/>
        <pc:sldMkLst>
          <pc:docMk/>
          <pc:sldMk cId="2814909690" sldId="2147483566"/>
        </pc:sldMkLst>
      </pc:sldChg>
      <pc:sldMasterChg chg="add del addSldLayout delSldLayout">
        <pc:chgData name="E, Monika" userId="3e7e7951-9e5c-4c09-b6f2-99d7e04311fa" providerId="ADAL" clId="{88AAC528-C633-48C5-AC35-D26402FD33C8}" dt="2026-10-19T08:35:02.273" v="5" actId="18676"/>
        <pc:sldMasterMkLst>
          <pc:docMk/>
          <pc:sldMasterMk cId="606952017" sldId="2147484241"/>
        </pc:sldMasterMkLst>
        <pc:sldLayoutChg chg="add del">
          <pc:chgData name="E, Monika" userId="3e7e7951-9e5c-4c09-b6f2-99d7e04311fa" providerId="ADAL" clId="{88AAC528-C633-48C5-AC35-D26402FD33C8}" dt="2026-10-19T08:35:02.273" v="5" actId="18676"/>
          <pc:sldLayoutMkLst>
            <pc:docMk/>
            <pc:sldMasterMk cId="606952017" sldId="2147484241"/>
            <pc:sldLayoutMk cId="1281707587" sldId="2147484242"/>
          </pc:sldLayoutMkLst>
        </pc:sldLayoutChg>
        <pc:sldLayoutChg chg="add del">
          <pc:chgData name="E, Monika" userId="3e7e7951-9e5c-4c09-b6f2-99d7e04311fa" providerId="ADAL" clId="{88AAC528-C633-48C5-AC35-D26402FD33C8}" dt="2026-10-19T08:35:02.273" v="5" actId="18676"/>
          <pc:sldLayoutMkLst>
            <pc:docMk/>
            <pc:sldMasterMk cId="606952017" sldId="2147484241"/>
            <pc:sldLayoutMk cId="1352345309" sldId="2147484243"/>
          </pc:sldLayoutMkLst>
        </pc:sldLayoutChg>
        <pc:sldLayoutChg chg="add del">
          <pc:chgData name="E, Monika" userId="3e7e7951-9e5c-4c09-b6f2-99d7e04311fa" providerId="ADAL" clId="{88AAC528-C633-48C5-AC35-D26402FD33C8}" dt="2026-10-19T08:35:02.273" v="5" actId="18676"/>
          <pc:sldLayoutMkLst>
            <pc:docMk/>
            <pc:sldMasterMk cId="606952017" sldId="2147484241"/>
            <pc:sldLayoutMk cId="141383201" sldId="2147484244"/>
          </pc:sldLayoutMkLst>
        </pc:sldLayoutChg>
        <pc:sldLayoutChg chg="add del">
          <pc:chgData name="E, Monika" userId="3e7e7951-9e5c-4c09-b6f2-99d7e04311fa" providerId="ADAL" clId="{88AAC528-C633-48C5-AC35-D26402FD33C8}" dt="2026-10-19T08:35:02.273" v="5" actId="18676"/>
          <pc:sldLayoutMkLst>
            <pc:docMk/>
            <pc:sldMasterMk cId="606952017" sldId="2147484241"/>
            <pc:sldLayoutMk cId="4073995300" sldId="2147484245"/>
          </pc:sldLayoutMkLst>
        </pc:sldLayoutChg>
        <pc:sldLayoutChg chg="add del">
          <pc:chgData name="E, Monika" userId="3e7e7951-9e5c-4c09-b6f2-99d7e04311fa" providerId="ADAL" clId="{88AAC528-C633-48C5-AC35-D26402FD33C8}" dt="2026-10-19T08:35:02.273" v="5" actId="18676"/>
          <pc:sldLayoutMkLst>
            <pc:docMk/>
            <pc:sldMasterMk cId="606952017" sldId="2147484241"/>
            <pc:sldLayoutMk cId="505261769" sldId="2147484246"/>
          </pc:sldLayoutMkLst>
        </pc:sldLayoutChg>
        <pc:sldLayoutChg chg="add del">
          <pc:chgData name="E, Monika" userId="3e7e7951-9e5c-4c09-b6f2-99d7e04311fa" providerId="ADAL" clId="{88AAC528-C633-48C5-AC35-D26402FD33C8}" dt="2026-10-19T08:35:02.273" v="5" actId="18676"/>
          <pc:sldLayoutMkLst>
            <pc:docMk/>
            <pc:sldMasterMk cId="606952017" sldId="2147484241"/>
            <pc:sldLayoutMk cId="657592340" sldId="2147484247"/>
          </pc:sldLayoutMkLst>
        </pc:sldLayoutChg>
        <pc:sldLayoutChg chg="add del">
          <pc:chgData name="E, Monika" userId="3e7e7951-9e5c-4c09-b6f2-99d7e04311fa" providerId="ADAL" clId="{88AAC528-C633-48C5-AC35-D26402FD33C8}" dt="2026-10-19T08:35:02.273" v="5" actId="18676"/>
          <pc:sldLayoutMkLst>
            <pc:docMk/>
            <pc:sldMasterMk cId="606952017" sldId="2147484241"/>
            <pc:sldLayoutMk cId="3966771088" sldId="2147484248"/>
          </pc:sldLayoutMkLst>
        </pc:sldLayoutChg>
        <pc:sldLayoutChg chg="add del">
          <pc:chgData name="E, Monika" userId="3e7e7951-9e5c-4c09-b6f2-99d7e04311fa" providerId="ADAL" clId="{88AAC528-C633-48C5-AC35-D26402FD33C8}" dt="2026-10-19T08:35:02.273" v="5" actId="18676"/>
          <pc:sldLayoutMkLst>
            <pc:docMk/>
            <pc:sldMasterMk cId="606952017" sldId="2147484241"/>
            <pc:sldLayoutMk cId="1243661094" sldId="2147484249"/>
          </pc:sldLayoutMkLst>
        </pc:sldLayoutChg>
        <pc:sldLayoutChg chg="add del">
          <pc:chgData name="E, Monika" userId="3e7e7951-9e5c-4c09-b6f2-99d7e04311fa" providerId="ADAL" clId="{88AAC528-C633-48C5-AC35-D26402FD33C8}" dt="2026-10-19T08:35:02.273" v="5" actId="18676"/>
          <pc:sldLayoutMkLst>
            <pc:docMk/>
            <pc:sldMasterMk cId="606952017" sldId="2147484241"/>
            <pc:sldLayoutMk cId="1181494851" sldId="2147484259"/>
          </pc:sldLayoutMkLst>
        </pc:sldLayoutChg>
        <pc:sldLayoutChg chg="add del">
          <pc:chgData name="E, Monika" userId="3e7e7951-9e5c-4c09-b6f2-99d7e04311fa" providerId="ADAL" clId="{88AAC528-C633-48C5-AC35-D26402FD33C8}" dt="2026-10-19T08:35:02.273" v="5" actId="18676"/>
          <pc:sldLayoutMkLst>
            <pc:docMk/>
            <pc:sldMasterMk cId="606952017" sldId="2147484241"/>
            <pc:sldLayoutMk cId="1490820813" sldId="214748426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45659" cy="498056"/>
          </a:xfrm>
          <a:prstGeom prst="rect">
            <a:avLst/>
          </a:prstGeom>
        </p:spPr>
        <p:txBody>
          <a:bodyPr vert="horz" lIns="91418" tIns="45708" rIns="91418" bIns="45708"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50443" y="0"/>
            <a:ext cx="2945659" cy="498056"/>
          </a:xfrm>
          <a:prstGeom prst="rect">
            <a:avLst/>
          </a:prstGeom>
        </p:spPr>
        <p:txBody>
          <a:bodyPr vert="horz" lIns="91418" tIns="45708" rIns="91418" bIns="45708" rtlCol="0"/>
          <a:lstStyle>
            <a:lvl1pPr algn="r">
              <a:defRPr sz="1200"/>
            </a:lvl1pPr>
          </a:lstStyle>
          <a:p>
            <a:fld id="{86C988DC-9DE3-4390-97AB-D61B85DACE57}" type="datetimeFigureOut">
              <a:rPr lang="pt-PT" sz="900"/>
              <a:pPr/>
              <a:t>19/10/2026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9428586"/>
            <a:ext cx="2945659" cy="498055"/>
          </a:xfrm>
          <a:prstGeom prst="rect">
            <a:avLst/>
          </a:prstGeom>
        </p:spPr>
        <p:txBody>
          <a:bodyPr vert="horz" lIns="91418" tIns="45708" rIns="91418" bIns="45708"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50443" y="9428586"/>
            <a:ext cx="2945659" cy="498055"/>
          </a:xfrm>
          <a:prstGeom prst="rect">
            <a:avLst/>
          </a:prstGeom>
        </p:spPr>
        <p:txBody>
          <a:bodyPr vert="horz" lIns="91418" tIns="45708" rIns="91418" bIns="45708" rtlCol="0" anchor="b"/>
          <a:lstStyle>
            <a:lvl1pPr algn="r">
              <a:defRPr sz="1200"/>
            </a:lvl1pPr>
          </a:lstStyle>
          <a:p>
            <a:fld id="{2F190BF9-40D8-49B5-87EF-599BB2C7EE93}" type="slidenum">
              <a:rPr lang="pt-PT" sz="90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45659" cy="498056"/>
          </a:xfrm>
          <a:prstGeom prst="rect">
            <a:avLst/>
          </a:prstGeom>
        </p:spPr>
        <p:txBody>
          <a:bodyPr vert="horz" lIns="91418" tIns="45708" rIns="91418" bIns="45708" rtlCol="0"/>
          <a:lstStyle>
            <a:lvl1pPr algn="l">
              <a:defRPr sz="900"/>
            </a:lvl1pPr>
          </a:lstStyle>
          <a:p>
            <a:endParaRPr lang="pt-BR"/>
          </a:p>
        </p:txBody>
      </p:sp>
      <p:sp>
        <p:nvSpPr>
          <p:cNvPr id="3" name="Marcador de Posição da Data 2"/>
          <p:cNvSpPr>
            <a:spLocks noGrp="1"/>
          </p:cNvSpPr>
          <p:nvPr>
            <p:ph type="dt" idx="1"/>
          </p:nvPr>
        </p:nvSpPr>
        <p:spPr>
          <a:xfrm>
            <a:off x="3850443" y="0"/>
            <a:ext cx="2945659" cy="498056"/>
          </a:xfrm>
          <a:prstGeom prst="rect">
            <a:avLst/>
          </a:prstGeom>
        </p:spPr>
        <p:txBody>
          <a:bodyPr vert="horz" lIns="91418" tIns="45708" rIns="91418" bIns="45708" rtlCol="0"/>
          <a:lstStyle>
            <a:lvl1pPr algn="r">
              <a:defRPr sz="900"/>
            </a:lvl1pPr>
          </a:lstStyle>
          <a:p>
            <a:fld id="{0835B8F7-DAC4-4931-8AED-4356A8B2FD64}" type="datetimeFigureOut">
              <a:rPr lang="pt-BR" smtClean="0"/>
              <a:pPr/>
              <a:t>19/10/2026</a:t>
            </a:fld>
            <a:endParaRPr lang="pt-BR"/>
          </a:p>
        </p:txBody>
      </p:sp>
      <p:sp>
        <p:nvSpPr>
          <p:cNvPr id="4" name="Marcador de Posição da Imagem do Diapositivo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18" tIns="45708" rIns="91418" bIns="45708" rtlCol="0" anchor="ctr"/>
          <a:lstStyle/>
          <a:p>
            <a:endParaRPr lang="pt-BR"/>
          </a:p>
        </p:txBody>
      </p:sp>
      <p:sp>
        <p:nvSpPr>
          <p:cNvPr id="5" name="Marcador de Posição de Notas 4"/>
          <p:cNvSpPr>
            <a:spLocks noGrp="1"/>
          </p:cNvSpPr>
          <p:nvPr>
            <p:ph type="body" sz="quarter" idx="3"/>
          </p:nvPr>
        </p:nvSpPr>
        <p:spPr>
          <a:xfrm>
            <a:off x="679768" y="4777194"/>
            <a:ext cx="5438140" cy="3908614"/>
          </a:xfrm>
          <a:prstGeom prst="rect">
            <a:avLst/>
          </a:prstGeom>
        </p:spPr>
        <p:txBody>
          <a:bodyPr vert="horz" lIns="91418" tIns="45708" rIns="91418" bIns="45708" rtlCol="0"/>
          <a:lstStyle/>
          <a:p>
            <a:pPr lvl="0"/>
            <a:r>
              <a:rPr lang="pt-PT"/>
              <a:t>Insert comments</a:t>
            </a:r>
            <a:endParaRPr lang="pt-BR"/>
          </a:p>
        </p:txBody>
      </p:sp>
      <p:sp>
        <p:nvSpPr>
          <p:cNvPr id="6" name="Marcador de Posição do Rodapé 5"/>
          <p:cNvSpPr>
            <a:spLocks noGrp="1"/>
          </p:cNvSpPr>
          <p:nvPr>
            <p:ph type="ftr" sz="quarter" idx="4"/>
          </p:nvPr>
        </p:nvSpPr>
        <p:spPr>
          <a:xfrm>
            <a:off x="0" y="9428586"/>
            <a:ext cx="2945659" cy="498055"/>
          </a:xfrm>
          <a:prstGeom prst="rect">
            <a:avLst/>
          </a:prstGeom>
        </p:spPr>
        <p:txBody>
          <a:bodyPr vert="horz" lIns="91418" tIns="45708" rIns="91418" bIns="45708"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50443" y="9428586"/>
            <a:ext cx="2945659" cy="498055"/>
          </a:xfrm>
          <a:prstGeom prst="rect">
            <a:avLst/>
          </a:prstGeom>
        </p:spPr>
        <p:txBody>
          <a:bodyPr vert="horz" lIns="91418" tIns="45708" rIns="91418" bIns="45708"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4A946-CDAC-44E5-8E26-C466564E7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1EA15-1639-FAF8-7A47-2C0E5A868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A39DAB-AD61-AB36-7EAB-70AE2D30E87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2D4DC2-E521-94C9-C164-1C62071BBA35}"/>
              </a:ext>
            </a:extLst>
          </p:cNvPr>
          <p:cNvSpPr>
            <a:spLocks noGrp="1"/>
          </p:cNvSpPr>
          <p:nvPr>
            <p:ph type="sldNum" sz="quarter" idx="5"/>
          </p:nvPr>
        </p:nvSpPr>
        <p:spPr/>
        <p:txBody>
          <a:bodyPr/>
          <a:lstStyle/>
          <a:p>
            <a:fld id="{C0696B5C-12A0-4042-B4D0-BD3B9A4F58C6}" type="slidenum">
              <a:rPr lang="pt-BR" smtClean="0"/>
              <a:pPr/>
              <a:t>2</a:t>
            </a:fld>
            <a:endParaRPr lang="pt-BR"/>
          </a:p>
        </p:txBody>
      </p:sp>
    </p:spTree>
    <p:extLst>
      <p:ext uri="{BB962C8B-B14F-4D97-AF65-F5344CB8AC3E}">
        <p14:creationId xmlns:p14="http://schemas.microsoft.com/office/powerpoint/2010/main" val="3023674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EA5EC-2A33-DF0F-00EE-AA5E0E99A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96AA0-2D83-129B-C543-CA42E950AD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5D820-E955-615F-48D8-4079399D81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23C2A6-21E5-A0AD-0F62-23218B6191E2}"/>
              </a:ext>
            </a:extLst>
          </p:cNvPr>
          <p:cNvSpPr>
            <a:spLocks noGrp="1"/>
          </p:cNvSpPr>
          <p:nvPr>
            <p:ph type="sldNum" sz="quarter" idx="5"/>
          </p:nvPr>
        </p:nvSpPr>
        <p:spPr/>
        <p:txBody>
          <a:bodyPr/>
          <a:lstStyle/>
          <a:p>
            <a:fld id="{C0696B5C-12A0-4042-B4D0-BD3B9A4F58C6}" type="slidenum">
              <a:rPr lang="pt-BR" smtClean="0"/>
              <a:pPr/>
              <a:t>4</a:t>
            </a:fld>
            <a:endParaRPr lang="pt-BR"/>
          </a:p>
        </p:txBody>
      </p:sp>
    </p:spTree>
    <p:extLst>
      <p:ext uri="{BB962C8B-B14F-4D97-AF65-F5344CB8AC3E}">
        <p14:creationId xmlns:p14="http://schemas.microsoft.com/office/powerpoint/2010/main" val="111811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27A47-32BB-449E-D52E-1D3CC883C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EA166-D52F-011A-B001-F50F43393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66472-7E8A-FB2A-5699-B7B0A2EBF67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9FAD450-A161-DFF4-A9CC-FBCB0723A3E8}"/>
              </a:ext>
            </a:extLst>
          </p:cNvPr>
          <p:cNvSpPr>
            <a:spLocks noGrp="1"/>
          </p:cNvSpPr>
          <p:nvPr>
            <p:ph type="sldNum" sz="quarter" idx="5"/>
          </p:nvPr>
        </p:nvSpPr>
        <p:spPr/>
        <p:txBody>
          <a:bodyPr/>
          <a:lstStyle/>
          <a:p>
            <a:fld id="{C0696B5C-12A0-4042-B4D0-BD3B9A4F58C6}" type="slidenum">
              <a:rPr lang="pt-BR" smtClean="0"/>
              <a:pPr/>
              <a:t>5</a:t>
            </a:fld>
            <a:endParaRPr lang="pt-BR"/>
          </a:p>
        </p:txBody>
      </p:sp>
    </p:spTree>
    <p:extLst>
      <p:ext uri="{BB962C8B-B14F-4D97-AF65-F5344CB8AC3E}">
        <p14:creationId xmlns:p14="http://schemas.microsoft.com/office/powerpoint/2010/main" val="2739474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AFD69-8EF8-D80F-EE47-9EC0CDAAF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248BF-9E43-08EF-7EE3-03DC71172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A5D2C2-D994-948F-983C-2A256BF731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243DEC-B1D0-8C2D-9875-99ACABDEDFCC}"/>
              </a:ext>
            </a:extLst>
          </p:cNvPr>
          <p:cNvSpPr>
            <a:spLocks noGrp="1"/>
          </p:cNvSpPr>
          <p:nvPr>
            <p:ph type="sldNum" sz="quarter" idx="5"/>
          </p:nvPr>
        </p:nvSpPr>
        <p:spPr/>
        <p:txBody>
          <a:bodyPr/>
          <a:lstStyle/>
          <a:p>
            <a:fld id="{C0696B5C-12A0-4042-B4D0-BD3B9A4F58C6}" type="slidenum">
              <a:rPr lang="pt-BR" smtClean="0"/>
              <a:pPr/>
              <a:t>6</a:t>
            </a:fld>
            <a:endParaRPr lang="pt-BR"/>
          </a:p>
        </p:txBody>
      </p:sp>
    </p:spTree>
    <p:extLst>
      <p:ext uri="{BB962C8B-B14F-4D97-AF65-F5344CB8AC3E}">
        <p14:creationId xmlns:p14="http://schemas.microsoft.com/office/powerpoint/2010/main" val="1353117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1425"/>
            <a:ext cx="5953125" cy="3349625"/>
          </a:xfrm>
        </p:spPr>
      </p:sp>
      <p:sp>
        <p:nvSpPr>
          <p:cNvPr id="3" name="Notes Placeholder 2"/>
          <p:cNvSpPr>
            <a:spLocks noGrp="1"/>
          </p:cNvSpPr>
          <p:nvPr>
            <p:ph type="body" idx="1"/>
          </p:nvPr>
        </p:nvSpPr>
        <p:spPr/>
        <p:txBody>
          <a:bodyPr>
            <a:normAutofit/>
          </a:bodyPr>
          <a:lstStyle/>
          <a:p>
            <a:endParaRPr lang="pt-PT"/>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940B8F-D2CB-4E94-93F8-C184C518E35B}" type="slidenum">
              <a:rPr kumimoji="0" lang="pt-P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32078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pt-PT"/>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940B8F-D2CB-4E94-93F8-C184C518E35B}" type="slidenum">
              <a:rPr kumimoji="0" lang="pt-P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pt-P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87362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pt-PT"/>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940B8F-D2CB-4E94-93F8-C184C518E35B}" type="slidenum">
              <a:rPr kumimoji="0" lang="pt-P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pt-P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77961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pt-PT"/>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940B8F-D2CB-4E94-93F8-C184C518E35B}" type="slidenum">
              <a:rPr kumimoji="0" lang="pt-P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pt-P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14488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www.facebook.com/capgemini" TargetMode="External"/><Relationship Id="rId1" Type="http://schemas.openxmlformats.org/officeDocument/2006/relationships/slideMaster" Target="../slideMasters/slideMaster1.xml"/><Relationship Id="rId6" Type="http://schemas.openxmlformats.org/officeDocument/2006/relationships/hyperlink" Target="http://www.slideshare.net/capgemini" TargetMode="External"/><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hyperlink" Target="http://www.linkedin.com/company/capgemini" TargetMode="External"/><Relationship Id="rId9"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www.facebook.com/capgemini" TargetMode="External"/><Relationship Id="rId1" Type="http://schemas.openxmlformats.org/officeDocument/2006/relationships/slideMaster" Target="../slideMasters/slideMaster1.xml"/><Relationship Id="rId6" Type="http://schemas.openxmlformats.org/officeDocument/2006/relationships/hyperlink" Target="http://www.slideshare.net/capgemini" TargetMode="External"/><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hyperlink" Target="http://www.linkedin.com/company/capgemini" TargetMode="External"/><Relationship Id="rId9"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1.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8" Type="http://schemas.openxmlformats.org/officeDocument/2006/relationships/hyperlink" Target="https://twitter.com/CapgeminiInvent" TargetMode="External"/><Relationship Id="rId13" Type="http://schemas.openxmlformats.org/officeDocument/2006/relationships/image" Target="../media/image5.png"/><Relationship Id="rId3" Type="http://schemas.openxmlformats.org/officeDocument/2006/relationships/image" Target="../media/image20.png"/><Relationship Id="rId7" Type="http://schemas.openxmlformats.org/officeDocument/2006/relationships/image" Target="../media/image7.png"/><Relationship Id="rId12" Type="http://schemas.openxmlformats.org/officeDocument/2006/relationships/hyperlink" Target="https://de-de.facebook.com/CapgeminiInventDACH/" TargetMode="External"/><Relationship Id="rId2" Type="http://schemas.openxmlformats.org/officeDocument/2006/relationships/image" Target="../media/image19.png"/><Relationship Id="rId1" Type="http://schemas.openxmlformats.org/officeDocument/2006/relationships/slideMaster" Target="../slideMasters/slideMaster2.xml"/><Relationship Id="rId6" Type="http://schemas.openxmlformats.org/officeDocument/2006/relationships/hyperlink" Target="http://www.slideshare.net/capgemini" TargetMode="External"/><Relationship Id="rId11" Type="http://schemas.openxmlformats.org/officeDocument/2006/relationships/image" Target="../media/image8.png"/><Relationship Id="rId5" Type="http://schemas.openxmlformats.org/officeDocument/2006/relationships/image" Target="../media/image6.png"/><Relationship Id="rId10" Type="http://schemas.openxmlformats.org/officeDocument/2006/relationships/hyperlink" Target="http://www.youtube.com/capgeminimedia" TargetMode="External"/><Relationship Id="rId4" Type="http://schemas.openxmlformats.org/officeDocument/2006/relationships/hyperlink" Target="http://www.linkedin.com/company/capgemini-invent" TargetMode="External"/><Relationship Id="rId9" Type="http://schemas.openxmlformats.org/officeDocument/2006/relationships/image" Target="../media/image2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8" Type="http://schemas.openxmlformats.org/officeDocument/2006/relationships/hyperlink" Target="https://twitter.com/CapgeminiInvent" TargetMode="External"/><Relationship Id="rId13" Type="http://schemas.openxmlformats.org/officeDocument/2006/relationships/image" Target="../media/image5.png"/><Relationship Id="rId3" Type="http://schemas.openxmlformats.org/officeDocument/2006/relationships/image" Target="../media/image20.png"/><Relationship Id="rId7" Type="http://schemas.openxmlformats.org/officeDocument/2006/relationships/image" Target="../media/image7.png"/><Relationship Id="rId12" Type="http://schemas.openxmlformats.org/officeDocument/2006/relationships/hyperlink" Target="https://de-de.facebook.com/CapgeminiInventDACH/" TargetMode="External"/><Relationship Id="rId2" Type="http://schemas.openxmlformats.org/officeDocument/2006/relationships/image" Target="../media/image19.png"/><Relationship Id="rId1" Type="http://schemas.openxmlformats.org/officeDocument/2006/relationships/slideMaster" Target="../slideMasters/slideMaster3.xml"/><Relationship Id="rId6" Type="http://schemas.openxmlformats.org/officeDocument/2006/relationships/hyperlink" Target="http://www.slideshare.net/capgemini" TargetMode="External"/><Relationship Id="rId11" Type="http://schemas.openxmlformats.org/officeDocument/2006/relationships/image" Target="../media/image8.png"/><Relationship Id="rId5" Type="http://schemas.openxmlformats.org/officeDocument/2006/relationships/image" Target="../media/image6.png"/><Relationship Id="rId10" Type="http://schemas.openxmlformats.org/officeDocument/2006/relationships/hyperlink" Target="http://www.youtube.com/capgeminimedia" TargetMode="External"/><Relationship Id="rId4" Type="http://schemas.openxmlformats.org/officeDocument/2006/relationships/hyperlink" Target="http://www.linkedin.com/company/capgemini-invent" TargetMode="External"/><Relationship Id="rId9" Type="http://schemas.openxmlformats.org/officeDocument/2006/relationships/image" Target="../media/image2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e 5">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873264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Image 3">
            <a:extLst>
              <a:ext uri="{FF2B5EF4-FFF2-40B4-BE49-F238E27FC236}">
                <a16:creationId xmlns:a16="http://schemas.microsoft.com/office/drawing/2014/main" id="{75AF5888-BD34-41EB-546E-BE945F03BA06}"/>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a:off x="3429336" y="25029"/>
            <a:ext cx="8715336" cy="7220395"/>
          </a:xfrm>
          <a:prstGeom prst="rect">
            <a:avLst/>
          </a:prstGeom>
        </p:spPr>
      </p:pic>
    </p:spTree>
    <p:extLst>
      <p:ext uri="{BB962C8B-B14F-4D97-AF65-F5344CB8AC3E}">
        <p14:creationId xmlns:p14="http://schemas.microsoft.com/office/powerpoint/2010/main" val="3822078082"/>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69" y="3676570"/>
            <a:ext cx="6336703"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6336704"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633670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93741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938670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6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6375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598780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c">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userDrawn="1"/>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789868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clusion">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8832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2" name="Image 1">
            <a:extLst>
              <a:ext uri="{FF2B5EF4-FFF2-40B4-BE49-F238E27FC236}">
                <a16:creationId xmlns:a16="http://schemas.microsoft.com/office/drawing/2014/main" id="{8B5D9CCD-97AB-0A8C-8F1D-AB5C4C775A4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4367808" y="-1636495"/>
            <a:ext cx="8715336" cy="7220395"/>
          </a:xfrm>
          <a:prstGeom prst="rect">
            <a:avLst/>
          </a:prstGeom>
        </p:spPr>
      </p:pic>
    </p:spTree>
    <p:extLst>
      <p:ext uri="{BB962C8B-B14F-4D97-AF65-F5344CB8AC3E}">
        <p14:creationId xmlns:p14="http://schemas.microsoft.com/office/powerpoint/2010/main" val="3684368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126607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Full Picture White Spade">
    <p:bg>
      <p:bgRef idx="1001">
        <a:schemeClr val="bg2"/>
      </p:bgRef>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0"/>
            <a:ext cx="12192000" cy="6858000"/>
          </a:xfrm>
          <a:custGeom>
            <a:avLst/>
            <a:gdLst>
              <a:gd name="connsiteX0" fmla="*/ 11911680 w 12192000"/>
              <a:gd name="connsiteY0" fmla="*/ 373627 h 6858000"/>
              <a:gd name="connsiteX1" fmla="*/ 11857975 w 12192000"/>
              <a:gd name="connsiteY1" fmla="*/ 408564 h 6858000"/>
              <a:gd name="connsiteX2" fmla="*/ 11820236 w 12192000"/>
              <a:gd name="connsiteY2" fmla="*/ 476983 h 6858000"/>
              <a:gd name="connsiteX3" fmla="*/ 11778143 w 12192000"/>
              <a:gd name="connsiteY3" fmla="*/ 538124 h 6858000"/>
              <a:gd name="connsiteX4" fmla="*/ 11708472 w 12192000"/>
              <a:gd name="connsiteY4" fmla="*/ 581796 h 6858000"/>
              <a:gd name="connsiteX5" fmla="*/ 11753468 w 12192000"/>
              <a:gd name="connsiteY5" fmla="*/ 593441 h 6858000"/>
              <a:gd name="connsiteX6" fmla="*/ 11802818 w 12192000"/>
              <a:gd name="connsiteY6" fmla="*/ 589074 h 6858000"/>
              <a:gd name="connsiteX7" fmla="*/ 11887005 w 12192000"/>
              <a:gd name="connsiteY7" fmla="*/ 552681 h 6858000"/>
              <a:gd name="connsiteX8" fmla="*/ 11823139 w 12192000"/>
              <a:gd name="connsiteY8" fmla="*/ 494452 h 6858000"/>
              <a:gd name="connsiteX9" fmla="*/ 11911680 w 12192000"/>
              <a:gd name="connsiteY9" fmla="*/ 522111 h 6858000"/>
              <a:gd name="connsiteX10" fmla="*/ 11974094 w 12192000"/>
              <a:gd name="connsiteY10" fmla="*/ 460970 h 6858000"/>
              <a:gd name="connsiteX11" fmla="*/ 11972642 w 12192000"/>
              <a:gd name="connsiteY11" fmla="*/ 404197 h 6858000"/>
              <a:gd name="connsiteX12" fmla="*/ 11911680 w 12192000"/>
              <a:gd name="connsiteY12" fmla="*/ 373627 h 6858000"/>
              <a:gd name="connsiteX13" fmla="*/ 11785438 w 12192000"/>
              <a:gd name="connsiteY13" fmla="*/ 207688 h 6858000"/>
              <a:gd name="connsiteX14" fmla="*/ 11562864 w 12192000"/>
              <a:gd name="connsiteY14" fmla="*/ 439169 h 6858000"/>
              <a:gd name="connsiteX15" fmla="*/ 11639965 w 12192000"/>
              <a:gd name="connsiteY15" fmla="*/ 551270 h 6858000"/>
              <a:gd name="connsiteX16" fmla="*/ 11725794 w 12192000"/>
              <a:gd name="connsiteY16" fmla="*/ 546903 h 6858000"/>
              <a:gd name="connsiteX17" fmla="*/ 11786893 w 12192000"/>
              <a:gd name="connsiteY17" fmla="*/ 490124 h 6858000"/>
              <a:gd name="connsiteX18" fmla="*/ 11833444 w 12192000"/>
              <a:gd name="connsiteY18" fmla="*/ 412964 h 6858000"/>
              <a:gd name="connsiteX19" fmla="*/ 11895998 w 12192000"/>
              <a:gd name="connsiteY19" fmla="*/ 360553 h 6858000"/>
              <a:gd name="connsiteX20" fmla="*/ 11971644 w 12192000"/>
              <a:gd name="connsiteY20" fmla="*/ 379479 h 6858000"/>
              <a:gd name="connsiteX21" fmla="*/ 11907636 w 12192000"/>
              <a:gd name="connsiteY21" fmla="*/ 281937 h 6858000"/>
              <a:gd name="connsiteX22" fmla="*/ 11795621 w 12192000"/>
              <a:gd name="connsiteY22" fmla="*/ 212056 h 6858000"/>
              <a:gd name="connsiteX23" fmla="*/ 11785438 w 12192000"/>
              <a:gd name="connsiteY23" fmla="*/ 20768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11680" y="373627"/>
                </a:moveTo>
                <a:cubicBezTo>
                  <a:pt x="11888456" y="375083"/>
                  <a:pt x="11871038" y="389640"/>
                  <a:pt x="11857975" y="408564"/>
                </a:cubicBezTo>
                <a:cubicBezTo>
                  <a:pt x="11842009" y="428944"/>
                  <a:pt x="11831848" y="453692"/>
                  <a:pt x="11820236" y="476983"/>
                </a:cubicBezTo>
                <a:cubicBezTo>
                  <a:pt x="11808624" y="498819"/>
                  <a:pt x="11795561" y="519199"/>
                  <a:pt x="11778143" y="538124"/>
                </a:cubicBezTo>
                <a:cubicBezTo>
                  <a:pt x="11759274" y="558504"/>
                  <a:pt x="11736050" y="574517"/>
                  <a:pt x="11708472" y="581796"/>
                </a:cubicBezTo>
                <a:cubicBezTo>
                  <a:pt x="11721535" y="590530"/>
                  <a:pt x="11738953" y="593441"/>
                  <a:pt x="11753468" y="593441"/>
                </a:cubicBezTo>
                <a:cubicBezTo>
                  <a:pt x="11769434" y="594897"/>
                  <a:pt x="11786852" y="591986"/>
                  <a:pt x="11802818" y="589074"/>
                </a:cubicBezTo>
                <a:cubicBezTo>
                  <a:pt x="11833300" y="584707"/>
                  <a:pt x="11865232" y="574517"/>
                  <a:pt x="11887005" y="552681"/>
                </a:cubicBezTo>
                <a:cubicBezTo>
                  <a:pt x="11852169" y="552681"/>
                  <a:pt x="11824591" y="529389"/>
                  <a:pt x="11823139" y="494452"/>
                </a:cubicBezTo>
                <a:cubicBezTo>
                  <a:pt x="11844912" y="520655"/>
                  <a:pt x="11878296" y="530845"/>
                  <a:pt x="11911680" y="522111"/>
                </a:cubicBezTo>
                <a:cubicBezTo>
                  <a:pt x="11940709" y="513376"/>
                  <a:pt x="11965385" y="490085"/>
                  <a:pt x="11974094" y="460970"/>
                </a:cubicBezTo>
                <a:cubicBezTo>
                  <a:pt x="11979900" y="442046"/>
                  <a:pt x="11981351" y="423121"/>
                  <a:pt x="11972642" y="404197"/>
                </a:cubicBezTo>
                <a:cubicBezTo>
                  <a:pt x="11961030" y="382361"/>
                  <a:pt x="11936355" y="372171"/>
                  <a:pt x="11911680" y="373627"/>
                </a:cubicBezTo>
                <a:close/>
                <a:moveTo>
                  <a:pt x="11785438" y="207688"/>
                </a:moveTo>
                <a:cubicBezTo>
                  <a:pt x="11735977" y="268834"/>
                  <a:pt x="11562864" y="312510"/>
                  <a:pt x="11562864" y="439169"/>
                </a:cubicBezTo>
                <a:cubicBezTo>
                  <a:pt x="11562864" y="487212"/>
                  <a:pt x="11593413" y="533800"/>
                  <a:pt x="11639965" y="551270"/>
                </a:cubicBezTo>
                <a:cubicBezTo>
                  <a:pt x="11667605" y="561461"/>
                  <a:pt x="11698154" y="560005"/>
                  <a:pt x="11725794" y="546903"/>
                </a:cubicBezTo>
                <a:cubicBezTo>
                  <a:pt x="11751979" y="535256"/>
                  <a:pt x="11770891" y="514874"/>
                  <a:pt x="11786893" y="490124"/>
                </a:cubicBezTo>
                <a:cubicBezTo>
                  <a:pt x="11804350" y="465375"/>
                  <a:pt x="11817442" y="439169"/>
                  <a:pt x="11833444" y="412964"/>
                </a:cubicBezTo>
                <a:cubicBezTo>
                  <a:pt x="11847992" y="389670"/>
                  <a:pt x="11868358" y="366376"/>
                  <a:pt x="11895998" y="360553"/>
                </a:cubicBezTo>
                <a:cubicBezTo>
                  <a:pt x="11922183" y="353274"/>
                  <a:pt x="11952732" y="360553"/>
                  <a:pt x="11971644" y="379479"/>
                </a:cubicBezTo>
                <a:cubicBezTo>
                  <a:pt x="11960006" y="341627"/>
                  <a:pt x="11938185" y="309598"/>
                  <a:pt x="11907636" y="281937"/>
                </a:cubicBezTo>
                <a:cubicBezTo>
                  <a:pt x="11874177" y="251364"/>
                  <a:pt x="11836354" y="229526"/>
                  <a:pt x="11795621" y="212056"/>
                </a:cubicBezTo>
                <a:cubicBezTo>
                  <a:pt x="11792712" y="210600"/>
                  <a:pt x="11788348" y="209144"/>
                  <a:pt x="11785438" y="207688"/>
                </a:cubicBezTo>
                <a:close/>
                <a:moveTo>
                  <a:pt x="0" y="0"/>
                </a:moveTo>
                <a:lnTo>
                  <a:pt x="12192000" y="0"/>
                </a:lnTo>
                <a:lnTo>
                  <a:pt x="12192000" y="6858000"/>
                </a:lnTo>
                <a:lnTo>
                  <a:pt x="0" y="6858000"/>
                </a:lnTo>
                <a:close/>
              </a:path>
            </a:pathLst>
          </a:custGeom>
          <a:no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a:t>Click icon to add picture and send picture to back</a:t>
            </a:r>
          </a:p>
        </p:txBody>
      </p:sp>
      <p:grpSp>
        <p:nvGrpSpPr>
          <p:cNvPr id="12" name="Group 37">
            <a:extLst>
              <a:ext uri="{FF2B5EF4-FFF2-40B4-BE49-F238E27FC236}">
                <a16:creationId xmlns:a16="http://schemas.microsoft.com/office/drawing/2014/main" id="{410EED03-E568-4797-9F93-83A0DEAA8E73}"/>
              </a:ext>
            </a:extLst>
          </p:cNvPr>
          <p:cNvGrpSpPr/>
          <p:nvPr userDrawn="1"/>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a:extLst>
              <a:ext uri="{FF2B5EF4-FFF2-40B4-BE49-F238E27FC236}">
                <a16:creationId xmlns:a16="http://schemas.microsoft.com/office/drawing/2014/main" id="{F7412FBE-22A2-10A4-80F8-94BD980CE061}"/>
              </a:ext>
            </a:extLst>
          </p:cNvPr>
          <p:cNvSpPr>
            <a:spLocks noGrp="1"/>
          </p:cNvSpPr>
          <p:nvPr>
            <p:ph type="ctrTitle"/>
          </p:nvPr>
        </p:nvSpPr>
        <p:spPr>
          <a:xfrm>
            <a:off x="1" y="2708920"/>
            <a:ext cx="7968207" cy="2949857"/>
          </a:xfrm>
          <a:solidFill>
            <a:schemeClr val="bg2"/>
          </a:solidFill>
        </p:spPr>
        <p:txBody>
          <a:bodyPr wrap="square" lIns="396000" tIns="360000" rIns="504000" bIns="1080000" anchor="ctr"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text style</a:t>
            </a:r>
            <a:endParaRPr lang="en-GB"/>
          </a:p>
        </p:txBody>
      </p:sp>
      <p:grpSp>
        <p:nvGrpSpPr>
          <p:cNvPr id="4" name="Group 1">
            <a:extLst>
              <a:ext uri="{FF2B5EF4-FFF2-40B4-BE49-F238E27FC236}">
                <a16:creationId xmlns:a16="http://schemas.microsoft.com/office/drawing/2014/main" id="{AF040B7C-BA99-80E4-ADEC-EF1A9B8AD534}"/>
              </a:ext>
            </a:extLst>
          </p:cNvPr>
          <p:cNvGrpSpPr>
            <a:grpSpLocks noChangeAspect="1"/>
          </p:cNvGrpSpPr>
          <p:nvPr userDrawn="1"/>
        </p:nvGrpSpPr>
        <p:grpSpPr>
          <a:xfrm>
            <a:off x="443236" y="6021288"/>
            <a:ext cx="1872000" cy="420870"/>
            <a:chOff x="5095385" y="4090756"/>
            <a:chExt cx="3033729" cy="682053"/>
          </a:xfrm>
        </p:grpSpPr>
        <p:sp>
          <p:nvSpPr>
            <p:cNvPr id="5" name="Freeform: Shape 2">
              <a:extLst>
                <a:ext uri="{FF2B5EF4-FFF2-40B4-BE49-F238E27FC236}">
                  <a16:creationId xmlns:a16="http://schemas.microsoft.com/office/drawing/2014/main" id="{2736C127-E287-E152-B949-1A8E281FAC35}"/>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6" name="Freeform: Shape 3">
              <a:extLst>
                <a:ext uri="{FF2B5EF4-FFF2-40B4-BE49-F238E27FC236}">
                  <a16:creationId xmlns:a16="http://schemas.microsoft.com/office/drawing/2014/main" id="{5D6417A4-47EA-8498-0976-6F6D109764A2}"/>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7" name="Freeform: Shape 4">
              <a:extLst>
                <a:ext uri="{FF2B5EF4-FFF2-40B4-BE49-F238E27FC236}">
                  <a16:creationId xmlns:a16="http://schemas.microsoft.com/office/drawing/2014/main" id="{37A9BD34-5705-83C5-110E-2B90C82970C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8" name="Freeform: Shape 14">
              <a:extLst>
                <a:ext uri="{FF2B5EF4-FFF2-40B4-BE49-F238E27FC236}">
                  <a16:creationId xmlns:a16="http://schemas.microsoft.com/office/drawing/2014/main" id="{260B643F-0DB2-200F-37FB-A4E461B941D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9" name="Freeform: Shape 20">
              <a:extLst>
                <a:ext uri="{FF2B5EF4-FFF2-40B4-BE49-F238E27FC236}">
                  <a16:creationId xmlns:a16="http://schemas.microsoft.com/office/drawing/2014/main" id="{6EDEE20B-B43D-39AA-D956-E23CEEE0D60C}"/>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0074785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163739"/>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6692911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419679"/>
            <a:ext cx="4609034"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spTree>
    <p:extLst>
      <p:ext uri="{BB962C8B-B14F-4D97-AF65-F5344CB8AC3E}">
        <p14:creationId xmlns:p14="http://schemas.microsoft.com/office/powerpoint/2010/main" val="40201426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339025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userDrawn="1"/>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438777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4793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en-US"/>
              <a:t>Click to edit Master title style</a:t>
            </a:r>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1016787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055064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5951984" y="1628775"/>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5951984" y="2221388"/>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5951984" y="2814001"/>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5951984" y="3406614"/>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5951984" y="3999227"/>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5951984" y="4591841"/>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8640763" cy="792163"/>
          </a:xfrm>
        </p:spPr>
        <p:txBody>
          <a:bodyPr/>
          <a:lstStyle>
            <a:lvl1pPr>
              <a:defRPr>
                <a:solidFill>
                  <a:schemeClr val="tx1"/>
                </a:solidFill>
              </a:defRPr>
            </a:lvl1pPr>
          </a:lstStyle>
          <a:p>
            <a:r>
              <a:rPr lang="en-US"/>
              <a:t>Click to edit Master title style</a:t>
            </a:r>
          </a:p>
        </p:txBody>
      </p:sp>
      <p:sp>
        <p:nvSpPr>
          <p:cNvPr id="5" name="Espace réservé pour une image  4">
            <a:extLst>
              <a:ext uri="{FF2B5EF4-FFF2-40B4-BE49-F238E27FC236}">
                <a16:creationId xmlns:a16="http://schemas.microsoft.com/office/drawing/2014/main" id="{5449900E-987A-B10E-123E-7DC13509743D}"/>
              </a:ext>
            </a:extLst>
          </p:cNvPr>
          <p:cNvSpPr>
            <a:spLocks noGrp="1"/>
          </p:cNvSpPr>
          <p:nvPr>
            <p:ph type="pic" sz="quarter" idx="33"/>
          </p:nvPr>
        </p:nvSpPr>
        <p:spPr>
          <a:xfrm>
            <a:off x="0" y="1268413"/>
            <a:ext cx="5519738" cy="5113337"/>
          </a:xfrm>
        </p:spPr>
        <p:txBody>
          <a:bodyPr/>
          <a:lstStyle/>
          <a:p>
            <a:r>
              <a:rPr lang="en-US"/>
              <a:t>Click icon to add picture</a:t>
            </a:r>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5951984" y="5184455"/>
            <a:ext cx="5813598" cy="369332"/>
          </a:xfrm>
          <a:prstGeom prst="rect">
            <a:avLst/>
          </a:prstGeom>
        </p:spPr>
        <p:txBody>
          <a:bodyPr anchor="ctr">
            <a:normAutofit/>
          </a:bodyPr>
          <a:lstStyle>
            <a:lvl1pPr>
              <a:spcBef>
                <a:spcPts val="0"/>
              </a:spcBef>
              <a:defRPr sz="1600"/>
            </a:lvl1pPr>
          </a:lstStyle>
          <a:p>
            <a:pPr lvl="0"/>
            <a:r>
              <a:rPr lang="en-US"/>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5951984" y="5777069"/>
            <a:ext cx="5813598" cy="369332"/>
          </a:xfrm>
          <a:prstGeom prst="rect">
            <a:avLst/>
          </a:prstGeom>
        </p:spPr>
        <p:txBody>
          <a:bodyPr anchor="ctr">
            <a:normAutofit/>
          </a:bodyPr>
          <a:lstStyle>
            <a:lvl1pPr>
              <a:spcBef>
                <a:spcPts val="0"/>
              </a:spcBef>
              <a:defRPr sz="1600"/>
            </a:lvl1pPr>
          </a:lstStyle>
          <a:p>
            <a:pPr lvl="0"/>
            <a:r>
              <a:rPr lang="en-US"/>
              <a:t>Click to add text</a:t>
            </a:r>
          </a:p>
        </p:txBody>
      </p:sp>
    </p:spTree>
    <p:extLst>
      <p:ext uri="{BB962C8B-B14F-4D97-AF65-F5344CB8AC3E}">
        <p14:creationId xmlns:p14="http://schemas.microsoft.com/office/powerpoint/2010/main" val="40337639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CCF694C-872E-0362-0664-84FE017FBD57}"/>
              </a:ext>
            </a:extLst>
          </p:cNvPr>
          <p:cNvSpPr/>
          <p:nvPr userDrawn="1"/>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407565" y="186370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407565" y="2456315"/>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407565" y="304892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407565" y="3641541"/>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407565" y="4234154"/>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407565" y="482676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5472411" cy="792163"/>
          </a:xfrm>
        </p:spPr>
        <p:txBody>
          <a:bodyPr/>
          <a:lstStyle>
            <a:lvl1pPr>
              <a:defRPr>
                <a:solidFill>
                  <a:schemeClr val="tx1"/>
                </a:solidFill>
              </a:defRPr>
            </a:lvl1pPr>
          </a:lstStyle>
          <a:p>
            <a:r>
              <a:rPr lang="en-US"/>
              <a:t>Click to edit Master title style</a:t>
            </a:r>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407565" y="541938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407565" y="6011996"/>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a:t>Click to add text</a:t>
            </a:r>
          </a:p>
        </p:txBody>
      </p:sp>
    </p:spTree>
    <p:extLst>
      <p:ext uri="{BB962C8B-B14F-4D97-AF65-F5344CB8AC3E}">
        <p14:creationId xmlns:p14="http://schemas.microsoft.com/office/powerpoint/2010/main" val="1291927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Divider Page">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grpSp>
        <p:nvGrpSpPr>
          <p:cNvPr id="3" name="Group 37">
            <a:extLst>
              <a:ext uri="{FF2B5EF4-FFF2-40B4-BE49-F238E27FC236}">
                <a16:creationId xmlns:a16="http://schemas.microsoft.com/office/drawing/2014/main" id="{5AD1E928-17A7-8076-E72F-603525614D7F}"/>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A4C59602-5684-DA3C-4D8A-30F7343DD0DC}"/>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39C738EB-51DE-C704-B75C-84CBCD5D68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3104588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Divider Pag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4961531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870259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0557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33580793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8F3953-316A-B430-FE17-F219A7EE0626}"/>
              </a:ext>
            </a:extLst>
          </p:cNvPr>
          <p:cNvSpPr>
            <a:spLocks noGrp="1"/>
          </p:cNvSpPr>
          <p:nvPr>
            <p:ph type="title"/>
          </p:nvPr>
        </p:nvSpPr>
        <p:spPr/>
        <p:txBody>
          <a:bodyPr/>
          <a:lstStyle/>
          <a:p>
            <a:r>
              <a:rPr lang="en-US"/>
              <a:t>Click to edit Master title style</a:t>
            </a:r>
          </a:p>
        </p:txBody>
      </p:sp>
      <p:sp>
        <p:nvSpPr>
          <p:cNvPr id="3" name="Text Placeholder 7">
            <a:extLst>
              <a:ext uri="{FF2B5EF4-FFF2-40B4-BE49-F238E27FC236}">
                <a16:creationId xmlns:a16="http://schemas.microsoft.com/office/drawing/2014/main" id="{49BC7447-5EDE-45B1-8FE5-B3F4F93D2FEB}"/>
              </a:ext>
            </a:extLst>
          </p:cNvPr>
          <p:cNvSpPr>
            <a:spLocks noGrp="1"/>
          </p:cNvSpPr>
          <p:nvPr>
            <p:ph type="body" sz="quarter" idx="12" hasCustomPrompt="1"/>
          </p:nvPr>
        </p:nvSpPr>
        <p:spPr>
          <a:xfrm>
            <a:off x="407989" y="1628775"/>
            <a:ext cx="5532086"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4" name="Text Placeholder 7">
            <a:extLst>
              <a:ext uri="{FF2B5EF4-FFF2-40B4-BE49-F238E27FC236}">
                <a16:creationId xmlns:a16="http://schemas.microsoft.com/office/drawing/2014/main" id="{35CBB3CA-52BC-F9EF-5805-F1F9D912DB58}"/>
              </a:ext>
            </a:extLst>
          </p:cNvPr>
          <p:cNvSpPr>
            <a:spLocks noGrp="1"/>
          </p:cNvSpPr>
          <p:nvPr>
            <p:ph type="body" sz="quarter" idx="10"/>
          </p:nvPr>
        </p:nvSpPr>
        <p:spPr>
          <a:xfrm>
            <a:off x="414972" y="2506942"/>
            <a:ext cx="5525185" cy="3743963"/>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7">
            <a:extLst>
              <a:ext uri="{FF2B5EF4-FFF2-40B4-BE49-F238E27FC236}">
                <a16:creationId xmlns:a16="http://schemas.microsoft.com/office/drawing/2014/main" id="{C5D9D41C-6A18-9349-55BE-94DED28E30EA}"/>
              </a:ext>
            </a:extLst>
          </p:cNvPr>
          <p:cNvSpPr>
            <a:spLocks noGrp="1"/>
          </p:cNvSpPr>
          <p:nvPr>
            <p:ph type="body" sz="quarter" idx="13" hasCustomPrompt="1"/>
          </p:nvPr>
        </p:nvSpPr>
        <p:spPr>
          <a:xfrm>
            <a:off x="6332425" y="1628775"/>
            <a:ext cx="5451505"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6" name="Text Placeholder 7">
            <a:extLst>
              <a:ext uri="{FF2B5EF4-FFF2-40B4-BE49-F238E27FC236}">
                <a16:creationId xmlns:a16="http://schemas.microsoft.com/office/drawing/2014/main" id="{7B44136C-3018-5130-3AC3-47B22ACD9DA3}"/>
              </a:ext>
            </a:extLst>
          </p:cNvPr>
          <p:cNvSpPr>
            <a:spLocks noGrp="1"/>
          </p:cNvSpPr>
          <p:nvPr>
            <p:ph type="body" sz="quarter" idx="14"/>
          </p:nvPr>
        </p:nvSpPr>
        <p:spPr>
          <a:xfrm>
            <a:off x="6332425" y="2506943"/>
            <a:ext cx="5444603" cy="3743962"/>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14737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ABF5EC-92A5-4E9A-F280-EB30FFBC07C4}"/>
              </a:ext>
            </a:extLst>
          </p:cNvPr>
          <p:cNvSpPr>
            <a:spLocks noGrp="1"/>
          </p:cNvSpPr>
          <p:nvPr>
            <p:ph type="title"/>
          </p:nvPr>
        </p:nvSpPr>
        <p:spPr/>
        <p:txBody>
          <a:bodyPr/>
          <a:lstStyle/>
          <a:p>
            <a:r>
              <a:rPr lang="en-US"/>
              <a:t>Click to edit Master title style</a:t>
            </a:r>
          </a:p>
        </p:txBody>
      </p:sp>
      <p:sp>
        <p:nvSpPr>
          <p:cNvPr id="3" name="Text Placeholder 7">
            <a:extLst>
              <a:ext uri="{FF2B5EF4-FFF2-40B4-BE49-F238E27FC236}">
                <a16:creationId xmlns:a16="http://schemas.microsoft.com/office/drawing/2014/main" id="{9CD9F072-6C90-9A95-A50F-DCA5FC167DC4}"/>
              </a:ext>
            </a:extLst>
          </p:cNvPr>
          <p:cNvSpPr>
            <a:spLocks noGrp="1"/>
          </p:cNvSpPr>
          <p:nvPr>
            <p:ph type="body" sz="quarter" idx="12" hasCustomPrompt="1"/>
          </p:nvPr>
        </p:nvSpPr>
        <p:spPr>
          <a:xfrm>
            <a:off x="414971" y="1628775"/>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4" name="Text Placeholder 7">
            <a:extLst>
              <a:ext uri="{FF2B5EF4-FFF2-40B4-BE49-F238E27FC236}">
                <a16:creationId xmlns:a16="http://schemas.microsoft.com/office/drawing/2014/main" id="{D1B0A4F3-549E-71F6-BE52-B382C47A49E5}"/>
              </a:ext>
            </a:extLst>
          </p:cNvPr>
          <p:cNvSpPr>
            <a:spLocks noGrp="1"/>
          </p:cNvSpPr>
          <p:nvPr>
            <p:ph type="body" sz="quarter" idx="10"/>
          </p:nvPr>
        </p:nvSpPr>
        <p:spPr>
          <a:xfrm>
            <a:off x="414971"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7">
            <a:extLst>
              <a:ext uri="{FF2B5EF4-FFF2-40B4-BE49-F238E27FC236}">
                <a16:creationId xmlns:a16="http://schemas.microsoft.com/office/drawing/2014/main" id="{A4B6F29C-F89C-245A-B142-516CCF154314}"/>
              </a:ext>
            </a:extLst>
          </p:cNvPr>
          <p:cNvSpPr>
            <a:spLocks noGrp="1"/>
          </p:cNvSpPr>
          <p:nvPr>
            <p:ph type="body" sz="quarter" idx="15" hasCustomPrompt="1"/>
          </p:nvPr>
        </p:nvSpPr>
        <p:spPr>
          <a:xfrm>
            <a:off x="4260000"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6" name="Text Placeholder 7">
            <a:extLst>
              <a:ext uri="{FF2B5EF4-FFF2-40B4-BE49-F238E27FC236}">
                <a16:creationId xmlns:a16="http://schemas.microsoft.com/office/drawing/2014/main" id="{DD618B66-9577-9BCD-E317-0B5976EC205B}"/>
              </a:ext>
            </a:extLst>
          </p:cNvPr>
          <p:cNvSpPr>
            <a:spLocks noGrp="1"/>
          </p:cNvSpPr>
          <p:nvPr>
            <p:ph type="body" sz="quarter" idx="14"/>
          </p:nvPr>
        </p:nvSpPr>
        <p:spPr>
          <a:xfrm>
            <a:off x="4260000"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FD81C950-E364-B77A-5216-238E0BB40E8F}"/>
              </a:ext>
            </a:extLst>
          </p:cNvPr>
          <p:cNvSpPr>
            <a:spLocks noGrp="1"/>
          </p:cNvSpPr>
          <p:nvPr>
            <p:ph type="body" sz="quarter" idx="17" hasCustomPrompt="1"/>
          </p:nvPr>
        </p:nvSpPr>
        <p:spPr>
          <a:xfrm>
            <a:off x="8105029"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8" name="Text Placeholder 7">
            <a:extLst>
              <a:ext uri="{FF2B5EF4-FFF2-40B4-BE49-F238E27FC236}">
                <a16:creationId xmlns:a16="http://schemas.microsoft.com/office/drawing/2014/main" id="{560BE233-FA65-E9BC-C55B-5E4EBC8DB46B}"/>
              </a:ext>
            </a:extLst>
          </p:cNvPr>
          <p:cNvSpPr>
            <a:spLocks noGrp="1"/>
          </p:cNvSpPr>
          <p:nvPr>
            <p:ph type="body" sz="quarter" idx="16"/>
          </p:nvPr>
        </p:nvSpPr>
        <p:spPr>
          <a:xfrm>
            <a:off x="8105029"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42984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7958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759244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217014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56664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6804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lvl1pPr>
              <a:lnSpc>
                <a:spcPct val="100000"/>
              </a:lnSpc>
              <a:defRPr/>
            </a:lvl1pPr>
          </a:lstStyle>
          <a:p>
            <a:r>
              <a:rPr lang="en-US"/>
              <a:t>Click to edit Master title style</a:t>
            </a:r>
          </a:p>
        </p:txBody>
      </p:sp>
    </p:spTree>
    <p:extLst>
      <p:ext uri="{BB962C8B-B14F-4D97-AF65-F5344CB8AC3E}">
        <p14:creationId xmlns:p14="http://schemas.microsoft.com/office/powerpoint/2010/main" val="1191521094"/>
      </p:ext>
    </p:extLst>
  </p:cSld>
  <p:clrMapOvr>
    <a:masterClrMapping/>
  </p:clrMapOvr>
  <p:extLst>
    <p:ext uri="{DCECCB84-F9BA-43D5-87BE-67443E8EF086}">
      <p15:sldGuideLst xmlns:p15="http://schemas.microsoft.com/office/powerpoint/2012/main">
        <p15:guide id="1" pos="5065"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2852936"/>
            <a:ext cx="7409221" cy="2879526"/>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a:xfrm>
            <a:off x="414971" y="1122908"/>
            <a:ext cx="7409221" cy="1369988"/>
          </a:xfrm>
        </p:spPr>
        <p:txBody>
          <a:bodyPr/>
          <a:lstStyle>
            <a:lvl1pPr>
              <a:lnSpc>
                <a:spcPct val="100000"/>
              </a:lnSpc>
              <a:defRPr/>
            </a:lvl1pPr>
          </a:lstStyle>
          <a:p>
            <a:r>
              <a:rPr lang="en-US"/>
              <a:t>Click to edit Master title style</a:t>
            </a:r>
          </a:p>
        </p:txBody>
      </p:sp>
    </p:spTree>
    <p:extLst>
      <p:ext uri="{BB962C8B-B14F-4D97-AF65-F5344CB8AC3E}">
        <p14:creationId xmlns:p14="http://schemas.microsoft.com/office/powerpoint/2010/main" val="3274780821"/>
      </p:ext>
    </p:extLst>
  </p:cSld>
  <p:clrMapOvr>
    <a:masterClrMapping/>
  </p:clrMapOvr>
  <p:extLst>
    <p:ext uri="{DCECCB84-F9BA-43D5-87BE-67443E8EF086}">
      <p15:sldGuideLst xmlns:p15="http://schemas.microsoft.com/office/powerpoint/2012/main">
        <p15:guide id="1" pos="5065"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76511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Title Only Short White">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en-US"/>
              <a:t>Click to edit Master title style</a:t>
            </a:r>
          </a:p>
        </p:txBody>
      </p:sp>
    </p:spTree>
    <p:extLst>
      <p:ext uri="{BB962C8B-B14F-4D97-AF65-F5344CB8AC3E}">
        <p14:creationId xmlns:p14="http://schemas.microsoft.com/office/powerpoint/2010/main" val="29958792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Title Only Short White">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en-US"/>
              <a:t>Click to edit Master title style</a:t>
            </a:r>
          </a:p>
        </p:txBody>
      </p:sp>
    </p:spTree>
    <p:extLst>
      <p:ext uri="{BB962C8B-B14F-4D97-AF65-F5344CB8AC3E}">
        <p14:creationId xmlns:p14="http://schemas.microsoft.com/office/powerpoint/2010/main" val="23997279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599585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1807172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8628948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ubtitle Content Grey">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grpSp>
        <p:nvGrpSpPr>
          <p:cNvPr id="3" name="Group 37">
            <a:extLst>
              <a:ext uri="{FF2B5EF4-FFF2-40B4-BE49-F238E27FC236}">
                <a16:creationId xmlns:a16="http://schemas.microsoft.com/office/drawing/2014/main" id="{B0C581DC-AC70-A4F0-51CB-1FA6B08A37BE}"/>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63F60F5E-5D27-779B-6E8E-C919398219A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A979E7CA-B1A9-8298-494D-03780A9E57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979813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grpSp>
        <p:nvGrpSpPr>
          <p:cNvPr id="4" name="Group 37">
            <a:extLst>
              <a:ext uri="{FF2B5EF4-FFF2-40B4-BE49-F238E27FC236}">
                <a16:creationId xmlns:a16="http://schemas.microsoft.com/office/drawing/2014/main" id="{9B4384E0-E70E-1D2F-00F4-6E8113E6115B}"/>
              </a:ext>
            </a:extLst>
          </p:cNvPr>
          <p:cNvGrpSpPr/>
          <p:nvPr userDrawn="1"/>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DEADA429-607C-23EB-6562-F893EB6AB13A}"/>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321">
              <a:extLst>
                <a:ext uri="{FF2B5EF4-FFF2-40B4-BE49-F238E27FC236}">
                  <a16:creationId xmlns:a16="http://schemas.microsoft.com/office/drawing/2014/main" id="{FE473CBE-1F40-1799-0531-AC4BB82893E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670553885"/>
      </p:ext>
    </p:extLst>
  </p:cSld>
  <p:clrMapOvr>
    <a:masterClrMapping/>
  </p:clrMapOvr>
  <p:extLst>
    <p:ext uri="{DCECCB84-F9BA-43D5-87BE-67443E8EF086}">
      <p15:sldGuideLst xmlns:p15="http://schemas.microsoft.com/office/powerpoint/2012/main">
        <p15:guide id="1" pos="5019"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grpSp>
        <p:nvGrpSpPr>
          <p:cNvPr id="4" name="Group 37">
            <a:extLst>
              <a:ext uri="{FF2B5EF4-FFF2-40B4-BE49-F238E27FC236}">
                <a16:creationId xmlns:a16="http://schemas.microsoft.com/office/drawing/2014/main" id="{7A334606-8EE3-365F-25B8-44D290069C7A}"/>
              </a:ext>
            </a:extLst>
          </p:cNvPr>
          <p:cNvGrpSpPr/>
          <p:nvPr userDrawn="1"/>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9327B499-75BC-B2BA-955E-89BC1B5BA087}"/>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321">
              <a:extLst>
                <a:ext uri="{FF2B5EF4-FFF2-40B4-BE49-F238E27FC236}">
                  <a16:creationId xmlns:a16="http://schemas.microsoft.com/office/drawing/2014/main" id="{830903CF-8165-AFC6-912A-B0D50B5352C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6989898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p>
        </p:txBody>
      </p:sp>
      <p:grpSp>
        <p:nvGrpSpPr>
          <p:cNvPr id="3" name="Group 37">
            <a:extLst>
              <a:ext uri="{FF2B5EF4-FFF2-40B4-BE49-F238E27FC236}">
                <a16:creationId xmlns:a16="http://schemas.microsoft.com/office/drawing/2014/main" id="{F75C5998-60B8-E90F-ABC5-B2B44AE3671E}"/>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7AA8B914-E494-3BE7-D1C9-625A618D7BB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8C9E80B-66E6-FE75-51F4-FE53C769FD6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281145079"/>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grpSp>
        <p:nvGrpSpPr>
          <p:cNvPr id="2" name="Group 37">
            <a:extLst>
              <a:ext uri="{FF2B5EF4-FFF2-40B4-BE49-F238E27FC236}">
                <a16:creationId xmlns:a16="http://schemas.microsoft.com/office/drawing/2014/main" id="{7A1A8CC8-8DC5-C9DB-BF05-A632200BAA79}"/>
              </a:ext>
            </a:extLst>
          </p:cNvPr>
          <p:cNvGrpSpPr/>
          <p:nvPr userDrawn="1"/>
        </p:nvGrpSpPr>
        <p:grpSpPr>
          <a:xfrm>
            <a:off x="11501102" y="171573"/>
            <a:ext cx="419436" cy="388087"/>
            <a:chOff x="5481638" y="2859088"/>
            <a:chExt cx="1231900" cy="1139825"/>
          </a:xfrm>
          <a:solidFill>
            <a:schemeClr val="bg1"/>
          </a:solidFill>
        </p:grpSpPr>
        <p:sp>
          <p:nvSpPr>
            <p:cNvPr id="3" name="Freeform 320">
              <a:extLst>
                <a:ext uri="{FF2B5EF4-FFF2-40B4-BE49-F238E27FC236}">
                  <a16:creationId xmlns:a16="http://schemas.microsoft.com/office/drawing/2014/main" id="{9FD445ED-7589-8F2E-2555-68F99651CF5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 name="Freeform 321">
              <a:extLst>
                <a:ext uri="{FF2B5EF4-FFF2-40B4-BE49-F238E27FC236}">
                  <a16:creationId xmlns:a16="http://schemas.microsoft.com/office/drawing/2014/main" id="{D611104C-45C2-A6EE-6C88-7B5A09068B1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297071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gradFill flip="none" rotWithShape="1">
          <a:gsLst>
            <a:gs pos="0">
              <a:schemeClr val="accent4"/>
            </a:gs>
            <a:gs pos="100000">
              <a:schemeClr val="accent1"/>
            </a:gs>
          </a:gsLst>
          <a:lin ang="18900000" scaled="1"/>
          <a:tileRect/>
        </a:gradFill>
        <a:effectLst/>
      </p:bgPr>
    </p:bg>
    <p:spTree>
      <p:nvGrpSpPr>
        <p:cNvPr id="1" name=""/>
        <p:cNvGrpSpPr/>
        <p:nvPr/>
      </p:nvGrpSpPr>
      <p:grpSpPr>
        <a:xfrm>
          <a:off x="0" y="0"/>
          <a:ext cx="0" cy="0"/>
          <a:chOff x="0" y="0"/>
          <a:chExt cx="0" cy="0"/>
        </a:xfrm>
      </p:grpSpPr>
      <p:grpSp>
        <p:nvGrpSpPr>
          <p:cNvPr id="3" name="Group 37">
            <a:extLst>
              <a:ext uri="{FF2B5EF4-FFF2-40B4-BE49-F238E27FC236}">
                <a16:creationId xmlns:a16="http://schemas.microsoft.com/office/drawing/2014/main" id="{1061E678-75D4-A1A0-2B62-B9EE7897ADC9}"/>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968249B3-6CEA-36AB-82F2-AC791AB4541D}"/>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6CA36F11-D251-B9D9-4C20-84C34AAE71C9}"/>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8864841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7031742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2914079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itle Subtitle Content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6998456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085028029"/>
      </p:ext>
    </p:extLst>
  </p:cSld>
  <p:clrMapOvr>
    <a:masterClrMapping/>
  </p:clrMapOvr>
  <p:extLst>
    <p:ext uri="{DCECCB84-F9BA-43D5-87BE-67443E8EF086}">
      <p15:sldGuideLst xmlns:p15="http://schemas.microsoft.com/office/powerpoint/2012/main">
        <p15:guide id="1" pos="5019"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6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612184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7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04018989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8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89686874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isposition personnalisé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0972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7">
            <a:hlinkClick r:id="rId2"/>
            <a:extLst>
              <a:ext uri="{FF2B5EF4-FFF2-40B4-BE49-F238E27FC236}">
                <a16:creationId xmlns:a16="http://schemas.microsoft.com/office/drawing/2014/main" id="{941A3941-C755-6656-4029-D0028A53BB32}"/>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5" name="Picture 2">
            <a:hlinkClick r:id="rId4"/>
            <a:extLst>
              <a:ext uri="{FF2B5EF4-FFF2-40B4-BE49-F238E27FC236}">
                <a16:creationId xmlns:a16="http://schemas.microsoft.com/office/drawing/2014/main" id="{3591224F-8FEC-9B5A-1F57-B601D9EC4CA0}"/>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6" name="Picture 4">
            <a:hlinkClick r:id="rId6"/>
            <a:extLst>
              <a:ext uri="{FF2B5EF4-FFF2-40B4-BE49-F238E27FC236}">
                <a16:creationId xmlns:a16="http://schemas.microsoft.com/office/drawing/2014/main" id="{C96036E5-31FB-13BE-950F-9869979802DC}"/>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7" name="Picture 6">
            <a:hlinkClick r:id="rId8"/>
            <a:extLst>
              <a:ext uri="{FF2B5EF4-FFF2-40B4-BE49-F238E27FC236}">
                <a16:creationId xmlns:a16="http://schemas.microsoft.com/office/drawing/2014/main" id="{C895DE98-7E11-9ACD-964C-CB06CEB75807}"/>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8" name="Rectangle 7">
            <a:extLst>
              <a:ext uri="{FF2B5EF4-FFF2-40B4-BE49-F238E27FC236}">
                <a16:creationId xmlns:a16="http://schemas.microsoft.com/office/drawing/2014/main" id="{3CBBF08B-D059-4998-4ED3-95035CA33654}"/>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2025 Capgemini. All rights reserved.</a:t>
            </a:r>
          </a:p>
        </p:txBody>
      </p:sp>
      <p:pic>
        <p:nvPicPr>
          <p:cNvPr id="10" name="Image 9" descr="Une image contenant noir, Graphique, art&#10;&#10;Description générée automatiquement">
            <a:extLst>
              <a:ext uri="{FF2B5EF4-FFF2-40B4-BE49-F238E27FC236}">
                <a16:creationId xmlns:a16="http://schemas.microsoft.com/office/drawing/2014/main" id="{DE62D67C-765C-84EB-F850-6A1F3B6BE8F7}"/>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5447928" y="836712"/>
            <a:ext cx="7729744" cy="6403861"/>
          </a:xfrm>
          <a:prstGeom prst="rect">
            <a:avLst/>
          </a:prstGeom>
        </p:spPr>
      </p:pic>
    </p:spTree>
    <p:extLst>
      <p:ext uri="{BB962C8B-B14F-4D97-AF65-F5344CB8AC3E}">
        <p14:creationId xmlns:p14="http://schemas.microsoft.com/office/powerpoint/2010/main" val="1204560427"/>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0" name="Picture 7">
            <a:hlinkClick r:id="rId2"/>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4"/>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12" name="Picture 4">
            <a:hlinkClick r:id="rId6"/>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17" name="Picture 6">
            <a:hlinkClick r:id="rId8"/>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2025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14">
            <a:extLst>
              <a:ext uri="{FF2B5EF4-FFF2-40B4-BE49-F238E27FC236}">
                <a16:creationId xmlns:a16="http://schemas.microsoft.com/office/drawing/2014/main" id="{72F6479D-6EC4-876D-159E-45E9EFA775CF}"/>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Tree>
    <p:extLst>
      <p:ext uri="{BB962C8B-B14F-4D97-AF65-F5344CB8AC3E}">
        <p14:creationId xmlns:p14="http://schemas.microsoft.com/office/powerpoint/2010/main" val="9465525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2_Titre seul">
    <p:bg>
      <p:bgRef idx="1001">
        <a:schemeClr val="bg2"/>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grpSp>
        <p:nvGrpSpPr>
          <p:cNvPr id="8" name="Groupe 1">
            <a:extLst>
              <a:ext uri="{FF2B5EF4-FFF2-40B4-BE49-F238E27FC236}">
                <a16:creationId xmlns:a16="http://schemas.microsoft.com/office/drawing/2014/main" id="{21C8F5E7-2233-4FA6-9226-9B3E31630C12}"/>
              </a:ext>
            </a:extLst>
          </p:cNvPr>
          <p:cNvGrpSpPr/>
          <p:nvPr userDrawn="1"/>
        </p:nvGrpSpPr>
        <p:grpSpPr>
          <a:xfrm>
            <a:off x="11501102" y="171573"/>
            <a:ext cx="419436" cy="388988"/>
            <a:chOff x="11501102" y="171573"/>
            <a:chExt cx="419436" cy="388988"/>
          </a:xfrm>
        </p:grpSpPr>
        <p:sp>
          <p:nvSpPr>
            <p:cNvPr id="9" name="Freeform 13">
              <a:extLst>
                <a:ext uri="{FF2B5EF4-FFF2-40B4-BE49-F238E27FC236}">
                  <a16:creationId xmlns:a16="http://schemas.microsoft.com/office/drawing/2014/main" id="{CE484139-60EF-4397-B31A-CA826789D4B9}"/>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3C91B4C7-B3F8-476C-BA13-11A8FE5CC1B2}"/>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547271165"/>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Blank-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26383277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1_Portada">
    <p:spTree>
      <p:nvGrpSpPr>
        <p:cNvPr id="1" name=""/>
        <p:cNvGrpSpPr/>
        <p:nvPr/>
      </p:nvGrpSpPr>
      <p:grpSpPr>
        <a:xfrm>
          <a:off x="0" y="0"/>
          <a:ext cx="0" cy="0"/>
          <a:chOff x="0" y="0"/>
          <a:chExt cx="0" cy="0"/>
        </a:xfrm>
      </p:grpSpPr>
      <p:pic>
        <p:nvPicPr>
          <p:cNvPr id="5" name="Picture 4" descr="N175/6.X - Nordex SE - Español">
            <a:extLst>
              <a:ext uri="{FF2B5EF4-FFF2-40B4-BE49-F238E27FC236}">
                <a16:creationId xmlns:a16="http://schemas.microsoft.com/office/drawing/2014/main" id="{09E4B3EF-8262-2160-350D-3EE3707AE7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324" b="7223"/>
          <a:stretch/>
        </p:blipFill>
        <p:spPr bwMode="auto">
          <a:xfrm>
            <a:off x="-4864" y="-1"/>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5B9AFE7-0F2A-0CDA-A418-D1116954050C}"/>
              </a:ext>
            </a:extLst>
          </p:cNvPr>
          <p:cNvSpPr/>
          <p:nvPr/>
        </p:nvSpPr>
        <p:spPr>
          <a:xfrm>
            <a:off x="-4864" y="-1"/>
            <a:ext cx="12192000" cy="6768477"/>
          </a:xfrm>
          <a:prstGeom prst="rect">
            <a:avLst/>
          </a:prstGeom>
          <a:solidFill>
            <a:schemeClr val="tx1">
              <a:lumMod val="75000"/>
              <a:lumOff val="25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Holder 2"/>
          <p:cNvSpPr>
            <a:spLocks noGrp="1"/>
          </p:cNvSpPr>
          <p:nvPr>
            <p:ph type="ftr" sz="quarter" idx="5"/>
          </p:nvPr>
        </p:nvSpPr>
        <p:spPr>
          <a:xfrm>
            <a:off x="8321879" y="6645366"/>
            <a:ext cx="2895135" cy="123111"/>
          </a:xfrm>
        </p:spPr>
        <p:txBody>
          <a:bodyPr lIns="0" tIns="0" rIns="0" bIns="0" anchor="b"/>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4" name="Holder 4"/>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7" name="Graphic 1">
            <a:extLst>
              <a:ext uri="{FF2B5EF4-FFF2-40B4-BE49-F238E27FC236}">
                <a16:creationId xmlns:a16="http://schemas.microsoft.com/office/drawing/2014/main" id="{FBB1A379-6173-EFC5-1802-FA8AF4BDC8D2}"/>
              </a:ext>
            </a:extLst>
          </p:cNvPr>
          <p:cNvSpPr/>
          <p:nvPr/>
        </p:nvSpPr>
        <p:spPr>
          <a:xfrm rot="16200000" flipH="1">
            <a:off x="-1856147" y="1333901"/>
            <a:ext cx="8917916" cy="4038928"/>
          </a:xfrm>
          <a:custGeom>
            <a:avLst/>
            <a:gdLst>
              <a:gd name="connsiteX0" fmla="*/ 7215188 w 7239000"/>
              <a:gd name="connsiteY0" fmla="*/ 3278548 h 3278547"/>
              <a:gd name="connsiteX1" fmla="*/ 6557010 w 7239000"/>
              <a:gd name="connsiteY1" fmla="*/ 2329858 h 3278547"/>
              <a:gd name="connsiteX2" fmla="*/ 4255770 w 7239000"/>
              <a:gd name="connsiteY2" fmla="*/ 41000 h 3278547"/>
              <a:gd name="connsiteX3" fmla="*/ 4255770 w 7239000"/>
              <a:gd name="connsiteY3" fmla="*/ 41000 h 3278547"/>
              <a:gd name="connsiteX4" fmla="*/ 4247198 w 7239000"/>
              <a:gd name="connsiteY4" fmla="*/ 40048 h 3278547"/>
              <a:gd name="connsiteX5" fmla="*/ 4245293 w 7239000"/>
              <a:gd name="connsiteY5" fmla="*/ 40048 h 3278547"/>
              <a:gd name="connsiteX6" fmla="*/ 2178368 w 7239000"/>
              <a:gd name="connsiteY6" fmla="*/ 949685 h 3278547"/>
              <a:gd name="connsiteX7" fmla="*/ 2162175 w 7239000"/>
              <a:gd name="connsiteY7" fmla="*/ 963973 h 3278547"/>
              <a:gd name="connsiteX8" fmla="*/ 2172653 w 7239000"/>
              <a:gd name="connsiteY8" fmla="*/ 985880 h 3278547"/>
              <a:gd name="connsiteX9" fmla="*/ 2628900 w 7239000"/>
              <a:gd name="connsiteY9" fmla="*/ 2749910 h 3278547"/>
              <a:gd name="connsiteX10" fmla="*/ 1949768 w 7239000"/>
              <a:gd name="connsiteY10" fmla="*/ 2512738 h 3278547"/>
              <a:gd name="connsiteX11" fmla="*/ 1019175 w 7239000"/>
              <a:gd name="connsiteY11" fmla="*/ 2072683 h 3278547"/>
              <a:gd name="connsiteX12" fmla="*/ 36195 w 7239000"/>
              <a:gd name="connsiteY12" fmla="*/ 3269023 h 3278547"/>
              <a:gd name="connsiteX13" fmla="*/ 0 w 7239000"/>
              <a:gd name="connsiteY13" fmla="*/ 3257593 h 3278547"/>
              <a:gd name="connsiteX14" fmla="*/ 270510 w 7239000"/>
              <a:gd name="connsiteY14" fmla="*/ 2655613 h 3278547"/>
              <a:gd name="connsiteX15" fmla="*/ 1018223 w 7239000"/>
              <a:gd name="connsiteY15" fmla="*/ 2034583 h 3278547"/>
              <a:gd name="connsiteX16" fmla="*/ 1971675 w 7239000"/>
              <a:gd name="connsiteY16" fmla="*/ 2481305 h 3278547"/>
              <a:gd name="connsiteX17" fmla="*/ 2599373 w 7239000"/>
              <a:gd name="connsiteY17" fmla="*/ 2725146 h 3278547"/>
              <a:gd name="connsiteX18" fmla="*/ 2138363 w 7239000"/>
              <a:gd name="connsiteY18" fmla="*/ 1002073 h 3278547"/>
              <a:gd name="connsiteX19" fmla="*/ 2122170 w 7239000"/>
              <a:gd name="connsiteY19" fmla="*/ 967783 h 3278547"/>
              <a:gd name="connsiteX20" fmla="*/ 2116455 w 7239000"/>
              <a:gd name="connsiteY20" fmla="*/ 955400 h 3278547"/>
              <a:gd name="connsiteX21" fmla="*/ 2126933 w 7239000"/>
              <a:gd name="connsiteY21" fmla="*/ 945875 h 3278547"/>
              <a:gd name="connsiteX22" fmla="*/ 2152650 w 7239000"/>
              <a:gd name="connsiteY22" fmla="*/ 922063 h 3278547"/>
              <a:gd name="connsiteX23" fmla="*/ 2890838 w 7239000"/>
              <a:gd name="connsiteY23" fmla="*/ 369613 h 3278547"/>
              <a:gd name="connsiteX24" fmla="*/ 4248150 w 7239000"/>
              <a:gd name="connsiteY24" fmla="*/ 2900 h 3278547"/>
              <a:gd name="connsiteX25" fmla="*/ 4252913 w 7239000"/>
              <a:gd name="connsiteY25" fmla="*/ 2900 h 3278547"/>
              <a:gd name="connsiteX26" fmla="*/ 4252913 w 7239000"/>
              <a:gd name="connsiteY26" fmla="*/ 2900 h 3278547"/>
              <a:gd name="connsiteX27" fmla="*/ 6590348 w 7239000"/>
              <a:gd name="connsiteY27" fmla="*/ 2310808 h 3278547"/>
              <a:gd name="connsiteX28" fmla="*/ 7239000 w 7239000"/>
              <a:gd name="connsiteY28" fmla="*/ 3249021 h 3278547"/>
              <a:gd name="connsiteX29" fmla="*/ 7215188 w 7239000"/>
              <a:gd name="connsiteY29" fmla="*/ 3278548 h 327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39000" h="3278547">
                <a:moveTo>
                  <a:pt x="7215188" y="3278548"/>
                </a:moveTo>
                <a:cubicBezTo>
                  <a:pt x="7036118" y="3138530"/>
                  <a:pt x="6814185" y="2764198"/>
                  <a:pt x="6557010" y="2329858"/>
                </a:cubicBezTo>
                <a:cubicBezTo>
                  <a:pt x="5998845" y="1386883"/>
                  <a:pt x="5233988" y="96245"/>
                  <a:pt x="4255770" y="41000"/>
                </a:cubicBezTo>
                <a:lnTo>
                  <a:pt x="4255770" y="41000"/>
                </a:lnTo>
                <a:lnTo>
                  <a:pt x="4247198" y="40048"/>
                </a:lnTo>
                <a:cubicBezTo>
                  <a:pt x="4246245" y="40048"/>
                  <a:pt x="4245293" y="40048"/>
                  <a:pt x="4245293" y="40048"/>
                </a:cubicBezTo>
                <a:cubicBezTo>
                  <a:pt x="3781425" y="14330"/>
                  <a:pt x="3046095" y="151490"/>
                  <a:pt x="2178368" y="949685"/>
                </a:cubicBezTo>
                <a:cubicBezTo>
                  <a:pt x="2172653" y="955400"/>
                  <a:pt x="2166938" y="960163"/>
                  <a:pt x="2162175" y="963973"/>
                </a:cubicBezTo>
                <a:cubicBezTo>
                  <a:pt x="2165033" y="970640"/>
                  <a:pt x="2168843" y="977308"/>
                  <a:pt x="2172653" y="985880"/>
                </a:cubicBezTo>
                <a:cubicBezTo>
                  <a:pt x="2486025" y="1663108"/>
                  <a:pt x="2820353" y="2519405"/>
                  <a:pt x="2628900" y="2749910"/>
                </a:cubicBezTo>
                <a:cubicBezTo>
                  <a:pt x="2499360" y="2905168"/>
                  <a:pt x="2245043" y="2723240"/>
                  <a:pt x="1949768" y="2512738"/>
                </a:cubicBezTo>
                <a:cubicBezTo>
                  <a:pt x="1655445" y="2302235"/>
                  <a:pt x="1322070" y="2064110"/>
                  <a:pt x="1019175" y="2072683"/>
                </a:cubicBezTo>
                <a:cubicBezTo>
                  <a:pt x="422910" y="2089828"/>
                  <a:pt x="40005" y="3257593"/>
                  <a:pt x="36195" y="3269023"/>
                </a:cubicBezTo>
                <a:lnTo>
                  <a:pt x="0" y="3257593"/>
                </a:lnTo>
                <a:cubicBezTo>
                  <a:pt x="953" y="3254735"/>
                  <a:pt x="98108" y="2953746"/>
                  <a:pt x="270510" y="2655613"/>
                </a:cubicBezTo>
                <a:cubicBezTo>
                  <a:pt x="503873" y="2250800"/>
                  <a:pt x="755333" y="2042203"/>
                  <a:pt x="1018223" y="2034583"/>
                </a:cubicBezTo>
                <a:cubicBezTo>
                  <a:pt x="1334453" y="2026010"/>
                  <a:pt x="1672590" y="2267945"/>
                  <a:pt x="1971675" y="2481305"/>
                </a:cubicBezTo>
                <a:cubicBezTo>
                  <a:pt x="2250758" y="2681330"/>
                  <a:pt x="2492693" y="2853733"/>
                  <a:pt x="2599373" y="2725146"/>
                </a:cubicBezTo>
                <a:cubicBezTo>
                  <a:pt x="2739390" y="2557505"/>
                  <a:pt x="2575560" y="1945048"/>
                  <a:pt x="2138363" y="1002073"/>
                </a:cubicBezTo>
                <a:cubicBezTo>
                  <a:pt x="2131695" y="986833"/>
                  <a:pt x="2125980" y="975403"/>
                  <a:pt x="2122170" y="967783"/>
                </a:cubicBezTo>
                <a:lnTo>
                  <a:pt x="2116455" y="955400"/>
                </a:lnTo>
                <a:lnTo>
                  <a:pt x="2126933" y="945875"/>
                </a:lnTo>
                <a:cubicBezTo>
                  <a:pt x="2133600" y="939208"/>
                  <a:pt x="2143125" y="931588"/>
                  <a:pt x="2152650" y="922063"/>
                </a:cubicBezTo>
                <a:cubicBezTo>
                  <a:pt x="2253615" y="828718"/>
                  <a:pt x="2522220" y="582020"/>
                  <a:pt x="2890838" y="369613"/>
                </a:cubicBezTo>
                <a:cubicBezTo>
                  <a:pt x="3353753" y="101960"/>
                  <a:pt x="3810000" y="-20912"/>
                  <a:pt x="4248150" y="2900"/>
                </a:cubicBezTo>
                <a:lnTo>
                  <a:pt x="4252913" y="2900"/>
                </a:lnTo>
                <a:lnTo>
                  <a:pt x="4252913" y="2900"/>
                </a:lnTo>
                <a:cubicBezTo>
                  <a:pt x="5253990" y="55288"/>
                  <a:pt x="6026468" y="1359260"/>
                  <a:pt x="6590348" y="2310808"/>
                </a:cubicBezTo>
                <a:cubicBezTo>
                  <a:pt x="6845618" y="2741338"/>
                  <a:pt x="7065645" y="3113765"/>
                  <a:pt x="7239000" y="3249021"/>
                </a:cubicBezTo>
                <a:lnTo>
                  <a:pt x="7215188" y="3278548"/>
                </a:lnTo>
                <a:close/>
              </a:path>
            </a:pathLst>
          </a:custGeom>
          <a:gradFill>
            <a:gsLst>
              <a:gs pos="86000">
                <a:schemeClr val="accent2">
                  <a:alpha val="0"/>
                </a:schemeClr>
              </a:gs>
              <a:gs pos="16000">
                <a:schemeClr val="accent2">
                  <a:alpha val="0"/>
                </a:schemeClr>
              </a:gs>
              <a:gs pos="49000">
                <a:schemeClr val="accent2"/>
              </a:gs>
              <a:gs pos="31000">
                <a:schemeClr val="accent2"/>
              </a:gs>
            </a:gsLst>
            <a:lin ang="1200000" scaled="0"/>
          </a:gradFill>
          <a:ln w="9525" cap="flat">
            <a:noFill/>
            <a:prstDash val="solid"/>
            <a:miter/>
          </a:ln>
        </p:spPr>
        <p:txBody>
          <a:bodyPr rtlCol="0" anchor="ctr"/>
          <a:lstStyle/>
          <a:p>
            <a:endParaRPr lang="en-GB">
              <a:latin typeface="Ubuntu" panose="020B0504030602030204" pitchFamily="34" charset="0"/>
            </a:endParaRPr>
          </a:p>
        </p:txBody>
      </p:sp>
    </p:spTree>
    <p:extLst>
      <p:ext uri="{BB962C8B-B14F-4D97-AF65-F5344CB8AC3E}">
        <p14:creationId xmlns:p14="http://schemas.microsoft.com/office/powerpoint/2010/main" val="1631241543"/>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2_Indice">
    <p:spTree>
      <p:nvGrpSpPr>
        <p:cNvPr id="1" name=""/>
        <p:cNvGrpSpPr/>
        <p:nvPr/>
      </p:nvGrpSpPr>
      <p:grpSpPr>
        <a:xfrm>
          <a:off x="0" y="0"/>
          <a:ext cx="0" cy="0"/>
          <a:chOff x="0" y="0"/>
          <a:chExt cx="0" cy="0"/>
        </a:xfrm>
      </p:grpSpPr>
      <p:pic>
        <p:nvPicPr>
          <p:cNvPr id="3074" name="Picture 2" descr="N175/6.X - Nordex SE - Español">
            <a:extLst>
              <a:ext uri="{FF2B5EF4-FFF2-40B4-BE49-F238E27FC236}">
                <a16:creationId xmlns:a16="http://schemas.microsoft.com/office/drawing/2014/main" id="{1778599D-25BE-CF60-6D3A-EA51DC3C0E3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68" r="18604"/>
          <a:stretch/>
        </p:blipFill>
        <p:spPr bwMode="auto">
          <a:xfrm>
            <a:off x="7707968" y="0"/>
            <a:ext cx="448403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Holder 2"/>
          <p:cNvSpPr>
            <a:spLocks noGrp="1"/>
          </p:cNvSpPr>
          <p:nvPr>
            <p:ph type="ftr" sz="quarter" idx="5"/>
          </p:nvPr>
        </p:nvSpPr>
        <p:spPr>
          <a:xfrm>
            <a:off x="8321879" y="6645366"/>
            <a:ext cx="2895135" cy="123111"/>
          </a:xfrm>
        </p:spPr>
        <p:txBody>
          <a:bodyPr lIns="0" tIns="0" rIns="0" bIns="0" anchor="b"/>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4" name="Holder 4"/>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5" name="Rectangle 4">
            <a:extLst>
              <a:ext uri="{FF2B5EF4-FFF2-40B4-BE49-F238E27FC236}">
                <a16:creationId xmlns:a16="http://schemas.microsoft.com/office/drawing/2014/main" id="{95B9AFE7-0F2A-0CDA-A418-D1116954050C}"/>
              </a:ext>
            </a:extLst>
          </p:cNvPr>
          <p:cNvSpPr/>
          <p:nvPr/>
        </p:nvSpPr>
        <p:spPr>
          <a:xfrm>
            <a:off x="7707968" y="0"/>
            <a:ext cx="4484032" cy="6858000"/>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pic>
        <p:nvPicPr>
          <p:cNvPr id="11" name="Image 5">
            <a:extLst>
              <a:ext uri="{FF2B5EF4-FFF2-40B4-BE49-F238E27FC236}">
                <a16:creationId xmlns:a16="http://schemas.microsoft.com/office/drawing/2014/main" id="{3D7FED66-ED27-A764-5CAA-AB91C9291C8E}"/>
              </a:ext>
              <a:ext uri="{C183D7F6-B498-43B3-948B-1728B52AA6E4}">
                <adec:decorative xmlns:adec="http://schemas.microsoft.com/office/drawing/2017/decorative" val="1"/>
              </a:ext>
            </a:extLst>
          </p:cNvPr>
          <p:cNvPicPr>
            <a:picLocks noChangeAspect="1"/>
          </p:cNvPicPr>
          <p:nvPr/>
        </p:nvPicPr>
        <p:blipFill>
          <a:blip r:embed="rId3" cstate="print">
            <a:alphaModFix amt="49000"/>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rot="21261279">
            <a:off x="683375" y="1154171"/>
            <a:ext cx="9432654" cy="6671941"/>
          </a:xfrm>
          <a:prstGeom prst="rect">
            <a:avLst/>
          </a:prstGeom>
        </p:spPr>
      </p:pic>
      <p:grpSp>
        <p:nvGrpSpPr>
          <p:cNvPr id="16" name="Groupe 1">
            <a:extLst>
              <a:ext uri="{FF2B5EF4-FFF2-40B4-BE49-F238E27FC236}">
                <a16:creationId xmlns:a16="http://schemas.microsoft.com/office/drawing/2014/main" id="{DD5608CE-145A-E958-7625-2B2459064EC3}"/>
              </a:ext>
            </a:extLst>
          </p:cNvPr>
          <p:cNvGrpSpPr>
            <a:grpSpLocks noChangeAspect="1"/>
          </p:cNvGrpSpPr>
          <p:nvPr/>
        </p:nvGrpSpPr>
        <p:grpSpPr>
          <a:xfrm>
            <a:off x="11467764" y="228600"/>
            <a:ext cx="419436" cy="388988"/>
            <a:chOff x="11501102" y="171573"/>
            <a:chExt cx="419436" cy="388988"/>
          </a:xfrm>
          <a:solidFill>
            <a:schemeClr val="bg1"/>
          </a:solidFill>
        </p:grpSpPr>
        <p:sp>
          <p:nvSpPr>
            <p:cNvPr id="17" name="Freeform 13">
              <a:extLst>
                <a:ext uri="{FF2B5EF4-FFF2-40B4-BE49-F238E27FC236}">
                  <a16:creationId xmlns:a16="http://schemas.microsoft.com/office/drawing/2014/main" id="{056D17E3-8EB3-BE4F-65B2-43109866AB0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a:extLst>
                <a:ext uri="{FF2B5EF4-FFF2-40B4-BE49-F238E27FC236}">
                  <a16:creationId xmlns:a16="http://schemas.microsoft.com/office/drawing/2014/main" id="{01BD36F4-2815-22D1-33B1-E0D741F9163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756306323"/>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_Basica">
    <p:spTree>
      <p:nvGrpSpPr>
        <p:cNvPr id="1" name=""/>
        <p:cNvGrpSpPr/>
        <p:nvPr/>
      </p:nvGrpSpPr>
      <p:grpSpPr>
        <a:xfrm>
          <a:off x="0" y="0"/>
          <a:ext cx="0" cy="0"/>
          <a:chOff x="0" y="0"/>
          <a:chExt cx="0" cy="0"/>
        </a:xfrm>
      </p:grpSpPr>
      <p:pic>
        <p:nvPicPr>
          <p:cNvPr id="2" name="Picture 1" descr="Wind farm at twilight">
            <a:extLst>
              <a:ext uri="{FF2B5EF4-FFF2-40B4-BE49-F238E27FC236}">
                <a16:creationId xmlns:a16="http://schemas.microsoft.com/office/drawing/2014/main" id="{CA57EF90-EFF1-B434-5014-89FACAFD5685}"/>
              </a:ext>
            </a:extLst>
          </p:cNvPr>
          <p:cNvPicPr>
            <a:picLocks noChangeAspect="1"/>
          </p:cNvPicPr>
          <p:nvPr/>
        </p:nvPicPr>
        <p:blipFill>
          <a:blip r:embed="rId2">
            <a:alphaModFix amt="1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109728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Tree>
    <p:extLst>
      <p:ext uri="{BB962C8B-B14F-4D97-AF65-F5344CB8AC3E}">
        <p14:creationId xmlns:p14="http://schemas.microsoft.com/office/powerpoint/2010/main" val="3944314624"/>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4_Metodología">
    <p:spTree>
      <p:nvGrpSpPr>
        <p:cNvPr id="1" name=""/>
        <p:cNvGrpSpPr/>
        <p:nvPr/>
      </p:nvGrpSpPr>
      <p:grpSpPr>
        <a:xfrm>
          <a:off x="0" y="0"/>
          <a:ext cx="0" cy="0"/>
          <a:chOff x="0" y="0"/>
          <a:chExt cx="0" cy="0"/>
        </a:xfrm>
      </p:grpSpPr>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109728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
        <p:nvSpPr>
          <p:cNvPr id="2" name="Rectangle 1">
            <a:extLst>
              <a:ext uri="{FF2B5EF4-FFF2-40B4-BE49-F238E27FC236}">
                <a16:creationId xmlns:a16="http://schemas.microsoft.com/office/drawing/2014/main" id="{DFB1CE93-DCBD-4C13-890D-0D19E443955D}"/>
              </a:ext>
            </a:extLst>
          </p:cNvPr>
          <p:cNvSpPr/>
          <p:nvPr/>
        </p:nvSpPr>
        <p:spPr>
          <a:xfrm>
            <a:off x="6132663" y="-3884"/>
            <a:ext cx="6059337"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err="1"/>
          </a:p>
        </p:txBody>
      </p:sp>
      <p:grpSp>
        <p:nvGrpSpPr>
          <p:cNvPr id="6" name="Groupe 1">
            <a:extLst>
              <a:ext uri="{FF2B5EF4-FFF2-40B4-BE49-F238E27FC236}">
                <a16:creationId xmlns:a16="http://schemas.microsoft.com/office/drawing/2014/main" id="{4ACC0AA6-200F-4B5A-D65F-3F08D28CF838}"/>
              </a:ext>
            </a:extLst>
          </p:cNvPr>
          <p:cNvGrpSpPr>
            <a:grpSpLocks noChangeAspect="1"/>
          </p:cNvGrpSpPr>
          <p:nvPr/>
        </p:nvGrpSpPr>
        <p:grpSpPr>
          <a:xfrm>
            <a:off x="11467764" y="228600"/>
            <a:ext cx="419436" cy="388988"/>
            <a:chOff x="11501102" y="171573"/>
            <a:chExt cx="419436" cy="388988"/>
          </a:xfrm>
        </p:grpSpPr>
        <p:sp>
          <p:nvSpPr>
            <p:cNvPr id="7" name="Freeform 13">
              <a:extLst>
                <a:ext uri="{FF2B5EF4-FFF2-40B4-BE49-F238E27FC236}">
                  <a16:creationId xmlns:a16="http://schemas.microsoft.com/office/drawing/2014/main" id="{72A0A838-2F66-DF0D-09EC-BFBFEF347C20}"/>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698045B5-DEE5-33F9-AE80-2F25EE97FB8E}"/>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1" name="Rectangle 10">
            <a:extLst>
              <a:ext uri="{FF2B5EF4-FFF2-40B4-BE49-F238E27FC236}">
                <a16:creationId xmlns:a16="http://schemas.microsoft.com/office/drawing/2014/main" id="{1E6E7358-05C9-17DF-DD48-3702009018DF}"/>
              </a:ext>
            </a:extLst>
          </p:cNvPr>
          <p:cNvSpPr/>
          <p:nvPr/>
        </p:nvSpPr>
        <p:spPr>
          <a:xfrm>
            <a:off x="257750" y="1519858"/>
            <a:ext cx="5580498" cy="5066017"/>
          </a:xfrm>
          <a:prstGeom prst="rect">
            <a:avLst/>
          </a:prstGeom>
          <a:solidFill>
            <a:srgbClr val="27293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1219170" rtl="0" eaLnBrk="1" fontAlgn="auto" latinLnBrk="0" hangingPunct="1">
              <a:lnSpc>
                <a:spcPct val="90000"/>
              </a:lnSpc>
              <a:spcBef>
                <a:spcPts val="0"/>
              </a:spcBef>
              <a:spcAft>
                <a:spcPts val="0"/>
              </a:spcAft>
              <a:buClrTx/>
              <a:buSzTx/>
              <a:buFontTx/>
              <a:buNone/>
              <a:tabLst/>
              <a:defRPr/>
            </a:pPr>
            <a:endParaRPr kumimoji="0" lang="en-US" sz="2400" b="1" i="0" u="none" strike="noStrike" kern="1200" cap="none" spc="0" normalizeH="0" baseline="0" noProof="0">
              <a:ln>
                <a:noFill/>
              </a:ln>
              <a:solidFill>
                <a:schemeClr val="tx1"/>
              </a:solidFill>
              <a:effectLst/>
              <a:uLnTx/>
              <a:uFillTx/>
              <a:latin typeface="Calibri" panose="020F0502020204030204" pitchFamily="34" charset="0"/>
              <a:ea typeface="+mn-ea"/>
              <a:cs typeface="+mn-cs"/>
            </a:endParaRPr>
          </a:p>
        </p:txBody>
      </p:sp>
      <p:sp>
        <p:nvSpPr>
          <p:cNvPr id="12" name="Rectangle 11">
            <a:extLst>
              <a:ext uri="{FF2B5EF4-FFF2-40B4-BE49-F238E27FC236}">
                <a16:creationId xmlns:a16="http://schemas.microsoft.com/office/drawing/2014/main" id="{C0719CFF-D7DE-2C52-4884-833D53A4028E}"/>
              </a:ext>
            </a:extLst>
          </p:cNvPr>
          <p:cNvSpPr/>
          <p:nvPr/>
        </p:nvSpPr>
        <p:spPr>
          <a:xfrm>
            <a:off x="-1" y="1334987"/>
            <a:ext cx="6096001" cy="1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a:ln>
                <a:noFill/>
              </a:ln>
              <a:solidFill>
                <a:srgbClr val="FFFFFF"/>
              </a:solidFill>
              <a:effectLst/>
              <a:uLnTx/>
              <a:uFillTx/>
              <a:latin typeface="Ubuntu" panose="020B0504030602030204" pitchFamily="34" charset="0"/>
              <a:ea typeface="+mn-ea"/>
              <a:cs typeface="+mn-cs"/>
            </a:endParaRPr>
          </a:p>
        </p:txBody>
      </p:sp>
      <p:sp>
        <p:nvSpPr>
          <p:cNvPr id="13" name="TextBox 12">
            <a:extLst>
              <a:ext uri="{FF2B5EF4-FFF2-40B4-BE49-F238E27FC236}">
                <a16:creationId xmlns:a16="http://schemas.microsoft.com/office/drawing/2014/main" id="{EE543C4A-A2DC-61A2-9167-F13338E8CCBA}"/>
              </a:ext>
            </a:extLst>
          </p:cNvPr>
          <p:cNvSpPr txBox="1"/>
          <p:nvPr/>
        </p:nvSpPr>
        <p:spPr>
          <a:xfrm>
            <a:off x="338138" y="1027211"/>
            <a:ext cx="3457575" cy="307777"/>
          </a:xfrm>
          <a:prstGeom prst="rect">
            <a:avLst/>
          </a:prstGeom>
          <a:noFill/>
        </p:spPr>
        <p:txBody>
          <a:bodyPr wrap="square" rtlCol="0">
            <a:spAutoFit/>
          </a:bodyPr>
          <a:lstStyle/>
          <a:p>
            <a:r>
              <a:rPr lang="es-ES" sz="1400" b="1">
                <a:solidFill>
                  <a:schemeClr val="bg1"/>
                </a:solidFill>
              </a:rPr>
              <a:t>ACTIVITIES</a:t>
            </a:r>
          </a:p>
        </p:txBody>
      </p:sp>
      <p:sp>
        <p:nvSpPr>
          <p:cNvPr id="14" name="TextBox 13">
            <a:extLst>
              <a:ext uri="{FF2B5EF4-FFF2-40B4-BE49-F238E27FC236}">
                <a16:creationId xmlns:a16="http://schemas.microsoft.com/office/drawing/2014/main" id="{C21E6597-D466-0088-D160-9734B3B763A9}"/>
              </a:ext>
            </a:extLst>
          </p:cNvPr>
          <p:cNvSpPr txBox="1"/>
          <p:nvPr/>
        </p:nvSpPr>
        <p:spPr>
          <a:xfrm>
            <a:off x="6251004" y="1027210"/>
            <a:ext cx="3457575" cy="307777"/>
          </a:xfrm>
          <a:prstGeom prst="rect">
            <a:avLst/>
          </a:prstGeom>
          <a:noFill/>
        </p:spPr>
        <p:txBody>
          <a:bodyPr wrap="square" rtlCol="0">
            <a:spAutoFit/>
          </a:bodyPr>
          <a:lstStyle/>
          <a:p>
            <a:r>
              <a:rPr lang="es-ES" sz="1400" b="1">
                <a:solidFill>
                  <a:schemeClr val="accent1">
                    <a:lumMod val="50000"/>
                  </a:schemeClr>
                </a:solidFill>
              </a:rPr>
              <a:t>DELIVERABLES</a:t>
            </a:r>
          </a:p>
        </p:txBody>
      </p:sp>
      <p:sp>
        <p:nvSpPr>
          <p:cNvPr id="15" name="Rectangle 14">
            <a:extLst>
              <a:ext uri="{FF2B5EF4-FFF2-40B4-BE49-F238E27FC236}">
                <a16:creationId xmlns:a16="http://schemas.microsoft.com/office/drawing/2014/main" id="{CC24B330-69AF-7F0E-62B7-1C7F5D0F2E22}"/>
              </a:ext>
            </a:extLst>
          </p:cNvPr>
          <p:cNvSpPr/>
          <p:nvPr/>
        </p:nvSpPr>
        <p:spPr>
          <a:xfrm>
            <a:off x="6095999" y="1334987"/>
            <a:ext cx="6096001" cy="18000"/>
          </a:xfrm>
          <a:prstGeom prst="rect">
            <a:avLst/>
          </a:prstGeom>
          <a:solidFill>
            <a:srgbClr val="173340"/>
          </a:solidFill>
          <a:ln>
            <a:solidFill>
              <a:srgbClr val="1733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a:ln>
                <a:noFill/>
              </a:ln>
              <a:solidFill>
                <a:srgbClr val="FFFFFF"/>
              </a:solidFill>
              <a:effectLst/>
              <a:uLnTx/>
              <a:uFillTx/>
              <a:latin typeface="Ubuntu" panose="020B0504030602030204" pitchFamily="34" charset="0"/>
              <a:ea typeface="+mn-ea"/>
              <a:cs typeface="+mn-cs"/>
            </a:endParaRPr>
          </a:p>
        </p:txBody>
      </p:sp>
      <p:sp>
        <p:nvSpPr>
          <p:cNvPr id="18" name="Text Placeholder 17">
            <a:extLst>
              <a:ext uri="{FF2B5EF4-FFF2-40B4-BE49-F238E27FC236}">
                <a16:creationId xmlns:a16="http://schemas.microsoft.com/office/drawing/2014/main" id="{4F44E43C-437D-7EE6-8328-BE4087787CF5}"/>
              </a:ext>
            </a:extLst>
          </p:cNvPr>
          <p:cNvSpPr>
            <a:spLocks noGrp="1"/>
          </p:cNvSpPr>
          <p:nvPr>
            <p:ph type="body" sz="quarter" idx="11" hasCustomPrompt="1"/>
          </p:nvPr>
        </p:nvSpPr>
        <p:spPr>
          <a:xfrm>
            <a:off x="338138" y="1676400"/>
            <a:ext cx="5500687" cy="415498"/>
          </a:xfrm>
        </p:spPr>
        <p:txBody>
          <a:bodyPr/>
          <a:lstStyle>
            <a:lvl1pPr marL="288000" indent="-171450">
              <a:lnSpc>
                <a:spcPct val="100000"/>
              </a:lnSpc>
              <a:spcBef>
                <a:spcPts val="0"/>
              </a:spcBef>
              <a:spcAft>
                <a:spcPts val="600"/>
              </a:spcAft>
              <a:buFont typeface="Arial" panose="020B0604020202020204" pitchFamily="34" charset="0"/>
              <a:buChar char="•"/>
              <a:defRPr lang="es-ES" sz="1100" kern="1200" dirty="0">
                <a:solidFill>
                  <a:schemeClr val="bg1"/>
                </a:solidFill>
                <a:latin typeface="+mn-lt"/>
                <a:ea typeface="+mn-ea"/>
                <a:cs typeface="+mn-cs"/>
              </a:defRPr>
            </a:lvl1pPr>
            <a:lvl2pPr marL="448696" indent="-171450">
              <a:buFont typeface="Arial" panose="020B0604020202020204" pitchFamily="34" charset="0"/>
              <a:buChar char="•"/>
              <a:defRPr sz="1100">
                <a:solidFill>
                  <a:schemeClr val="bg1"/>
                </a:solidFill>
              </a:defRPr>
            </a:lvl2pPr>
            <a:lvl3pPr marL="725942" indent="-171450">
              <a:buFont typeface="Arial" panose="020B0604020202020204" pitchFamily="34" charset="0"/>
              <a:buChar char="•"/>
              <a:defRPr sz="1100">
                <a:solidFill>
                  <a:schemeClr val="bg1"/>
                </a:solidFill>
              </a:defRPr>
            </a:lvl3pPr>
            <a:lvl4pPr marL="1003188" indent="-171450">
              <a:buFont typeface="Arial" panose="020B0604020202020204" pitchFamily="34" charset="0"/>
              <a:buChar char="•"/>
              <a:defRPr sz="1100">
                <a:solidFill>
                  <a:schemeClr val="bg1"/>
                </a:solidFill>
              </a:defRPr>
            </a:lvl4pPr>
            <a:lvl5pPr marL="1280434" indent="-171450">
              <a:buFont typeface="Arial" panose="020B0604020202020204" pitchFamily="34" charset="0"/>
              <a:buChar char="•"/>
              <a:defRPr sz="1100">
                <a:solidFill>
                  <a:schemeClr val="bg1"/>
                </a:solidFill>
              </a:defRPr>
            </a:lvl5pPr>
          </a:lstStyle>
          <a:p>
            <a:pPr lvl="0"/>
            <a:r>
              <a:rPr lang="en-US" noProof="0"/>
              <a:t>Listar </a:t>
            </a:r>
            <a:r>
              <a:rPr lang="en-US" noProof="0" err="1"/>
              <a:t>actividades</a:t>
            </a:r>
            <a:r>
              <a:rPr lang="en-US" noProof="0"/>
              <a:t>. </a:t>
            </a:r>
            <a:r>
              <a:rPr lang="en-US" noProof="0" err="1"/>
              <a:t>Marcar</a:t>
            </a:r>
            <a:r>
              <a:rPr lang="en-US" noProof="0"/>
              <a:t> en </a:t>
            </a:r>
            <a:r>
              <a:rPr lang="en-US" noProof="0" err="1"/>
              <a:t>negrita</a:t>
            </a:r>
            <a:r>
              <a:rPr lang="en-US" noProof="0"/>
              <a:t> y </a:t>
            </a:r>
            <a:r>
              <a:rPr lang="en-US" noProof="0" err="1"/>
              <a:t>azul</a:t>
            </a:r>
            <a:r>
              <a:rPr lang="en-US" noProof="0"/>
              <a:t> las palabras claves</a:t>
            </a:r>
          </a:p>
          <a:p>
            <a:pPr lvl="0"/>
            <a:r>
              <a:rPr lang="en-US" noProof="0"/>
              <a:t>xxx</a:t>
            </a:r>
          </a:p>
        </p:txBody>
      </p:sp>
      <p:pic>
        <p:nvPicPr>
          <p:cNvPr id="19" name="Picture 2" descr="Lista 90+ Imagen De Fondo Edificios En Blanco Y Negro El último 12/2023">
            <a:extLst>
              <a:ext uri="{FF2B5EF4-FFF2-40B4-BE49-F238E27FC236}">
                <a16:creationId xmlns:a16="http://schemas.microsoft.com/office/drawing/2014/main" id="{CEC81821-912A-38D3-0EF0-CA6FE899F620}"/>
              </a:ext>
            </a:extLst>
          </p:cNvPr>
          <p:cNvPicPr>
            <a:picLocks noChangeAspect="1" noChangeArrowheads="1"/>
          </p:cNvPicPr>
          <p:nvPr/>
        </p:nvPicPr>
        <p:blipFill rotWithShape="1">
          <a:blip r:embed="rId2">
            <a:clrChange>
              <a:clrFrom>
                <a:srgbClr val="F5F5F5"/>
              </a:clrFrom>
              <a:clrTo>
                <a:srgbClr val="F5F5F5">
                  <a:alpha val="0"/>
                </a:srgbClr>
              </a:clrTo>
            </a:clrChange>
            <a:duotone>
              <a:schemeClr val="accent1">
                <a:shade val="45000"/>
                <a:satMod val="135000"/>
              </a:schemeClr>
              <a:prstClr val="white"/>
            </a:duotone>
            <a:alphaModFix amt="47000"/>
            <a:extLst>
              <a:ext uri="{28A0092B-C50C-407E-A947-70E740481C1C}">
                <a14:useLocalDpi xmlns:a14="http://schemas.microsoft.com/office/drawing/2010/main" val="0"/>
              </a:ext>
            </a:extLst>
          </a:blip>
          <a:srcRect t="33582" b="27817"/>
          <a:stretch/>
        </p:blipFill>
        <p:spPr bwMode="auto">
          <a:xfrm>
            <a:off x="6132663" y="4508781"/>
            <a:ext cx="6096000" cy="2353102"/>
          </a:xfrm>
          <a:prstGeom prst="rect">
            <a:avLst/>
          </a:prstGeom>
          <a:noFill/>
          <a:extLst>
            <a:ext uri="{909E8E84-426E-40DD-AFC4-6F175D3DCCD1}">
              <a14:hiddenFill xmlns:a14="http://schemas.microsoft.com/office/drawing/2010/main">
                <a:solidFill>
                  <a:srgbClr val="FFFFFF"/>
                </a:solidFill>
              </a14:hiddenFill>
            </a:ext>
          </a:extLst>
        </p:spPr>
      </p:pic>
      <p:sp>
        <p:nvSpPr>
          <p:cNvPr id="21" name="Text Placeholder 17">
            <a:extLst>
              <a:ext uri="{FF2B5EF4-FFF2-40B4-BE49-F238E27FC236}">
                <a16:creationId xmlns:a16="http://schemas.microsoft.com/office/drawing/2014/main" id="{DF4F9266-BD59-31DD-370E-6DB66963A874}"/>
              </a:ext>
            </a:extLst>
          </p:cNvPr>
          <p:cNvSpPr>
            <a:spLocks noGrp="1"/>
          </p:cNvSpPr>
          <p:nvPr>
            <p:ph type="body" sz="quarter" idx="12" hasCustomPrompt="1"/>
          </p:nvPr>
        </p:nvSpPr>
        <p:spPr>
          <a:xfrm>
            <a:off x="6251004" y="1687200"/>
            <a:ext cx="5500687" cy="415498"/>
          </a:xfrm>
        </p:spPr>
        <p:txBody>
          <a:bodyPr/>
          <a:lstStyle>
            <a:lvl1pPr marL="288000" indent="-171450">
              <a:lnSpc>
                <a:spcPct val="100000"/>
              </a:lnSpc>
              <a:spcBef>
                <a:spcPts val="0"/>
              </a:spcBef>
              <a:spcAft>
                <a:spcPts val="600"/>
              </a:spcAft>
              <a:buFont typeface="Arial" panose="020B0604020202020204" pitchFamily="34" charset="0"/>
              <a:buChar char="•"/>
              <a:defRPr lang="es-ES" sz="1100" kern="1200" dirty="0">
                <a:solidFill>
                  <a:schemeClr val="tx1"/>
                </a:solidFill>
                <a:latin typeface="+mn-lt"/>
                <a:ea typeface="+mn-ea"/>
                <a:cs typeface="+mn-cs"/>
              </a:defRPr>
            </a:lvl1pPr>
            <a:lvl2pPr marL="448696" indent="-171450">
              <a:buFont typeface="Arial" panose="020B0604020202020204" pitchFamily="34" charset="0"/>
              <a:buChar char="•"/>
              <a:defRPr sz="1100">
                <a:solidFill>
                  <a:schemeClr val="bg1"/>
                </a:solidFill>
              </a:defRPr>
            </a:lvl2pPr>
            <a:lvl3pPr marL="725942" indent="-171450">
              <a:buFont typeface="Arial" panose="020B0604020202020204" pitchFamily="34" charset="0"/>
              <a:buChar char="•"/>
              <a:defRPr sz="1100">
                <a:solidFill>
                  <a:schemeClr val="bg1"/>
                </a:solidFill>
              </a:defRPr>
            </a:lvl3pPr>
            <a:lvl4pPr marL="1003188" indent="-171450">
              <a:buFont typeface="Arial" panose="020B0604020202020204" pitchFamily="34" charset="0"/>
              <a:buChar char="•"/>
              <a:defRPr sz="1100">
                <a:solidFill>
                  <a:schemeClr val="bg1"/>
                </a:solidFill>
              </a:defRPr>
            </a:lvl4pPr>
            <a:lvl5pPr marL="1280434" indent="-171450">
              <a:buFont typeface="Arial" panose="020B0604020202020204" pitchFamily="34" charset="0"/>
              <a:buChar char="•"/>
              <a:defRPr sz="1100">
                <a:solidFill>
                  <a:schemeClr val="bg1"/>
                </a:solidFill>
              </a:defRPr>
            </a:lvl5pPr>
          </a:lstStyle>
          <a:p>
            <a:pPr lvl="0"/>
            <a:r>
              <a:rPr lang="en-US" noProof="0"/>
              <a:t>Listar </a:t>
            </a:r>
            <a:r>
              <a:rPr lang="en-US" noProof="0" err="1"/>
              <a:t>Entregables</a:t>
            </a:r>
            <a:r>
              <a:rPr lang="en-US" noProof="0"/>
              <a:t>. Abajo </a:t>
            </a:r>
            <a:r>
              <a:rPr lang="en-US" noProof="0" err="1"/>
              <a:t>poner</a:t>
            </a:r>
            <a:r>
              <a:rPr lang="en-US" noProof="0"/>
              <a:t> </a:t>
            </a:r>
            <a:r>
              <a:rPr lang="en-US" noProof="0" err="1"/>
              <a:t>ilustrativos</a:t>
            </a:r>
            <a:endParaRPr lang="en-US" noProof="0"/>
          </a:p>
          <a:p>
            <a:pPr lvl="0"/>
            <a:r>
              <a:rPr lang="en-US" noProof="0"/>
              <a:t>xxx</a:t>
            </a:r>
          </a:p>
        </p:txBody>
      </p:sp>
    </p:spTree>
    <p:extLst>
      <p:ext uri="{BB962C8B-B14F-4D97-AF65-F5344CB8AC3E}">
        <p14:creationId xmlns:p14="http://schemas.microsoft.com/office/powerpoint/2010/main" val="2239302061"/>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9_Basica foto">
    <p:spTree>
      <p:nvGrpSpPr>
        <p:cNvPr id="1" name=""/>
        <p:cNvGrpSpPr/>
        <p:nvPr/>
      </p:nvGrpSpPr>
      <p:grpSpPr>
        <a:xfrm>
          <a:off x="0" y="0"/>
          <a:ext cx="0" cy="0"/>
          <a:chOff x="0" y="0"/>
          <a:chExt cx="0" cy="0"/>
        </a:xfrm>
      </p:grpSpPr>
      <p:pic>
        <p:nvPicPr>
          <p:cNvPr id="5122" name="Picture 2" descr="UK &amp; Ireland - Nordex SE">
            <a:extLst>
              <a:ext uri="{FF2B5EF4-FFF2-40B4-BE49-F238E27FC236}">
                <a16:creationId xmlns:a16="http://schemas.microsoft.com/office/drawing/2014/main" id="{D2006D1B-5BCE-D850-0F3C-096D827CDC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288" r="7986"/>
          <a:stretch/>
        </p:blipFill>
        <p:spPr bwMode="auto">
          <a:xfrm>
            <a:off x="9436146" y="0"/>
            <a:ext cx="2755853"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62484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
        <p:nvSpPr>
          <p:cNvPr id="11" name="Rectangle 10">
            <a:extLst>
              <a:ext uri="{FF2B5EF4-FFF2-40B4-BE49-F238E27FC236}">
                <a16:creationId xmlns:a16="http://schemas.microsoft.com/office/drawing/2014/main" id="{67796098-66F7-F97D-0C10-86EEC9C0D8B5}"/>
              </a:ext>
            </a:extLst>
          </p:cNvPr>
          <p:cNvSpPr/>
          <p:nvPr/>
        </p:nvSpPr>
        <p:spPr>
          <a:xfrm>
            <a:off x="9436146" y="0"/>
            <a:ext cx="2755853" cy="6858000"/>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pSp>
        <p:nvGrpSpPr>
          <p:cNvPr id="6" name="Groupe 1">
            <a:extLst>
              <a:ext uri="{FF2B5EF4-FFF2-40B4-BE49-F238E27FC236}">
                <a16:creationId xmlns:a16="http://schemas.microsoft.com/office/drawing/2014/main" id="{079CE6F8-5B74-7D1A-124C-CA4F26B545C3}"/>
              </a:ext>
            </a:extLst>
          </p:cNvPr>
          <p:cNvGrpSpPr>
            <a:grpSpLocks noChangeAspect="1"/>
          </p:cNvGrpSpPr>
          <p:nvPr/>
        </p:nvGrpSpPr>
        <p:grpSpPr>
          <a:xfrm>
            <a:off x="11467764" y="228600"/>
            <a:ext cx="419436" cy="388988"/>
            <a:chOff x="11501102" y="171573"/>
            <a:chExt cx="419436" cy="388988"/>
          </a:xfrm>
        </p:grpSpPr>
        <p:sp>
          <p:nvSpPr>
            <p:cNvPr id="7" name="Freeform 13">
              <a:extLst>
                <a:ext uri="{FF2B5EF4-FFF2-40B4-BE49-F238E27FC236}">
                  <a16:creationId xmlns:a16="http://schemas.microsoft.com/office/drawing/2014/main" id="{DF379B37-190F-9480-F058-F0F4EA221A02}"/>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D1F8BB86-21BE-71A4-1FD1-84649CFD73F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847360417"/>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cSld name="1_Final Slide 1">
    <p:bg>
      <p:bgPr>
        <a:solidFill>
          <a:srgbClr val="272936"/>
        </a:solidFill>
        <a:effectLst/>
      </p:bgPr>
    </p:bg>
    <p:spTree>
      <p:nvGrpSpPr>
        <p:cNvPr id="1" name=""/>
        <p:cNvGrpSpPr/>
        <p:nvPr/>
      </p:nvGrpSpPr>
      <p:grpSpPr>
        <a:xfrm>
          <a:off x="0" y="0"/>
          <a:ext cx="0" cy="0"/>
          <a:chOff x="0" y="0"/>
          <a:chExt cx="0" cy="0"/>
        </a:xfrm>
      </p:grpSpPr>
      <p:pic>
        <p:nvPicPr>
          <p:cNvPr id="27" name="Image 27">
            <a:extLst>
              <a:ext uri="{FF2B5EF4-FFF2-40B4-BE49-F238E27FC236}">
                <a16:creationId xmlns:a16="http://schemas.microsoft.com/office/drawing/2014/main" id="{831377F0-7FB5-4F15-83F1-314D9967AB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s-ES" sz="700" noProof="0" err="1">
                <a:solidFill>
                  <a:schemeClr val="bg1"/>
                </a:solidFill>
                <a:latin typeface="Ubuntu" panose="020B0504030602030204" pitchFamily="34" charset="0"/>
                <a:cs typeface="Arial"/>
              </a:rPr>
              <a:t>This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presentation</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contains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information</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that</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may</a:t>
            </a:r>
            <a:r>
              <a:rPr lang="es-ES" sz="700" noProof="0">
                <a:solidFill>
                  <a:schemeClr val="bg1"/>
                </a:solidFill>
                <a:latin typeface="Ubuntu" panose="020B0504030602030204" pitchFamily="34" charset="0"/>
                <a:cs typeface="Arial"/>
              </a:rPr>
              <a:t> be </a:t>
            </a:r>
            <a:r>
              <a:rPr lang="es-ES" sz="700" noProof="0" err="1">
                <a:solidFill>
                  <a:schemeClr val="bg1"/>
                </a:solidFill>
                <a:latin typeface="Ubuntu" panose="020B0504030602030204" pitchFamily="34" charset="0"/>
                <a:cs typeface="Arial"/>
              </a:rPr>
              <a:t>privileged</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or</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confidential</a:t>
            </a:r>
            <a:r>
              <a:rPr lang="es-ES" sz="700" noProof="0">
                <a:solidFill>
                  <a:schemeClr val="bg1"/>
                </a:solidFill>
                <a:latin typeface="Ubuntu" panose="020B0504030602030204" pitchFamily="34" charset="0"/>
                <a:cs typeface="Arial"/>
              </a:rPr>
              <a:t> and </a:t>
            </a:r>
            <a:r>
              <a:rPr lang="es-ES" sz="700" noProof="0" err="1">
                <a:solidFill>
                  <a:schemeClr val="bg1"/>
                </a:solidFill>
                <a:latin typeface="Ubuntu" panose="020B0504030602030204" pitchFamily="34" charset="0"/>
                <a:cs typeface="Arial"/>
              </a:rPr>
              <a:t>is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the</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property</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of</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the</a:t>
            </a:r>
            <a:r>
              <a:rPr lang="es-ES" sz="700" noProof="0">
                <a:solidFill>
                  <a:schemeClr val="bg1"/>
                </a:solidFill>
                <a:latin typeface="Ubuntu" panose="020B0504030602030204" pitchFamily="34" charset="0"/>
                <a:cs typeface="Arial"/>
              </a:rPr>
              <a:t> Capgemini </a:t>
            </a:r>
            <a:r>
              <a:rPr lang="es-ES" sz="700" noProof="0" err="1">
                <a:solidFill>
                  <a:schemeClr val="bg1"/>
                </a:solidFill>
                <a:latin typeface="Ubuntu" panose="020B0504030602030204" pitchFamily="34" charset="0"/>
                <a:cs typeface="Arial"/>
              </a:rPr>
              <a:t>Group</a:t>
            </a:r>
            <a:r>
              <a:rPr lang="es-ES" sz="700" noProof="0">
                <a:solidFill>
                  <a:schemeClr val="bg1"/>
                </a:solidFill>
                <a:latin typeface="Ubuntu" panose="020B0504030602030204" pitchFamily="34" charset="0"/>
                <a:cs typeface="Arial"/>
              </a:rPr>
              <a:t>.</a:t>
            </a:r>
          </a:p>
          <a:p>
            <a:pPr>
              <a:spcAft>
                <a:spcPts val="600"/>
              </a:spcAft>
            </a:pPr>
            <a:r>
              <a:rPr lang="es-ES" sz="700" noProof="0">
                <a:solidFill>
                  <a:schemeClr val="bg1"/>
                </a:solidFill>
                <a:latin typeface="Ubuntu" panose="020B0504030602030204" pitchFamily="34" charset="0"/>
                <a:cs typeface="Arial"/>
              </a:rPr>
              <a:t>Copyright © 2023 Capgemini. </a:t>
            </a:r>
            <a:r>
              <a:rPr lang="es-ES" sz="700" noProof="0" err="1">
                <a:solidFill>
                  <a:schemeClr val="bg1"/>
                </a:solidFill>
                <a:latin typeface="Ubuntu" panose="020B0504030602030204" pitchFamily="34" charset="0"/>
                <a:cs typeface="Arial"/>
              </a:rPr>
              <a:t>All</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rights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reserved</a:t>
            </a:r>
            <a:r>
              <a:rPr lang="es-ES" sz="700" noProof="0">
                <a:solidFill>
                  <a:schemeClr val="bg1"/>
                </a:solidFill>
                <a:latin typeface="Ubuntu" panose="020B0504030602030204" pitchFamily="34" charset="0"/>
                <a:cs typeface="Arial"/>
              </a:rPr>
              <a:t>.</a:t>
            </a:r>
          </a:p>
        </p:txBody>
      </p:sp>
      <p:sp>
        <p:nvSpPr>
          <p:cNvPr id="14" name="Rectangle 13"/>
          <p:cNvSpPr/>
          <p:nvPr/>
        </p:nvSpPr>
        <p:spPr>
          <a:xfrm>
            <a:off x="6536185" y="2920221"/>
            <a:ext cx="4672383"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just"/>
            <a:r>
              <a:rPr lang="es-ES" sz="900" kern="1200">
                <a:solidFill>
                  <a:schemeClr val="lt1"/>
                </a:solidFill>
                <a:effectLst/>
                <a:latin typeface="+mn-lt"/>
                <a:ea typeface="+mn-ea"/>
                <a:cs typeface="+mn-cs"/>
              </a:rPr>
              <a:t>As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digital </a:t>
            </a:r>
            <a:r>
              <a:rPr lang="es-ES" sz="900" kern="1200" err="1">
                <a:solidFill>
                  <a:schemeClr val="lt1"/>
                </a:solidFill>
                <a:effectLst/>
                <a:latin typeface="+mn-lt"/>
                <a:ea typeface="+mn-ea"/>
                <a:cs typeface="+mn-cs"/>
              </a:rPr>
              <a:t>innovation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design</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transformation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brand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Invent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enables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CxOs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envision</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shape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future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Located</a:t>
            </a:r>
            <a:r>
              <a:rPr lang="es-ES" sz="900" kern="1200">
                <a:solidFill>
                  <a:schemeClr val="lt1"/>
                </a:solidFill>
                <a:effectLst/>
                <a:latin typeface="+mn-lt"/>
                <a:ea typeface="+mn-ea"/>
                <a:cs typeface="+mn-cs"/>
              </a:rPr>
              <a:t> in more </a:t>
            </a:r>
            <a:r>
              <a:rPr lang="es-ES" sz="900" kern="1200" err="1">
                <a:solidFill>
                  <a:schemeClr val="lt1"/>
                </a:solidFill>
                <a:effectLst/>
                <a:latin typeface="+mn-lt"/>
                <a:ea typeface="+mn-ea"/>
                <a:cs typeface="+mn-cs"/>
              </a:rPr>
              <a:t>than</a:t>
            </a:r>
            <a:r>
              <a:rPr lang="es-ES" sz="900" kern="1200">
                <a:solidFill>
                  <a:schemeClr val="lt1"/>
                </a:solidFill>
                <a:effectLst/>
                <a:latin typeface="+mn-lt"/>
                <a:ea typeface="+mn-ea"/>
                <a:cs typeface="+mn-cs"/>
              </a:rPr>
              <a:t> 36 </a:t>
            </a:r>
            <a:r>
              <a:rPr lang="es-ES" sz="900" kern="1200" err="1">
                <a:solidFill>
                  <a:schemeClr val="lt1"/>
                </a:solidFill>
                <a:effectLst/>
                <a:latin typeface="+mn-lt"/>
                <a:ea typeface="+mn-ea"/>
                <a:cs typeface="+mn-cs"/>
              </a:rPr>
              <a:t>offices</a:t>
            </a:r>
            <a:r>
              <a:rPr lang="es-ES" sz="900" kern="1200">
                <a:solidFill>
                  <a:schemeClr val="lt1"/>
                </a:solidFill>
                <a:effectLst/>
                <a:latin typeface="+mn-lt"/>
                <a:ea typeface="+mn-ea"/>
                <a:cs typeface="+mn-cs"/>
              </a:rPr>
              <a:t> and 37 creative </a:t>
            </a:r>
            <a:r>
              <a:rPr lang="es-ES" sz="900" kern="1200" err="1">
                <a:solidFill>
                  <a:schemeClr val="lt1"/>
                </a:solidFill>
                <a:effectLst/>
                <a:latin typeface="+mn-lt"/>
                <a:ea typeface="+mn-ea"/>
                <a:cs typeface="+mn-cs"/>
              </a:rPr>
              <a:t>studios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around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world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comprises</a:t>
            </a:r>
            <a:r>
              <a:rPr lang="es-ES" sz="900" kern="1200">
                <a:solidFill>
                  <a:schemeClr val="lt1"/>
                </a:solidFill>
                <a:effectLst/>
                <a:latin typeface="+mn-lt"/>
                <a:ea typeface="+mn-ea"/>
                <a:cs typeface="+mn-cs"/>
              </a:rPr>
              <a:t> a 10,000+ </a:t>
            </a:r>
            <a:r>
              <a:rPr lang="es-ES" sz="900" kern="1200" err="1">
                <a:solidFill>
                  <a:schemeClr val="lt1"/>
                </a:solidFill>
                <a:effectLst/>
                <a:latin typeface="+mn-lt"/>
                <a:ea typeface="+mn-ea"/>
                <a:cs typeface="+mn-cs"/>
              </a:rPr>
              <a:t>strong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team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strategists</a:t>
            </a:r>
            <a:r>
              <a:rPr lang="es-ES" sz="900" kern="1200">
                <a:solidFill>
                  <a:schemeClr val="lt1"/>
                </a:solidFill>
                <a:effectLst/>
                <a:latin typeface="+mn-lt"/>
                <a:ea typeface="+mn-ea"/>
                <a:cs typeface="+mn-cs"/>
              </a:rPr>
              <a:t>, data </a:t>
            </a:r>
            <a:r>
              <a:rPr lang="es-ES" sz="900" kern="1200" err="1">
                <a:solidFill>
                  <a:schemeClr val="lt1"/>
                </a:solidFill>
                <a:effectLst/>
                <a:latin typeface="+mn-lt"/>
                <a:ea typeface="+mn-ea"/>
                <a:cs typeface="+mn-cs"/>
              </a:rPr>
              <a:t>scientists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product</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experience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designers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brand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experts</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technologists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who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develop</a:t>
            </a:r>
            <a:r>
              <a:rPr lang="es-ES" sz="900" kern="1200">
                <a:solidFill>
                  <a:schemeClr val="lt1"/>
                </a:solidFill>
                <a:effectLst/>
                <a:latin typeface="+mn-lt"/>
                <a:ea typeface="+mn-ea"/>
                <a:cs typeface="+mn-cs"/>
              </a:rPr>
              <a:t> new digital </a:t>
            </a:r>
            <a:r>
              <a:rPr lang="es-ES" sz="900" kern="1200" err="1">
                <a:solidFill>
                  <a:schemeClr val="lt1"/>
                </a:solidFill>
                <a:effectLst/>
                <a:latin typeface="+mn-lt"/>
                <a:ea typeface="+mn-ea"/>
                <a:cs typeface="+mn-cs"/>
              </a:rPr>
              <a:t>services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products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experiences</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models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for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sustainable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growth</a:t>
            </a:r>
            <a:r>
              <a:rPr lang="es-ES" sz="900" kern="1200">
                <a:solidFill>
                  <a:schemeClr val="lt1"/>
                </a:solidFill>
                <a:effectLst/>
                <a:latin typeface="+mn-lt"/>
                <a:ea typeface="+mn-ea"/>
                <a:cs typeface="+mn-cs"/>
              </a:rPr>
              <a:t>.</a:t>
            </a:r>
          </a:p>
          <a:p>
            <a:pPr algn="just"/>
            <a:endParaRPr lang="es-ES" sz="900" kern="1200">
              <a:solidFill>
                <a:schemeClr val="lt1"/>
              </a:solidFill>
              <a:effectLst/>
              <a:latin typeface="+mn-lt"/>
              <a:ea typeface="+mn-ea"/>
              <a:cs typeface="+mn-cs"/>
            </a:endParaRPr>
          </a:p>
          <a:p>
            <a:pPr algn="just"/>
            <a:r>
              <a:rPr lang="es-ES" sz="900" kern="1200">
                <a:solidFill>
                  <a:schemeClr val="lt1"/>
                </a:solidFill>
                <a:effectLst/>
                <a:latin typeface="+mn-lt"/>
                <a:ea typeface="+mn-ea"/>
                <a:cs typeface="+mn-cs"/>
              </a:rPr>
              <a:t>Capgemini </a:t>
            </a:r>
            <a:r>
              <a:rPr lang="es-ES" sz="900" kern="1200" err="1">
                <a:solidFill>
                  <a:schemeClr val="lt1"/>
                </a:solidFill>
                <a:effectLst/>
                <a:latin typeface="+mn-lt"/>
                <a:ea typeface="+mn-ea"/>
                <a:cs typeface="+mn-cs"/>
              </a:rPr>
              <a:t>Invent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an</a:t>
            </a:r>
            <a:r>
              <a:rPr lang="es-ES" sz="900" kern="1200">
                <a:solidFill>
                  <a:schemeClr val="lt1"/>
                </a:solidFill>
                <a:effectLst/>
                <a:latin typeface="+mn-lt"/>
                <a:ea typeface="+mn-ea"/>
                <a:cs typeface="+mn-cs"/>
              </a:rPr>
              <a:t> integral </a:t>
            </a:r>
            <a:r>
              <a:rPr lang="es-ES" sz="900" kern="1200" err="1">
                <a:solidFill>
                  <a:schemeClr val="lt1"/>
                </a:solidFill>
                <a:effectLst/>
                <a:latin typeface="+mn-lt"/>
                <a:ea typeface="+mn-ea"/>
                <a:cs typeface="+mn-cs"/>
              </a:rPr>
              <a:t>part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Capgemini, a global leader in </a:t>
            </a:r>
            <a:r>
              <a:rPr lang="es-ES" sz="900" kern="1200" err="1">
                <a:solidFill>
                  <a:schemeClr val="lt1"/>
                </a:solidFill>
                <a:effectLst/>
                <a:latin typeface="+mn-lt"/>
                <a:ea typeface="+mn-ea"/>
                <a:cs typeface="+mn-cs"/>
              </a:rPr>
              <a:t>partnering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with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companies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transform</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manage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harnessing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power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technology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guided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everyday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purpose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unleashing</a:t>
            </a:r>
            <a:r>
              <a:rPr lang="es-ES" sz="900" kern="1200">
                <a:solidFill>
                  <a:schemeClr val="lt1"/>
                </a:solidFill>
                <a:effectLst/>
                <a:latin typeface="+mn-lt"/>
                <a:ea typeface="+mn-ea"/>
                <a:cs typeface="+mn-cs"/>
              </a:rPr>
              <a:t> human </a:t>
            </a:r>
            <a:r>
              <a:rPr lang="es-ES" sz="900" kern="1200" err="1">
                <a:solidFill>
                  <a:schemeClr val="lt1"/>
                </a:solidFill>
                <a:effectLst/>
                <a:latin typeface="+mn-lt"/>
                <a:ea typeface="+mn-ea"/>
                <a:cs typeface="+mn-cs"/>
              </a:rPr>
              <a:t>energy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through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technology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for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an</a:t>
            </a:r>
            <a:r>
              <a:rPr lang="es-ES" sz="900" kern="1200">
                <a:solidFill>
                  <a:schemeClr val="lt1"/>
                </a:solidFill>
                <a:effectLst/>
                <a:latin typeface="+mn-lt"/>
                <a:ea typeface="+mn-ea"/>
                <a:cs typeface="+mn-cs"/>
              </a:rPr>
              <a:t> inclusive and </a:t>
            </a:r>
            <a:r>
              <a:rPr lang="es-ES" sz="900" kern="1200" err="1">
                <a:solidFill>
                  <a:schemeClr val="lt1"/>
                </a:solidFill>
                <a:effectLst/>
                <a:latin typeface="+mn-lt"/>
                <a:ea typeface="+mn-ea"/>
                <a:cs typeface="+mn-cs"/>
              </a:rPr>
              <a:t>sustainable</a:t>
            </a:r>
            <a:r>
              <a:rPr lang="es-ES" sz="900" kern="1200">
                <a:solidFill>
                  <a:schemeClr val="lt1"/>
                </a:solidFill>
                <a:effectLst/>
                <a:latin typeface="+mn-lt"/>
                <a:ea typeface="+mn-ea"/>
                <a:cs typeface="+mn-cs"/>
              </a:rPr>
              <a:t> future. </a:t>
            </a:r>
            <a:r>
              <a:rPr lang="es-ES" sz="900" kern="1200" err="1">
                <a:solidFill>
                  <a:schemeClr val="lt1"/>
                </a:solidFill>
                <a:effectLst/>
                <a:latin typeface="+mn-lt"/>
                <a:ea typeface="+mn-ea"/>
                <a:cs typeface="+mn-cs"/>
              </a:rPr>
              <a:t>It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 </a:t>
            </a:r>
            <a:r>
              <a:rPr lang="es-ES" sz="900" kern="1200" err="1">
                <a:solidFill>
                  <a:schemeClr val="lt1"/>
                </a:solidFill>
                <a:effectLst/>
                <a:latin typeface="+mn-lt"/>
                <a:ea typeface="+mn-ea"/>
                <a:cs typeface="+mn-cs"/>
              </a:rPr>
              <a:t>responsible</a:t>
            </a:r>
            <a:r>
              <a:rPr lang="es-ES" sz="900" kern="1200">
                <a:solidFill>
                  <a:schemeClr val="lt1"/>
                </a:solidFill>
                <a:effectLst/>
                <a:latin typeface="+mn-lt"/>
                <a:ea typeface="+mn-ea"/>
                <a:cs typeface="+mn-cs"/>
              </a:rPr>
              <a:t> and diverse </a:t>
            </a:r>
            <a:r>
              <a:rPr lang="es-ES" sz="900" kern="1200" err="1">
                <a:solidFill>
                  <a:schemeClr val="lt1"/>
                </a:solidFill>
                <a:effectLst/>
                <a:latin typeface="+mn-lt"/>
                <a:ea typeface="+mn-ea"/>
                <a:cs typeface="+mn-cs"/>
              </a:rPr>
              <a:t>organization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over</a:t>
            </a:r>
            <a:r>
              <a:rPr lang="es-ES" sz="900" kern="1200">
                <a:solidFill>
                  <a:schemeClr val="lt1"/>
                </a:solidFill>
                <a:effectLst/>
                <a:latin typeface="+mn-lt"/>
                <a:ea typeface="+mn-ea"/>
                <a:cs typeface="+mn-cs"/>
              </a:rPr>
              <a:t> 300,000 </a:t>
            </a:r>
            <a:r>
              <a:rPr lang="es-ES" sz="900" kern="1200" err="1">
                <a:solidFill>
                  <a:schemeClr val="lt1"/>
                </a:solidFill>
                <a:effectLst/>
                <a:latin typeface="+mn-lt"/>
                <a:ea typeface="+mn-ea"/>
                <a:cs typeface="+mn-cs"/>
              </a:rPr>
              <a:t>team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members</a:t>
            </a:r>
            <a:r>
              <a:rPr lang="es-ES" sz="900" kern="1200">
                <a:solidFill>
                  <a:schemeClr val="lt1"/>
                </a:solidFill>
                <a:effectLst/>
                <a:latin typeface="+mn-lt"/>
                <a:ea typeface="+mn-ea"/>
                <a:cs typeface="+mn-cs"/>
              </a:rPr>
              <a:t> in </a:t>
            </a:r>
            <a:r>
              <a:rPr lang="es-ES" sz="900" kern="1200" err="1">
                <a:solidFill>
                  <a:schemeClr val="lt1"/>
                </a:solidFill>
                <a:effectLst/>
                <a:latin typeface="+mn-lt"/>
                <a:ea typeface="+mn-ea"/>
                <a:cs typeface="+mn-cs"/>
              </a:rPr>
              <a:t>nearly</a:t>
            </a:r>
            <a:r>
              <a:rPr lang="es-ES" sz="900" kern="1200">
                <a:solidFill>
                  <a:schemeClr val="lt1"/>
                </a:solidFill>
                <a:effectLst/>
                <a:latin typeface="+mn-lt"/>
                <a:ea typeface="+mn-ea"/>
                <a:cs typeface="+mn-cs"/>
              </a:rPr>
              <a:t> 50 </a:t>
            </a:r>
            <a:r>
              <a:rPr lang="es-ES" sz="900" kern="1200" err="1">
                <a:solidFill>
                  <a:schemeClr val="lt1"/>
                </a:solidFill>
                <a:effectLst/>
                <a:latin typeface="+mn-lt"/>
                <a:ea typeface="+mn-ea"/>
                <a:cs typeface="+mn-cs"/>
              </a:rPr>
              <a:t>countries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With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strong</a:t>
            </a:r>
            <a:r>
              <a:rPr lang="es-ES" sz="900" kern="1200">
                <a:solidFill>
                  <a:schemeClr val="lt1"/>
                </a:solidFill>
                <a:effectLst/>
                <a:latin typeface="+mn-lt"/>
                <a:ea typeface="+mn-ea"/>
                <a:cs typeface="+mn-cs"/>
              </a:rPr>
              <a:t> 50-year </a:t>
            </a:r>
            <a:r>
              <a:rPr lang="es-ES" sz="900" kern="1200" err="1">
                <a:solidFill>
                  <a:schemeClr val="lt1"/>
                </a:solidFill>
                <a:effectLst/>
                <a:latin typeface="+mn-lt"/>
                <a:ea typeface="+mn-ea"/>
                <a:cs typeface="+mn-cs"/>
              </a:rPr>
              <a:t>heritage</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deep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industry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expertise</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trusted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clients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address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entire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breadth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needs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from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strategy</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design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operations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fueled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fast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evolving</a:t>
            </a:r>
            <a:r>
              <a:rPr lang="es-ES" sz="900" kern="1200">
                <a:solidFill>
                  <a:schemeClr val="lt1"/>
                </a:solidFill>
                <a:effectLst/>
                <a:latin typeface="+mn-lt"/>
                <a:ea typeface="+mn-ea"/>
                <a:cs typeface="+mn-cs"/>
              </a:rPr>
              <a:t> and innovative </a:t>
            </a:r>
            <a:r>
              <a:rPr lang="es-ES" sz="900" kern="1200" err="1">
                <a:solidFill>
                  <a:schemeClr val="lt1"/>
                </a:solidFill>
                <a:effectLst/>
                <a:latin typeface="+mn-lt"/>
                <a:ea typeface="+mn-ea"/>
                <a:cs typeface="+mn-cs"/>
              </a:rPr>
              <a:t>world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cloud</a:t>
            </a:r>
            <a:r>
              <a:rPr lang="es-ES" sz="900" kern="1200">
                <a:solidFill>
                  <a:schemeClr val="lt1"/>
                </a:solidFill>
                <a:effectLst/>
                <a:latin typeface="+mn-lt"/>
                <a:ea typeface="+mn-ea"/>
                <a:cs typeface="+mn-cs"/>
              </a:rPr>
              <a:t>, data, AI, </a:t>
            </a:r>
            <a:r>
              <a:rPr lang="es-ES" sz="900" kern="1200" err="1">
                <a:solidFill>
                  <a:schemeClr val="lt1"/>
                </a:solidFill>
                <a:effectLst/>
                <a:latin typeface="+mn-lt"/>
                <a:ea typeface="+mn-ea"/>
                <a:cs typeface="+mn-cs"/>
              </a:rPr>
              <a:t>connectivity</a:t>
            </a:r>
            <a:r>
              <a:rPr lang="es-ES" sz="900" kern="1200">
                <a:solidFill>
                  <a:schemeClr val="lt1"/>
                </a:solidFill>
                <a:effectLst/>
                <a:latin typeface="+mn-lt"/>
                <a:ea typeface="+mn-ea"/>
                <a:cs typeface="+mn-cs"/>
              </a:rPr>
              <a:t>, software, digital </a:t>
            </a:r>
            <a:r>
              <a:rPr lang="es-ES" sz="900" kern="1200" err="1">
                <a:solidFill>
                  <a:schemeClr val="lt1"/>
                </a:solidFill>
                <a:effectLst/>
                <a:latin typeface="+mn-lt"/>
                <a:ea typeface="+mn-ea"/>
                <a:cs typeface="+mn-cs"/>
              </a:rPr>
              <a:t>engineering</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platforms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reported</a:t>
            </a:r>
            <a:r>
              <a:rPr lang="es-ES" sz="900" kern="1200">
                <a:solidFill>
                  <a:schemeClr val="lt1"/>
                </a:solidFill>
                <a:effectLst/>
                <a:latin typeface="+mn-lt"/>
                <a:ea typeface="+mn-ea"/>
                <a:cs typeface="+mn-cs"/>
              </a:rPr>
              <a:t> in 2020 global </a:t>
            </a:r>
            <a:r>
              <a:rPr lang="es-ES" sz="900" kern="1200" err="1">
                <a:solidFill>
                  <a:schemeClr val="lt1"/>
                </a:solidFill>
                <a:effectLst/>
                <a:latin typeface="+mn-lt"/>
                <a:ea typeface="+mn-ea"/>
                <a:cs typeface="+mn-cs"/>
              </a:rPr>
              <a:t>revenues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€16 </a:t>
            </a:r>
            <a:r>
              <a:rPr lang="es-ES" sz="900" kern="1200" err="1">
                <a:solidFill>
                  <a:schemeClr val="lt1"/>
                </a:solidFill>
                <a:effectLst/>
                <a:latin typeface="+mn-lt"/>
                <a:ea typeface="+mn-ea"/>
                <a:cs typeface="+mn-cs"/>
              </a:rPr>
              <a:t>billion</a:t>
            </a:r>
            <a:r>
              <a:rPr lang="es-ES" sz="900" kern="1200">
                <a:solidFill>
                  <a:schemeClr val="lt1"/>
                </a:solidFill>
                <a:effectLst/>
                <a:latin typeface="+mn-lt"/>
                <a:ea typeface="+mn-ea"/>
                <a:cs typeface="+mn-cs"/>
              </a:rPr>
              <a:t>.</a:t>
            </a: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nSpc>
                <a:spcPts val="2000"/>
              </a:lnSpc>
            </a:pPr>
            <a:r>
              <a:rPr lang="es-ES" sz="1400" err="1">
                <a:solidFill>
                  <a:schemeClr val="bg1"/>
                </a:solidFill>
                <a:latin typeface="Ubuntu" panose="020B0504030602030204" pitchFamily="34" charset="0"/>
              </a:rPr>
              <a:t>About</a:t>
            </a:r>
            <a:r>
              <a:rPr lang="es-ES" sz="1400">
                <a:solidFill>
                  <a:schemeClr val="bg1"/>
                </a:solidFill>
                <a:latin typeface="Ubuntu" panose="020B0504030602030204" pitchFamily="34" charset="0"/>
              </a:rPr>
              <a:t> Capgemini </a:t>
            </a:r>
            <a:r>
              <a:rPr lang="es-ES" sz="1400" err="1">
                <a:solidFill>
                  <a:schemeClr val="bg1"/>
                </a:solidFill>
                <a:latin typeface="Ubuntu" panose="020B0504030602030204" pitchFamily="34" charset="0"/>
              </a:rPr>
              <a:t>Invent</a:t>
            </a:r>
            <a:endParaRPr lang="es-ES" sz="1400">
              <a:solidFill>
                <a:schemeClr val="bg1"/>
              </a:solidFill>
              <a:latin typeface="Ubuntu" panose="020B0504030602030204" pitchFamily="34" charset="0"/>
            </a:endParaRP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ts val="1200"/>
              </a:lnSpc>
              <a:spcBef>
                <a:spcPts val="0"/>
              </a:spcBef>
              <a:spcAft>
                <a:spcPts val="0"/>
              </a:spcAft>
              <a:buClrTx/>
              <a:buSzTx/>
              <a:buFontTx/>
              <a:buNone/>
              <a:tabLst/>
              <a:defRPr/>
            </a:pPr>
            <a:r>
              <a:rPr lang="es-ES" sz="900" err="1">
                <a:solidFill>
                  <a:schemeClr val="bg1"/>
                </a:solidFill>
                <a:effectLst/>
                <a:latin typeface="Ubuntu" panose="020B0504030602030204" pitchFamily="34" charset="0"/>
              </a:rPr>
              <a:t>Get</a:t>
            </a:r>
            <a:r>
              <a:rPr lang="es-ES" sz="900">
                <a:solidFill>
                  <a:schemeClr val="bg1"/>
                </a:solidFill>
                <a:effectLst/>
                <a:latin typeface="Ubuntu" panose="020B0504030602030204" pitchFamily="34" charset="0"/>
              </a:rPr>
              <a:t> </a:t>
            </a:r>
            <a:r>
              <a:rPr lang="es-ES" sz="900" err="1">
                <a:solidFill>
                  <a:schemeClr val="bg1"/>
                </a:solidFill>
                <a:effectLst/>
                <a:latin typeface="Ubuntu" panose="020B0504030602030204" pitchFamily="34" charset="0"/>
              </a:rPr>
              <a:t>The</a:t>
            </a:r>
            <a:r>
              <a:rPr lang="es-ES" sz="900">
                <a:solidFill>
                  <a:schemeClr val="bg1"/>
                </a:solidFill>
                <a:effectLst/>
                <a:latin typeface="Ubuntu" panose="020B0504030602030204" pitchFamily="34" charset="0"/>
              </a:rPr>
              <a:t> Future </a:t>
            </a:r>
            <a:r>
              <a:rPr lang="es-ES" sz="900" err="1">
                <a:solidFill>
                  <a:schemeClr val="bg1"/>
                </a:solidFill>
                <a:effectLst/>
                <a:latin typeface="Ubuntu" panose="020B0504030602030204" pitchFamily="34" charset="0"/>
              </a:rPr>
              <a:t>You</a:t>
            </a:r>
            <a:r>
              <a:rPr lang="es-ES" sz="900">
                <a:solidFill>
                  <a:schemeClr val="bg1"/>
                </a:solidFill>
                <a:effectLst/>
                <a:latin typeface="Ubuntu" panose="020B0504030602030204" pitchFamily="34" charset="0"/>
              </a:rPr>
              <a:t> </a:t>
            </a:r>
            <a:r>
              <a:rPr lang="es-ES" sz="900" err="1">
                <a:solidFill>
                  <a:schemeClr val="bg1"/>
                </a:solidFill>
                <a:effectLst/>
                <a:latin typeface="Ubuntu" panose="020B0504030602030204" pitchFamily="34" charset="0"/>
              </a:rPr>
              <a:t>Want</a:t>
            </a:r>
            <a:r>
              <a:rPr lang="es-ES" sz="900">
                <a:solidFill>
                  <a:schemeClr val="bg1"/>
                </a:solidFill>
                <a:effectLst/>
                <a:latin typeface="Ubuntu" panose="020B0504030602030204" pitchFamily="34" charset="0"/>
              </a:rPr>
              <a:t> | </a:t>
            </a:r>
            <a:r>
              <a:rPr lang="es-ES" sz="105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grpSp>
        <p:nvGrpSpPr>
          <p:cNvPr id="22" name="Group 21">
            <a:extLst>
              <a:ext uri="{FF2B5EF4-FFF2-40B4-BE49-F238E27FC236}">
                <a16:creationId xmlns:a16="http://schemas.microsoft.com/office/drawing/2014/main" id="{7104071F-EAB2-4DB8-853B-B72B38D866DC}"/>
              </a:ext>
            </a:extLst>
          </p:cNvPr>
          <p:cNvGrpSpPr/>
          <p:nvPr/>
        </p:nvGrpSpPr>
        <p:grpSpPr>
          <a:xfrm>
            <a:off x="464334" y="5214282"/>
            <a:ext cx="1866702" cy="333195"/>
            <a:chOff x="426720" y="4976083"/>
            <a:chExt cx="1866702" cy="333195"/>
          </a:xfrm>
        </p:grpSpPr>
        <p:pic>
          <p:nvPicPr>
            <p:cNvPr id="24" name="Picture 2">
              <a:hlinkClick r:id="rId4"/>
              <a:extLst>
                <a:ext uri="{FF2B5EF4-FFF2-40B4-BE49-F238E27FC236}">
                  <a16:creationId xmlns:a16="http://schemas.microsoft.com/office/drawing/2014/main" id="{F994E339-CD91-451A-8F50-174559915C56}"/>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25" name="Picture 4">
              <a:hlinkClick r:id="rId6"/>
              <a:extLst>
                <a:ext uri="{FF2B5EF4-FFF2-40B4-BE49-F238E27FC236}">
                  <a16:creationId xmlns:a16="http://schemas.microsoft.com/office/drawing/2014/main" id="{3CF14C60-31ED-4659-A889-597070DD6DC7}"/>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6" name="Picture 5">
              <a:hlinkClick r:id="rId8"/>
              <a:extLst>
                <a:ext uri="{FF2B5EF4-FFF2-40B4-BE49-F238E27FC236}">
                  <a16:creationId xmlns:a16="http://schemas.microsoft.com/office/drawing/2014/main" id="{9E6C6A59-C94E-4D60-81D7-689D96240FBB}"/>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8" name="Picture 6">
              <a:hlinkClick r:id="rId10"/>
              <a:extLst>
                <a:ext uri="{FF2B5EF4-FFF2-40B4-BE49-F238E27FC236}">
                  <a16:creationId xmlns:a16="http://schemas.microsoft.com/office/drawing/2014/main" id="{A3A352BB-4265-4977-B13F-A325E74AEB70}"/>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9" name="Picture 7">
              <a:hlinkClick r:id="rId12"/>
              <a:extLst>
                <a:ext uri="{FF2B5EF4-FFF2-40B4-BE49-F238E27FC236}">
                  <a16:creationId xmlns:a16="http://schemas.microsoft.com/office/drawing/2014/main" id="{D204BDE8-ACD1-4764-8D8A-43B06E669DEF}"/>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Tree>
    <p:extLst>
      <p:ext uri="{BB962C8B-B14F-4D97-AF65-F5344CB8AC3E}">
        <p14:creationId xmlns:p14="http://schemas.microsoft.com/office/powerpoint/2010/main" val="1411682954"/>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229937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1_Portada">
    <p:spTree>
      <p:nvGrpSpPr>
        <p:cNvPr id="1" name=""/>
        <p:cNvGrpSpPr/>
        <p:nvPr/>
      </p:nvGrpSpPr>
      <p:grpSpPr>
        <a:xfrm>
          <a:off x="0" y="0"/>
          <a:ext cx="0" cy="0"/>
          <a:chOff x="0" y="0"/>
          <a:chExt cx="0" cy="0"/>
        </a:xfrm>
      </p:grpSpPr>
      <p:pic>
        <p:nvPicPr>
          <p:cNvPr id="5" name="Picture 4" descr="N175/6.X - Nordex SE - Español">
            <a:extLst>
              <a:ext uri="{FF2B5EF4-FFF2-40B4-BE49-F238E27FC236}">
                <a16:creationId xmlns:a16="http://schemas.microsoft.com/office/drawing/2014/main" id="{09E4B3EF-8262-2160-350D-3EE3707AE7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324" b="7223"/>
          <a:stretch/>
        </p:blipFill>
        <p:spPr bwMode="auto">
          <a:xfrm>
            <a:off x="-4864" y="-1"/>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5B9AFE7-0F2A-0CDA-A418-D1116954050C}"/>
              </a:ext>
            </a:extLst>
          </p:cNvPr>
          <p:cNvSpPr/>
          <p:nvPr/>
        </p:nvSpPr>
        <p:spPr>
          <a:xfrm>
            <a:off x="-4864" y="-1"/>
            <a:ext cx="12192000" cy="6768477"/>
          </a:xfrm>
          <a:prstGeom prst="rect">
            <a:avLst/>
          </a:prstGeom>
          <a:solidFill>
            <a:schemeClr val="tx1">
              <a:lumMod val="75000"/>
              <a:lumOff val="25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Holder 2"/>
          <p:cNvSpPr>
            <a:spLocks noGrp="1"/>
          </p:cNvSpPr>
          <p:nvPr>
            <p:ph type="ftr" sz="quarter" idx="5"/>
          </p:nvPr>
        </p:nvSpPr>
        <p:spPr>
          <a:xfrm>
            <a:off x="8321879" y="6645366"/>
            <a:ext cx="2895135" cy="123111"/>
          </a:xfrm>
        </p:spPr>
        <p:txBody>
          <a:bodyPr lIns="0" tIns="0" rIns="0" bIns="0" anchor="b"/>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4" name="Holder 4"/>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7" name="Graphic 1">
            <a:extLst>
              <a:ext uri="{FF2B5EF4-FFF2-40B4-BE49-F238E27FC236}">
                <a16:creationId xmlns:a16="http://schemas.microsoft.com/office/drawing/2014/main" id="{FBB1A379-6173-EFC5-1802-FA8AF4BDC8D2}"/>
              </a:ext>
            </a:extLst>
          </p:cNvPr>
          <p:cNvSpPr/>
          <p:nvPr/>
        </p:nvSpPr>
        <p:spPr>
          <a:xfrm rot="16200000" flipH="1">
            <a:off x="-1856147" y="1333901"/>
            <a:ext cx="8917916" cy="4038928"/>
          </a:xfrm>
          <a:custGeom>
            <a:avLst/>
            <a:gdLst>
              <a:gd name="connsiteX0" fmla="*/ 7215188 w 7239000"/>
              <a:gd name="connsiteY0" fmla="*/ 3278548 h 3278547"/>
              <a:gd name="connsiteX1" fmla="*/ 6557010 w 7239000"/>
              <a:gd name="connsiteY1" fmla="*/ 2329858 h 3278547"/>
              <a:gd name="connsiteX2" fmla="*/ 4255770 w 7239000"/>
              <a:gd name="connsiteY2" fmla="*/ 41000 h 3278547"/>
              <a:gd name="connsiteX3" fmla="*/ 4255770 w 7239000"/>
              <a:gd name="connsiteY3" fmla="*/ 41000 h 3278547"/>
              <a:gd name="connsiteX4" fmla="*/ 4247198 w 7239000"/>
              <a:gd name="connsiteY4" fmla="*/ 40048 h 3278547"/>
              <a:gd name="connsiteX5" fmla="*/ 4245293 w 7239000"/>
              <a:gd name="connsiteY5" fmla="*/ 40048 h 3278547"/>
              <a:gd name="connsiteX6" fmla="*/ 2178368 w 7239000"/>
              <a:gd name="connsiteY6" fmla="*/ 949685 h 3278547"/>
              <a:gd name="connsiteX7" fmla="*/ 2162175 w 7239000"/>
              <a:gd name="connsiteY7" fmla="*/ 963973 h 3278547"/>
              <a:gd name="connsiteX8" fmla="*/ 2172653 w 7239000"/>
              <a:gd name="connsiteY8" fmla="*/ 985880 h 3278547"/>
              <a:gd name="connsiteX9" fmla="*/ 2628900 w 7239000"/>
              <a:gd name="connsiteY9" fmla="*/ 2749910 h 3278547"/>
              <a:gd name="connsiteX10" fmla="*/ 1949768 w 7239000"/>
              <a:gd name="connsiteY10" fmla="*/ 2512738 h 3278547"/>
              <a:gd name="connsiteX11" fmla="*/ 1019175 w 7239000"/>
              <a:gd name="connsiteY11" fmla="*/ 2072683 h 3278547"/>
              <a:gd name="connsiteX12" fmla="*/ 36195 w 7239000"/>
              <a:gd name="connsiteY12" fmla="*/ 3269023 h 3278547"/>
              <a:gd name="connsiteX13" fmla="*/ 0 w 7239000"/>
              <a:gd name="connsiteY13" fmla="*/ 3257593 h 3278547"/>
              <a:gd name="connsiteX14" fmla="*/ 270510 w 7239000"/>
              <a:gd name="connsiteY14" fmla="*/ 2655613 h 3278547"/>
              <a:gd name="connsiteX15" fmla="*/ 1018223 w 7239000"/>
              <a:gd name="connsiteY15" fmla="*/ 2034583 h 3278547"/>
              <a:gd name="connsiteX16" fmla="*/ 1971675 w 7239000"/>
              <a:gd name="connsiteY16" fmla="*/ 2481305 h 3278547"/>
              <a:gd name="connsiteX17" fmla="*/ 2599373 w 7239000"/>
              <a:gd name="connsiteY17" fmla="*/ 2725146 h 3278547"/>
              <a:gd name="connsiteX18" fmla="*/ 2138363 w 7239000"/>
              <a:gd name="connsiteY18" fmla="*/ 1002073 h 3278547"/>
              <a:gd name="connsiteX19" fmla="*/ 2122170 w 7239000"/>
              <a:gd name="connsiteY19" fmla="*/ 967783 h 3278547"/>
              <a:gd name="connsiteX20" fmla="*/ 2116455 w 7239000"/>
              <a:gd name="connsiteY20" fmla="*/ 955400 h 3278547"/>
              <a:gd name="connsiteX21" fmla="*/ 2126933 w 7239000"/>
              <a:gd name="connsiteY21" fmla="*/ 945875 h 3278547"/>
              <a:gd name="connsiteX22" fmla="*/ 2152650 w 7239000"/>
              <a:gd name="connsiteY22" fmla="*/ 922063 h 3278547"/>
              <a:gd name="connsiteX23" fmla="*/ 2890838 w 7239000"/>
              <a:gd name="connsiteY23" fmla="*/ 369613 h 3278547"/>
              <a:gd name="connsiteX24" fmla="*/ 4248150 w 7239000"/>
              <a:gd name="connsiteY24" fmla="*/ 2900 h 3278547"/>
              <a:gd name="connsiteX25" fmla="*/ 4252913 w 7239000"/>
              <a:gd name="connsiteY25" fmla="*/ 2900 h 3278547"/>
              <a:gd name="connsiteX26" fmla="*/ 4252913 w 7239000"/>
              <a:gd name="connsiteY26" fmla="*/ 2900 h 3278547"/>
              <a:gd name="connsiteX27" fmla="*/ 6590348 w 7239000"/>
              <a:gd name="connsiteY27" fmla="*/ 2310808 h 3278547"/>
              <a:gd name="connsiteX28" fmla="*/ 7239000 w 7239000"/>
              <a:gd name="connsiteY28" fmla="*/ 3249021 h 3278547"/>
              <a:gd name="connsiteX29" fmla="*/ 7215188 w 7239000"/>
              <a:gd name="connsiteY29" fmla="*/ 3278548 h 327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39000" h="3278547">
                <a:moveTo>
                  <a:pt x="7215188" y="3278548"/>
                </a:moveTo>
                <a:cubicBezTo>
                  <a:pt x="7036118" y="3138530"/>
                  <a:pt x="6814185" y="2764198"/>
                  <a:pt x="6557010" y="2329858"/>
                </a:cubicBezTo>
                <a:cubicBezTo>
                  <a:pt x="5998845" y="1386883"/>
                  <a:pt x="5233988" y="96245"/>
                  <a:pt x="4255770" y="41000"/>
                </a:cubicBezTo>
                <a:lnTo>
                  <a:pt x="4255770" y="41000"/>
                </a:lnTo>
                <a:lnTo>
                  <a:pt x="4247198" y="40048"/>
                </a:lnTo>
                <a:cubicBezTo>
                  <a:pt x="4246245" y="40048"/>
                  <a:pt x="4245293" y="40048"/>
                  <a:pt x="4245293" y="40048"/>
                </a:cubicBezTo>
                <a:cubicBezTo>
                  <a:pt x="3781425" y="14330"/>
                  <a:pt x="3046095" y="151490"/>
                  <a:pt x="2178368" y="949685"/>
                </a:cubicBezTo>
                <a:cubicBezTo>
                  <a:pt x="2172653" y="955400"/>
                  <a:pt x="2166938" y="960163"/>
                  <a:pt x="2162175" y="963973"/>
                </a:cubicBezTo>
                <a:cubicBezTo>
                  <a:pt x="2165033" y="970640"/>
                  <a:pt x="2168843" y="977308"/>
                  <a:pt x="2172653" y="985880"/>
                </a:cubicBezTo>
                <a:cubicBezTo>
                  <a:pt x="2486025" y="1663108"/>
                  <a:pt x="2820353" y="2519405"/>
                  <a:pt x="2628900" y="2749910"/>
                </a:cubicBezTo>
                <a:cubicBezTo>
                  <a:pt x="2499360" y="2905168"/>
                  <a:pt x="2245043" y="2723240"/>
                  <a:pt x="1949768" y="2512738"/>
                </a:cubicBezTo>
                <a:cubicBezTo>
                  <a:pt x="1655445" y="2302235"/>
                  <a:pt x="1322070" y="2064110"/>
                  <a:pt x="1019175" y="2072683"/>
                </a:cubicBezTo>
                <a:cubicBezTo>
                  <a:pt x="422910" y="2089828"/>
                  <a:pt x="40005" y="3257593"/>
                  <a:pt x="36195" y="3269023"/>
                </a:cubicBezTo>
                <a:lnTo>
                  <a:pt x="0" y="3257593"/>
                </a:lnTo>
                <a:cubicBezTo>
                  <a:pt x="953" y="3254735"/>
                  <a:pt x="98108" y="2953746"/>
                  <a:pt x="270510" y="2655613"/>
                </a:cubicBezTo>
                <a:cubicBezTo>
                  <a:pt x="503873" y="2250800"/>
                  <a:pt x="755333" y="2042203"/>
                  <a:pt x="1018223" y="2034583"/>
                </a:cubicBezTo>
                <a:cubicBezTo>
                  <a:pt x="1334453" y="2026010"/>
                  <a:pt x="1672590" y="2267945"/>
                  <a:pt x="1971675" y="2481305"/>
                </a:cubicBezTo>
                <a:cubicBezTo>
                  <a:pt x="2250758" y="2681330"/>
                  <a:pt x="2492693" y="2853733"/>
                  <a:pt x="2599373" y="2725146"/>
                </a:cubicBezTo>
                <a:cubicBezTo>
                  <a:pt x="2739390" y="2557505"/>
                  <a:pt x="2575560" y="1945048"/>
                  <a:pt x="2138363" y="1002073"/>
                </a:cubicBezTo>
                <a:cubicBezTo>
                  <a:pt x="2131695" y="986833"/>
                  <a:pt x="2125980" y="975403"/>
                  <a:pt x="2122170" y="967783"/>
                </a:cubicBezTo>
                <a:lnTo>
                  <a:pt x="2116455" y="955400"/>
                </a:lnTo>
                <a:lnTo>
                  <a:pt x="2126933" y="945875"/>
                </a:lnTo>
                <a:cubicBezTo>
                  <a:pt x="2133600" y="939208"/>
                  <a:pt x="2143125" y="931588"/>
                  <a:pt x="2152650" y="922063"/>
                </a:cubicBezTo>
                <a:cubicBezTo>
                  <a:pt x="2253615" y="828718"/>
                  <a:pt x="2522220" y="582020"/>
                  <a:pt x="2890838" y="369613"/>
                </a:cubicBezTo>
                <a:cubicBezTo>
                  <a:pt x="3353753" y="101960"/>
                  <a:pt x="3810000" y="-20912"/>
                  <a:pt x="4248150" y="2900"/>
                </a:cubicBezTo>
                <a:lnTo>
                  <a:pt x="4252913" y="2900"/>
                </a:lnTo>
                <a:lnTo>
                  <a:pt x="4252913" y="2900"/>
                </a:lnTo>
                <a:cubicBezTo>
                  <a:pt x="5253990" y="55288"/>
                  <a:pt x="6026468" y="1359260"/>
                  <a:pt x="6590348" y="2310808"/>
                </a:cubicBezTo>
                <a:cubicBezTo>
                  <a:pt x="6845618" y="2741338"/>
                  <a:pt x="7065645" y="3113765"/>
                  <a:pt x="7239000" y="3249021"/>
                </a:cubicBezTo>
                <a:lnTo>
                  <a:pt x="7215188" y="3278548"/>
                </a:lnTo>
                <a:close/>
              </a:path>
            </a:pathLst>
          </a:custGeom>
          <a:gradFill>
            <a:gsLst>
              <a:gs pos="86000">
                <a:schemeClr val="accent2">
                  <a:alpha val="0"/>
                </a:schemeClr>
              </a:gs>
              <a:gs pos="16000">
                <a:schemeClr val="accent2">
                  <a:alpha val="0"/>
                </a:schemeClr>
              </a:gs>
              <a:gs pos="49000">
                <a:schemeClr val="accent2"/>
              </a:gs>
              <a:gs pos="31000">
                <a:schemeClr val="accent2"/>
              </a:gs>
            </a:gsLst>
            <a:lin ang="1200000" scaled="0"/>
          </a:gradFill>
          <a:ln w="9525" cap="flat">
            <a:noFill/>
            <a:prstDash val="solid"/>
            <a:miter/>
          </a:ln>
        </p:spPr>
        <p:txBody>
          <a:bodyPr rtlCol="0" anchor="ctr"/>
          <a:lstStyle/>
          <a:p>
            <a:endParaRPr lang="en-GB">
              <a:latin typeface="Ubuntu" panose="020B0504030602030204" pitchFamily="34" charset="0"/>
            </a:endParaRPr>
          </a:p>
        </p:txBody>
      </p:sp>
    </p:spTree>
    <p:extLst>
      <p:ext uri="{BB962C8B-B14F-4D97-AF65-F5344CB8AC3E}">
        <p14:creationId xmlns:p14="http://schemas.microsoft.com/office/powerpoint/2010/main" val="52152491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2_Indice">
    <p:spTree>
      <p:nvGrpSpPr>
        <p:cNvPr id="1" name=""/>
        <p:cNvGrpSpPr/>
        <p:nvPr/>
      </p:nvGrpSpPr>
      <p:grpSpPr>
        <a:xfrm>
          <a:off x="0" y="0"/>
          <a:ext cx="0" cy="0"/>
          <a:chOff x="0" y="0"/>
          <a:chExt cx="0" cy="0"/>
        </a:xfrm>
      </p:grpSpPr>
      <p:pic>
        <p:nvPicPr>
          <p:cNvPr id="3074" name="Picture 2" descr="N175/6.X - Nordex SE - Español">
            <a:extLst>
              <a:ext uri="{FF2B5EF4-FFF2-40B4-BE49-F238E27FC236}">
                <a16:creationId xmlns:a16="http://schemas.microsoft.com/office/drawing/2014/main" id="{1778599D-25BE-CF60-6D3A-EA51DC3C0E3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68" r="18604"/>
          <a:stretch/>
        </p:blipFill>
        <p:spPr bwMode="auto">
          <a:xfrm>
            <a:off x="7707968" y="0"/>
            <a:ext cx="448403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Holder 2"/>
          <p:cNvSpPr>
            <a:spLocks noGrp="1"/>
          </p:cNvSpPr>
          <p:nvPr>
            <p:ph type="ftr" sz="quarter" idx="5"/>
          </p:nvPr>
        </p:nvSpPr>
        <p:spPr>
          <a:xfrm>
            <a:off x="8321879" y="6645366"/>
            <a:ext cx="2895135" cy="123111"/>
          </a:xfrm>
        </p:spPr>
        <p:txBody>
          <a:bodyPr lIns="0" tIns="0" rIns="0" bIns="0" anchor="b"/>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4" name="Holder 4"/>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5" name="Rectangle 4">
            <a:extLst>
              <a:ext uri="{FF2B5EF4-FFF2-40B4-BE49-F238E27FC236}">
                <a16:creationId xmlns:a16="http://schemas.microsoft.com/office/drawing/2014/main" id="{95B9AFE7-0F2A-0CDA-A418-D1116954050C}"/>
              </a:ext>
            </a:extLst>
          </p:cNvPr>
          <p:cNvSpPr/>
          <p:nvPr/>
        </p:nvSpPr>
        <p:spPr>
          <a:xfrm>
            <a:off x="7707968" y="0"/>
            <a:ext cx="4484032" cy="6858000"/>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pic>
        <p:nvPicPr>
          <p:cNvPr id="11" name="Image 5">
            <a:extLst>
              <a:ext uri="{FF2B5EF4-FFF2-40B4-BE49-F238E27FC236}">
                <a16:creationId xmlns:a16="http://schemas.microsoft.com/office/drawing/2014/main" id="{3D7FED66-ED27-A764-5CAA-AB91C9291C8E}"/>
              </a:ext>
              <a:ext uri="{C183D7F6-B498-43B3-948B-1728B52AA6E4}">
                <adec:decorative xmlns:adec="http://schemas.microsoft.com/office/drawing/2017/decorative" val="1"/>
              </a:ext>
            </a:extLst>
          </p:cNvPr>
          <p:cNvPicPr>
            <a:picLocks noChangeAspect="1"/>
          </p:cNvPicPr>
          <p:nvPr/>
        </p:nvPicPr>
        <p:blipFill>
          <a:blip r:embed="rId3" cstate="print">
            <a:alphaModFix amt="49000"/>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rot="21261279">
            <a:off x="683375" y="1154171"/>
            <a:ext cx="9432654" cy="6671941"/>
          </a:xfrm>
          <a:prstGeom prst="rect">
            <a:avLst/>
          </a:prstGeom>
        </p:spPr>
      </p:pic>
      <p:grpSp>
        <p:nvGrpSpPr>
          <p:cNvPr id="16" name="Groupe 1">
            <a:extLst>
              <a:ext uri="{FF2B5EF4-FFF2-40B4-BE49-F238E27FC236}">
                <a16:creationId xmlns:a16="http://schemas.microsoft.com/office/drawing/2014/main" id="{DD5608CE-145A-E958-7625-2B2459064EC3}"/>
              </a:ext>
            </a:extLst>
          </p:cNvPr>
          <p:cNvGrpSpPr>
            <a:grpSpLocks noChangeAspect="1"/>
          </p:cNvGrpSpPr>
          <p:nvPr/>
        </p:nvGrpSpPr>
        <p:grpSpPr>
          <a:xfrm>
            <a:off x="11467764" y="228600"/>
            <a:ext cx="419436" cy="388988"/>
            <a:chOff x="11501102" y="171573"/>
            <a:chExt cx="419436" cy="388988"/>
          </a:xfrm>
          <a:solidFill>
            <a:schemeClr val="bg1"/>
          </a:solidFill>
        </p:grpSpPr>
        <p:sp>
          <p:nvSpPr>
            <p:cNvPr id="17" name="Freeform 13">
              <a:extLst>
                <a:ext uri="{FF2B5EF4-FFF2-40B4-BE49-F238E27FC236}">
                  <a16:creationId xmlns:a16="http://schemas.microsoft.com/office/drawing/2014/main" id="{056D17E3-8EB3-BE4F-65B2-43109866AB0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a:extLst>
                <a:ext uri="{FF2B5EF4-FFF2-40B4-BE49-F238E27FC236}">
                  <a16:creationId xmlns:a16="http://schemas.microsoft.com/office/drawing/2014/main" id="{01BD36F4-2815-22D1-33B1-E0D741F9163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050289719"/>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3_Basica">
    <p:spTree>
      <p:nvGrpSpPr>
        <p:cNvPr id="1" name=""/>
        <p:cNvGrpSpPr/>
        <p:nvPr/>
      </p:nvGrpSpPr>
      <p:grpSpPr>
        <a:xfrm>
          <a:off x="0" y="0"/>
          <a:ext cx="0" cy="0"/>
          <a:chOff x="0" y="0"/>
          <a:chExt cx="0" cy="0"/>
        </a:xfrm>
      </p:grpSpPr>
      <p:pic>
        <p:nvPicPr>
          <p:cNvPr id="2" name="Picture 1" descr="Wind farm at twilight">
            <a:extLst>
              <a:ext uri="{FF2B5EF4-FFF2-40B4-BE49-F238E27FC236}">
                <a16:creationId xmlns:a16="http://schemas.microsoft.com/office/drawing/2014/main" id="{CA57EF90-EFF1-B434-5014-89FACAFD5685}"/>
              </a:ext>
            </a:extLst>
          </p:cNvPr>
          <p:cNvPicPr>
            <a:picLocks noChangeAspect="1"/>
          </p:cNvPicPr>
          <p:nvPr/>
        </p:nvPicPr>
        <p:blipFill>
          <a:blip r:embed="rId2">
            <a:alphaModFix amt="1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109728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Tree>
    <p:extLst>
      <p:ext uri="{BB962C8B-B14F-4D97-AF65-F5344CB8AC3E}">
        <p14:creationId xmlns:p14="http://schemas.microsoft.com/office/powerpoint/2010/main" val="2215213227"/>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4_Metodología">
    <p:spTree>
      <p:nvGrpSpPr>
        <p:cNvPr id="1" name=""/>
        <p:cNvGrpSpPr/>
        <p:nvPr/>
      </p:nvGrpSpPr>
      <p:grpSpPr>
        <a:xfrm>
          <a:off x="0" y="0"/>
          <a:ext cx="0" cy="0"/>
          <a:chOff x="0" y="0"/>
          <a:chExt cx="0" cy="0"/>
        </a:xfrm>
      </p:grpSpPr>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109728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
        <p:nvSpPr>
          <p:cNvPr id="2" name="Rectangle 1">
            <a:extLst>
              <a:ext uri="{FF2B5EF4-FFF2-40B4-BE49-F238E27FC236}">
                <a16:creationId xmlns:a16="http://schemas.microsoft.com/office/drawing/2014/main" id="{DFB1CE93-DCBD-4C13-890D-0D19E443955D}"/>
              </a:ext>
            </a:extLst>
          </p:cNvPr>
          <p:cNvSpPr/>
          <p:nvPr/>
        </p:nvSpPr>
        <p:spPr>
          <a:xfrm>
            <a:off x="6132663" y="-3884"/>
            <a:ext cx="6059337"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err="1"/>
          </a:p>
        </p:txBody>
      </p:sp>
      <p:grpSp>
        <p:nvGrpSpPr>
          <p:cNvPr id="6" name="Groupe 1">
            <a:extLst>
              <a:ext uri="{FF2B5EF4-FFF2-40B4-BE49-F238E27FC236}">
                <a16:creationId xmlns:a16="http://schemas.microsoft.com/office/drawing/2014/main" id="{4ACC0AA6-200F-4B5A-D65F-3F08D28CF838}"/>
              </a:ext>
            </a:extLst>
          </p:cNvPr>
          <p:cNvGrpSpPr>
            <a:grpSpLocks noChangeAspect="1"/>
          </p:cNvGrpSpPr>
          <p:nvPr/>
        </p:nvGrpSpPr>
        <p:grpSpPr>
          <a:xfrm>
            <a:off x="11467764" y="228600"/>
            <a:ext cx="419436" cy="388988"/>
            <a:chOff x="11501102" y="171573"/>
            <a:chExt cx="419436" cy="388988"/>
          </a:xfrm>
        </p:grpSpPr>
        <p:sp>
          <p:nvSpPr>
            <p:cNvPr id="7" name="Freeform 13">
              <a:extLst>
                <a:ext uri="{FF2B5EF4-FFF2-40B4-BE49-F238E27FC236}">
                  <a16:creationId xmlns:a16="http://schemas.microsoft.com/office/drawing/2014/main" id="{72A0A838-2F66-DF0D-09EC-BFBFEF347C20}"/>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698045B5-DEE5-33F9-AE80-2F25EE97FB8E}"/>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1" name="Rectangle 10">
            <a:extLst>
              <a:ext uri="{FF2B5EF4-FFF2-40B4-BE49-F238E27FC236}">
                <a16:creationId xmlns:a16="http://schemas.microsoft.com/office/drawing/2014/main" id="{1E6E7358-05C9-17DF-DD48-3702009018DF}"/>
              </a:ext>
            </a:extLst>
          </p:cNvPr>
          <p:cNvSpPr/>
          <p:nvPr/>
        </p:nvSpPr>
        <p:spPr>
          <a:xfrm>
            <a:off x="257750" y="1519858"/>
            <a:ext cx="5580498" cy="5066017"/>
          </a:xfrm>
          <a:prstGeom prst="rect">
            <a:avLst/>
          </a:prstGeom>
          <a:solidFill>
            <a:srgbClr val="27293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1219170" rtl="0" eaLnBrk="1" fontAlgn="auto" latinLnBrk="0" hangingPunct="1">
              <a:lnSpc>
                <a:spcPct val="90000"/>
              </a:lnSpc>
              <a:spcBef>
                <a:spcPts val="0"/>
              </a:spcBef>
              <a:spcAft>
                <a:spcPts val="0"/>
              </a:spcAft>
              <a:buClrTx/>
              <a:buSzTx/>
              <a:buFontTx/>
              <a:buNone/>
              <a:tabLst/>
              <a:defRPr/>
            </a:pPr>
            <a:endParaRPr kumimoji="0" lang="en-US" sz="2400" b="1" i="0" u="none" strike="noStrike" kern="1200" cap="none" spc="0" normalizeH="0" baseline="0" noProof="0">
              <a:ln>
                <a:noFill/>
              </a:ln>
              <a:solidFill>
                <a:schemeClr val="tx1"/>
              </a:solidFill>
              <a:effectLst/>
              <a:uLnTx/>
              <a:uFillTx/>
              <a:latin typeface="Calibri" panose="020F0502020204030204" pitchFamily="34" charset="0"/>
              <a:ea typeface="+mn-ea"/>
              <a:cs typeface="+mn-cs"/>
            </a:endParaRPr>
          </a:p>
        </p:txBody>
      </p:sp>
      <p:sp>
        <p:nvSpPr>
          <p:cNvPr id="12" name="Rectangle 11">
            <a:extLst>
              <a:ext uri="{FF2B5EF4-FFF2-40B4-BE49-F238E27FC236}">
                <a16:creationId xmlns:a16="http://schemas.microsoft.com/office/drawing/2014/main" id="{C0719CFF-D7DE-2C52-4884-833D53A4028E}"/>
              </a:ext>
            </a:extLst>
          </p:cNvPr>
          <p:cNvSpPr/>
          <p:nvPr/>
        </p:nvSpPr>
        <p:spPr>
          <a:xfrm>
            <a:off x="-1" y="1334987"/>
            <a:ext cx="6096001" cy="1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a:ln>
                <a:noFill/>
              </a:ln>
              <a:solidFill>
                <a:srgbClr val="FFFFFF"/>
              </a:solidFill>
              <a:effectLst/>
              <a:uLnTx/>
              <a:uFillTx/>
              <a:latin typeface="Ubuntu" panose="020B0504030602030204" pitchFamily="34" charset="0"/>
              <a:ea typeface="+mn-ea"/>
              <a:cs typeface="+mn-cs"/>
            </a:endParaRPr>
          </a:p>
        </p:txBody>
      </p:sp>
      <p:sp>
        <p:nvSpPr>
          <p:cNvPr id="13" name="TextBox 12">
            <a:extLst>
              <a:ext uri="{FF2B5EF4-FFF2-40B4-BE49-F238E27FC236}">
                <a16:creationId xmlns:a16="http://schemas.microsoft.com/office/drawing/2014/main" id="{EE543C4A-A2DC-61A2-9167-F13338E8CCBA}"/>
              </a:ext>
            </a:extLst>
          </p:cNvPr>
          <p:cNvSpPr txBox="1"/>
          <p:nvPr/>
        </p:nvSpPr>
        <p:spPr>
          <a:xfrm>
            <a:off x="338138" y="1027211"/>
            <a:ext cx="3457575" cy="307777"/>
          </a:xfrm>
          <a:prstGeom prst="rect">
            <a:avLst/>
          </a:prstGeom>
          <a:noFill/>
        </p:spPr>
        <p:txBody>
          <a:bodyPr wrap="square" rtlCol="0">
            <a:spAutoFit/>
          </a:bodyPr>
          <a:lstStyle/>
          <a:p>
            <a:r>
              <a:rPr lang="es-ES" sz="1400" b="1">
                <a:solidFill>
                  <a:schemeClr val="bg1"/>
                </a:solidFill>
              </a:rPr>
              <a:t>ACTIVITIES</a:t>
            </a:r>
          </a:p>
        </p:txBody>
      </p:sp>
      <p:sp>
        <p:nvSpPr>
          <p:cNvPr id="14" name="TextBox 13">
            <a:extLst>
              <a:ext uri="{FF2B5EF4-FFF2-40B4-BE49-F238E27FC236}">
                <a16:creationId xmlns:a16="http://schemas.microsoft.com/office/drawing/2014/main" id="{C21E6597-D466-0088-D160-9734B3B763A9}"/>
              </a:ext>
            </a:extLst>
          </p:cNvPr>
          <p:cNvSpPr txBox="1"/>
          <p:nvPr/>
        </p:nvSpPr>
        <p:spPr>
          <a:xfrm>
            <a:off x="6251004" y="1027210"/>
            <a:ext cx="3457575" cy="307777"/>
          </a:xfrm>
          <a:prstGeom prst="rect">
            <a:avLst/>
          </a:prstGeom>
          <a:noFill/>
        </p:spPr>
        <p:txBody>
          <a:bodyPr wrap="square" rtlCol="0">
            <a:spAutoFit/>
          </a:bodyPr>
          <a:lstStyle/>
          <a:p>
            <a:r>
              <a:rPr lang="es-ES" sz="1400" b="1">
                <a:solidFill>
                  <a:schemeClr val="accent1">
                    <a:lumMod val="50000"/>
                  </a:schemeClr>
                </a:solidFill>
              </a:rPr>
              <a:t>DELIVERABLES</a:t>
            </a:r>
          </a:p>
        </p:txBody>
      </p:sp>
      <p:sp>
        <p:nvSpPr>
          <p:cNvPr id="15" name="Rectangle 14">
            <a:extLst>
              <a:ext uri="{FF2B5EF4-FFF2-40B4-BE49-F238E27FC236}">
                <a16:creationId xmlns:a16="http://schemas.microsoft.com/office/drawing/2014/main" id="{CC24B330-69AF-7F0E-62B7-1C7F5D0F2E22}"/>
              </a:ext>
            </a:extLst>
          </p:cNvPr>
          <p:cNvSpPr/>
          <p:nvPr/>
        </p:nvSpPr>
        <p:spPr>
          <a:xfrm>
            <a:off x="6095999" y="1334987"/>
            <a:ext cx="6096001" cy="18000"/>
          </a:xfrm>
          <a:prstGeom prst="rect">
            <a:avLst/>
          </a:prstGeom>
          <a:solidFill>
            <a:srgbClr val="173340"/>
          </a:solidFill>
          <a:ln>
            <a:solidFill>
              <a:srgbClr val="1733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a:ln>
                <a:noFill/>
              </a:ln>
              <a:solidFill>
                <a:srgbClr val="FFFFFF"/>
              </a:solidFill>
              <a:effectLst/>
              <a:uLnTx/>
              <a:uFillTx/>
              <a:latin typeface="Ubuntu" panose="020B0504030602030204" pitchFamily="34" charset="0"/>
              <a:ea typeface="+mn-ea"/>
              <a:cs typeface="+mn-cs"/>
            </a:endParaRPr>
          </a:p>
        </p:txBody>
      </p:sp>
      <p:sp>
        <p:nvSpPr>
          <p:cNvPr id="18" name="Text Placeholder 17">
            <a:extLst>
              <a:ext uri="{FF2B5EF4-FFF2-40B4-BE49-F238E27FC236}">
                <a16:creationId xmlns:a16="http://schemas.microsoft.com/office/drawing/2014/main" id="{4F44E43C-437D-7EE6-8328-BE4087787CF5}"/>
              </a:ext>
            </a:extLst>
          </p:cNvPr>
          <p:cNvSpPr>
            <a:spLocks noGrp="1"/>
          </p:cNvSpPr>
          <p:nvPr>
            <p:ph type="body" sz="quarter" idx="11" hasCustomPrompt="1"/>
          </p:nvPr>
        </p:nvSpPr>
        <p:spPr>
          <a:xfrm>
            <a:off x="338138" y="1676400"/>
            <a:ext cx="5500687" cy="415498"/>
          </a:xfrm>
        </p:spPr>
        <p:txBody>
          <a:bodyPr/>
          <a:lstStyle>
            <a:lvl1pPr marL="288000" indent="-171450">
              <a:lnSpc>
                <a:spcPct val="100000"/>
              </a:lnSpc>
              <a:spcBef>
                <a:spcPts val="0"/>
              </a:spcBef>
              <a:spcAft>
                <a:spcPts val="600"/>
              </a:spcAft>
              <a:buFont typeface="Arial" panose="020B0604020202020204" pitchFamily="34" charset="0"/>
              <a:buChar char="•"/>
              <a:defRPr lang="es-ES" sz="1100" kern="1200" dirty="0">
                <a:solidFill>
                  <a:schemeClr val="bg1"/>
                </a:solidFill>
                <a:latin typeface="+mn-lt"/>
                <a:ea typeface="+mn-ea"/>
                <a:cs typeface="+mn-cs"/>
              </a:defRPr>
            </a:lvl1pPr>
            <a:lvl2pPr marL="448696" indent="-171450">
              <a:buFont typeface="Arial" panose="020B0604020202020204" pitchFamily="34" charset="0"/>
              <a:buChar char="•"/>
              <a:defRPr sz="1100">
                <a:solidFill>
                  <a:schemeClr val="bg1"/>
                </a:solidFill>
              </a:defRPr>
            </a:lvl2pPr>
            <a:lvl3pPr marL="725942" indent="-171450">
              <a:buFont typeface="Arial" panose="020B0604020202020204" pitchFamily="34" charset="0"/>
              <a:buChar char="•"/>
              <a:defRPr sz="1100">
                <a:solidFill>
                  <a:schemeClr val="bg1"/>
                </a:solidFill>
              </a:defRPr>
            </a:lvl3pPr>
            <a:lvl4pPr marL="1003188" indent="-171450">
              <a:buFont typeface="Arial" panose="020B0604020202020204" pitchFamily="34" charset="0"/>
              <a:buChar char="•"/>
              <a:defRPr sz="1100">
                <a:solidFill>
                  <a:schemeClr val="bg1"/>
                </a:solidFill>
              </a:defRPr>
            </a:lvl4pPr>
            <a:lvl5pPr marL="1280434" indent="-171450">
              <a:buFont typeface="Arial" panose="020B0604020202020204" pitchFamily="34" charset="0"/>
              <a:buChar char="•"/>
              <a:defRPr sz="1100">
                <a:solidFill>
                  <a:schemeClr val="bg1"/>
                </a:solidFill>
              </a:defRPr>
            </a:lvl5pPr>
          </a:lstStyle>
          <a:p>
            <a:pPr lvl="0"/>
            <a:r>
              <a:rPr lang="en-US" noProof="0"/>
              <a:t>Listar </a:t>
            </a:r>
            <a:r>
              <a:rPr lang="en-US" noProof="0" err="1"/>
              <a:t>actividades</a:t>
            </a:r>
            <a:r>
              <a:rPr lang="en-US" noProof="0"/>
              <a:t>. </a:t>
            </a:r>
            <a:r>
              <a:rPr lang="en-US" noProof="0" err="1"/>
              <a:t>Marcar</a:t>
            </a:r>
            <a:r>
              <a:rPr lang="en-US" noProof="0"/>
              <a:t> en </a:t>
            </a:r>
            <a:r>
              <a:rPr lang="en-US" noProof="0" err="1"/>
              <a:t>negrita</a:t>
            </a:r>
            <a:r>
              <a:rPr lang="en-US" noProof="0"/>
              <a:t> y </a:t>
            </a:r>
            <a:r>
              <a:rPr lang="en-US" noProof="0" err="1"/>
              <a:t>azul</a:t>
            </a:r>
            <a:r>
              <a:rPr lang="en-US" noProof="0"/>
              <a:t> las palabras claves</a:t>
            </a:r>
          </a:p>
          <a:p>
            <a:pPr lvl="0"/>
            <a:r>
              <a:rPr lang="en-US" noProof="0"/>
              <a:t>xxx</a:t>
            </a:r>
          </a:p>
        </p:txBody>
      </p:sp>
      <p:sp>
        <p:nvSpPr>
          <p:cNvPr id="21" name="Text Placeholder 17">
            <a:extLst>
              <a:ext uri="{FF2B5EF4-FFF2-40B4-BE49-F238E27FC236}">
                <a16:creationId xmlns:a16="http://schemas.microsoft.com/office/drawing/2014/main" id="{DF4F9266-BD59-31DD-370E-6DB66963A874}"/>
              </a:ext>
            </a:extLst>
          </p:cNvPr>
          <p:cNvSpPr>
            <a:spLocks noGrp="1"/>
          </p:cNvSpPr>
          <p:nvPr>
            <p:ph type="body" sz="quarter" idx="12" hasCustomPrompt="1"/>
          </p:nvPr>
        </p:nvSpPr>
        <p:spPr>
          <a:xfrm>
            <a:off x="6251004" y="1687200"/>
            <a:ext cx="5500687" cy="415498"/>
          </a:xfrm>
        </p:spPr>
        <p:txBody>
          <a:bodyPr/>
          <a:lstStyle>
            <a:lvl1pPr marL="288000" indent="-171450">
              <a:lnSpc>
                <a:spcPct val="100000"/>
              </a:lnSpc>
              <a:spcBef>
                <a:spcPts val="0"/>
              </a:spcBef>
              <a:spcAft>
                <a:spcPts val="600"/>
              </a:spcAft>
              <a:buFont typeface="Arial" panose="020B0604020202020204" pitchFamily="34" charset="0"/>
              <a:buChar char="•"/>
              <a:defRPr lang="es-ES" sz="1100" kern="1200" dirty="0">
                <a:solidFill>
                  <a:schemeClr val="tx1"/>
                </a:solidFill>
                <a:latin typeface="+mn-lt"/>
                <a:ea typeface="+mn-ea"/>
                <a:cs typeface="+mn-cs"/>
              </a:defRPr>
            </a:lvl1pPr>
            <a:lvl2pPr marL="448696" indent="-171450">
              <a:buFont typeface="Arial" panose="020B0604020202020204" pitchFamily="34" charset="0"/>
              <a:buChar char="•"/>
              <a:defRPr sz="1100">
                <a:solidFill>
                  <a:schemeClr val="bg1"/>
                </a:solidFill>
              </a:defRPr>
            </a:lvl2pPr>
            <a:lvl3pPr marL="725942" indent="-171450">
              <a:buFont typeface="Arial" panose="020B0604020202020204" pitchFamily="34" charset="0"/>
              <a:buChar char="•"/>
              <a:defRPr sz="1100">
                <a:solidFill>
                  <a:schemeClr val="bg1"/>
                </a:solidFill>
              </a:defRPr>
            </a:lvl3pPr>
            <a:lvl4pPr marL="1003188" indent="-171450">
              <a:buFont typeface="Arial" panose="020B0604020202020204" pitchFamily="34" charset="0"/>
              <a:buChar char="•"/>
              <a:defRPr sz="1100">
                <a:solidFill>
                  <a:schemeClr val="bg1"/>
                </a:solidFill>
              </a:defRPr>
            </a:lvl4pPr>
            <a:lvl5pPr marL="1280434" indent="-171450">
              <a:buFont typeface="Arial" panose="020B0604020202020204" pitchFamily="34" charset="0"/>
              <a:buChar char="•"/>
              <a:defRPr sz="1100">
                <a:solidFill>
                  <a:schemeClr val="bg1"/>
                </a:solidFill>
              </a:defRPr>
            </a:lvl5pPr>
          </a:lstStyle>
          <a:p>
            <a:pPr lvl="0"/>
            <a:r>
              <a:rPr lang="en-US" noProof="0"/>
              <a:t>Listar </a:t>
            </a:r>
            <a:r>
              <a:rPr lang="en-US" noProof="0" err="1"/>
              <a:t>Entregables</a:t>
            </a:r>
            <a:r>
              <a:rPr lang="en-US" noProof="0"/>
              <a:t>. Abajo </a:t>
            </a:r>
            <a:r>
              <a:rPr lang="en-US" noProof="0" err="1"/>
              <a:t>poner</a:t>
            </a:r>
            <a:r>
              <a:rPr lang="en-US" noProof="0"/>
              <a:t> </a:t>
            </a:r>
            <a:r>
              <a:rPr lang="en-US" noProof="0" err="1"/>
              <a:t>ilustrativos</a:t>
            </a:r>
            <a:endParaRPr lang="en-US" noProof="0"/>
          </a:p>
          <a:p>
            <a:pPr lvl="0"/>
            <a:r>
              <a:rPr lang="en-US" noProof="0"/>
              <a:t>xxx</a:t>
            </a:r>
          </a:p>
        </p:txBody>
      </p:sp>
      <p:pic>
        <p:nvPicPr>
          <p:cNvPr id="22" name="Picture 21" descr="Grocery store produce section">
            <a:extLst>
              <a:ext uri="{FF2B5EF4-FFF2-40B4-BE49-F238E27FC236}">
                <a16:creationId xmlns:a16="http://schemas.microsoft.com/office/drawing/2014/main" id="{443CF094-2769-D3EC-EE8B-62C894F0A38E}"/>
              </a:ext>
            </a:extLst>
          </p:cNvPr>
          <p:cNvPicPr>
            <a:picLocks noChangeAspect="1"/>
          </p:cNvPicPr>
          <p:nvPr userDrawn="1"/>
        </p:nvPicPr>
        <p:blipFill>
          <a:blip r:embed="rId2">
            <a:duotone>
              <a:schemeClr val="accent1">
                <a:shade val="45000"/>
                <a:satMod val="135000"/>
              </a:schemeClr>
              <a:prstClr val="white"/>
            </a:duotone>
          </a:blip>
          <a:srcRect t="26640" b="23342"/>
          <a:stretch>
            <a:fillRect/>
          </a:stretch>
        </p:blipFill>
        <p:spPr>
          <a:xfrm>
            <a:off x="6132085" y="4565800"/>
            <a:ext cx="6099383" cy="2288391"/>
          </a:xfrm>
          <a:prstGeom prst="rect">
            <a:avLst/>
          </a:prstGeom>
        </p:spPr>
      </p:pic>
    </p:spTree>
    <p:extLst>
      <p:ext uri="{BB962C8B-B14F-4D97-AF65-F5344CB8AC3E}">
        <p14:creationId xmlns:p14="http://schemas.microsoft.com/office/powerpoint/2010/main" val="805615199"/>
      </p:ext>
    </p:extLst>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9_Basica foto">
    <p:spTree>
      <p:nvGrpSpPr>
        <p:cNvPr id="1" name=""/>
        <p:cNvGrpSpPr/>
        <p:nvPr/>
      </p:nvGrpSpPr>
      <p:grpSpPr>
        <a:xfrm>
          <a:off x="0" y="0"/>
          <a:ext cx="0" cy="0"/>
          <a:chOff x="0" y="0"/>
          <a:chExt cx="0" cy="0"/>
        </a:xfrm>
      </p:grpSpPr>
      <p:pic>
        <p:nvPicPr>
          <p:cNvPr id="5122" name="Picture 2" descr="UK &amp; Ireland - Nordex SE">
            <a:extLst>
              <a:ext uri="{FF2B5EF4-FFF2-40B4-BE49-F238E27FC236}">
                <a16:creationId xmlns:a16="http://schemas.microsoft.com/office/drawing/2014/main" id="{D2006D1B-5BCE-D850-0F3C-096D827CDC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288" r="7986"/>
          <a:stretch/>
        </p:blipFill>
        <p:spPr bwMode="auto">
          <a:xfrm>
            <a:off x="9436146" y="0"/>
            <a:ext cx="2755853"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Holder 3"/>
          <p:cNvSpPr>
            <a:spLocks noGrp="1"/>
          </p:cNvSpPr>
          <p:nvPr>
            <p:ph type="ftr" sz="quarter" idx="5"/>
          </p:nvPr>
        </p:nvSpPr>
        <p:spPr/>
        <p:txBody>
          <a:bodyPr lIns="0" tIns="0" rIns="0" bIns="0"/>
          <a:lstStyle>
            <a:lvl1pPr>
              <a:defRPr sz="788" b="0" i="0">
                <a:solidFill>
                  <a:srgbClr val="A6AAA9"/>
                </a:solidFill>
                <a:latin typeface="Tahoma"/>
                <a:cs typeface="Tahoma"/>
              </a:defRPr>
            </a:lvl1pPr>
          </a:lstStyle>
          <a:p>
            <a:pPr marL="7701">
              <a:spcBef>
                <a:spcPts val="36"/>
              </a:spcBef>
            </a:pPr>
            <a:r>
              <a:rPr lang="en-US" spc="-42"/>
              <a:t>Company Confidential © Capgemini 2023. All rights reserved  |</a:t>
            </a:r>
            <a:endParaRPr lang="en-US" spc="24"/>
          </a:p>
        </p:txBody>
      </p:sp>
      <p:sp>
        <p:nvSpPr>
          <p:cNvPr id="5" name="Holder 5"/>
          <p:cNvSpPr>
            <a:spLocks noGrp="1"/>
          </p:cNvSpPr>
          <p:nvPr>
            <p:ph type="sldNum" sz="quarter" idx="7"/>
          </p:nvPr>
        </p:nvSpPr>
        <p:spPr/>
        <p:txBody>
          <a:bodyPr lIns="0" tIns="0" rIns="0" bIns="0"/>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sp>
        <p:nvSpPr>
          <p:cNvPr id="9" name="Text Placeholder 7">
            <a:extLst>
              <a:ext uri="{FF2B5EF4-FFF2-40B4-BE49-F238E27FC236}">
                <a16:creationId xmlns:a16="http://schemas.microsoft.com/office/drawing/2014/main" id="{6B71811C-2D4C-4BCC-92C9-4BA035E4BAFA}"/>
              </a:ext>
            </a:extLst>
          </p:cNvPr>
          <p:cNvSpPr>
            <a:spLocks noGrp="1"/>
          </p:cNvSpPr>
          <p:nvPr>
            <p:ph type="body" sz="quarter" idx="10" hasCustomPrompt="1"/>
          </p:nvPr>
        </p:nvSpPr>
        <p:spPr>
          <a:xfrm>
            <a:off x="381000" y="304800"/>
            <a:ext cx="6248400" cy="615553"/>
          </a:xfrm>
        </p:spPr>
        <p:txBody>
          <a:bodyPr/>
          <a:lstStyle>
            <a:lvl1pPr>
              <a:defRPr lang="en-US" sz="2000" b="0" i="0" kern="1200" cap="all" spc="200" baseline="0" dirty="0" smtClean="0">
                <a:solidFill>
                  <a:srgbClr val="FFFFFF"/>
                </a:solidFill>
                <a:latin typeface="+mn-lt"/>
                <a:ea typeface="+mj-ea"/>
                <a:cs typeface="+mj-cs"/>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Escribir </a:t>
            </a:r>
            <a:r>
              <a:rPr lang="en-US" noProof="0" err="1"/>
              <a:t>encabezado</a:t>
            </a:r>
            <a:r>
              <a:rPr lang="en-US" noProof="0"/>
              <a:t> de la slide</a:t>
            </a:r>
          </a:p>
          <a:p>
            <a:pPr lvl="0"/>
            <a:endParaRPr lang="en-US" noProof="0"/>
          </a:p>
        </p:txBody>
      </p:sp>
      <p:sp>
        <p:nvSpPr>
          <p:cNvPr id="11" name="Rectangle 10">
            <a:extLst>
              <a:ext uri="{FF2B5EF4-FFF2-40B4-BE49-F238E27FC236}">
                <a16:creationId xmlns:a16="http://schemas.microsoft.com/office/drawing/2014/main" id="{67796098-66F7-F97D-0C10-86EEC9C0D8B5}"/>
              </a:ext>
            </a:extLst>
          </p:cNvPr>
          <p:cNvSpPr/>
          <p:nvPr/>
        </p:nvSpPr>
        <p:spPr>
          <a:xfrm>
            <a:off x="9436146" y="0"/>
            <a:ext cx="2755853" cy="6858000"/>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pSp>
        <p:nvGrpSpPr>
          <p:cNvPr id="6" name="Groupe 1">
            <a:extLst>
              <a:ext uri="{FF2B5EF4-FFF2-40B4-BE49-F238E27FC236}">
                <a16:creationId xmlns:a16="http://schemas.microsoft.com/office/drawing/2014/main" id="{079CE6F8-5B74-7D1A-124C-CA4F26B545C3}"/>
              </a:ext>
            </a:extLst>
          </p:cNvPr>
          <p:cNvGrpSpPr>
            <a:grpSpLocks noChangeAspect="1"/>
          </p:cNvGrpSpPr>
          <p:nvPr/>
        </p:nvGrpSpPr>
        <p:grpSpPr>
          <a:xfrm>
            <a:off x="11467764" y="228600"/>
            <a:ext cx="419436" cy="388988"/>
            <a:chOff x="11501102" y="171573"/>
            <a:chExt cx="419436" cy="388988"/>
          </a:xfrm>
        </p:grpSpPr>
        <p:sp>
          <p:nvSpPr>
            <p:cNvPr id="7" name="Freeform 13">
              <a:extLst>
                <a:ext uri="{FF2B5EF4-FFF2-40B4-BE49-F238E27FC236}">
                  <a16:creationId xmlns:a16="http://schemas.microsoft.com/office/drawing/2014/main" id="{DF379B37-190F-9480-F058-F0F4EA221A02}"/>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D1F8BB86-21BE-71A4-1FD1-84649CFD73F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115240573"/>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99_Credencial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200" y="0"/>
            <a:ext cx="11091600" cy="1104900"/>
          </a:xfrm>
        </p:spPr>
        <p:txBody>
          <a:bodyPr tIns="180000"/>
          <a:lstStyle>
            <a:lvl1pPr>
              <a:spcBef>
                <a:spcPts val="0"/>
              </a:spcBef>
              <a:defRPr cap="none" spc="200" baseline="0">
                <a:solidFill>
                  <a:schemeClr val="bg1"/>
                </a:solidFill>
              </a:defRPr>
            </a:lvl1pPr>
          </a:lstStyle>
          <a:p>
            <a:r>
              <a:rPr lang="en-US"/>
              <a:t>CLICK TO EDIT MASTER TITLE STYLE</a:t>
            </a:r>
            <a:endParaRPr lang="en-GB"/>
          </a:p>
        </p:txBody>
      </p:sp>
      <p:sp>
        <p:nvSpPr>
          <p:cNvPr id="7" name="Text Placeholder 9">
            <a:extLst>
              <a:ext uri="{FF2B5EF4-FFF2-40B4-BE49-F238E27FC236}">
                <a16:creationId xmlns:a16="http://schemas.microsoft.com/office/drawing/2014/main" id="{2F37D955-F6D5-4EE8-9B16-4327F495190B}"/>
              </a:ext>
            </a:extLst>
          </p:cNvPr>
          <p:cNvSpPr>
            <a:spLocks noGrp="1"/>
          </p:cNvSpPr>
          <p:nvPr>
            <p:ph type="body" sz="quarter" idx="15" hasCustomPrompt="1"/>
          </p:nvPr>
        </p:nvSpPr>
        <p:spPr>
          <a:xfrm>
            <a:off x="550200" y="1125538"/>
            <a:ext cx="11090938" cy="307777"/>
          </a:xfrm>
        </p:spPr>
        <p:txBody>
          <a:bodyPr>
            <a:spAutoFit/>
          </a:bodyPr>
          <a:lstStyle>
            <a:lvl1pPr>
              <a:defRPr sz="2000" b="0">
                <a:solidFill>
                  <a:schemeClr val="accent1"/>
                </a:solidFill>
                <a:latin typeface="+mn-lt"/>
              </a:defRPr>
            </a:lvl1pPr>
          </a:lstStyle>
          <a:p>
            <a:pPr lvl="0"/>
            <a:r>
              <a:rPr lang="en-US"/>
              <a:t>EDIT MASTER TEXT STYLES</a:t>
            </a:r>
          </a:p>
        </p:txBody>
      </p:sp>
    </p:spTree>
    <p:extLst>
      <p:ext uri="{BB962C8B-B14F-4D97-AF65-F5344CB8AC3E}">
        <p14:creationId xmlns:p14="http://schemas.microsoft.com/office/powerpoint/2010/main" val="2281484687"/>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cSld name="1_Final Slide 1">
    <p:bg>
      <p:bgPr>
        <a:solidFill>
          <a:srgbClr val="272936"/>
        </a:solidFill>
        <a:effectLst/>
      </p:bgPr>
    </p:bg>
    <p:spTree>
      <p:nvGrpSpPr>
        <p:cNvPr id="1" name=""/>
        <p:cNvGrpSpPr/>
        <p:nvPr/>
      </p:nvGrpSpPr>
      <p:grpSpPr>
        <a:xfrm>
          <a:off x="0" y="0"/>
          <a:ext cx="0" cy="0"/>
          <a:chOff x="0" y="0"/>
          <a:chExt cx="0" cy="0"/>
        </a:xfrm>
      </p:grpSpPr>
      <p:pic>
        <p:nvPicPr>
          <p:cNvPr id="27" name="Image 27">
            <a:extLst>
              <a:ext uri="{FF2B5EF4-FFF2-40B4-BE49-F238E27FC236}">
                <a16:creationId xmlns:a16="http://schemas.microsoft.com/office/drawing/2014/main" id="{831377F0-7FB5-4F15-83F1-314D9967AB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s-ES" sz="700" noProof="0" err="1">
                <a:solidFill>
                  <a:schemeClr val="bg1"/>
                </a:solidFill>
                <a:latin typeface="Ubuntu" panose="020B0504030602030204" pitchFamily="34" charset="0"/>
                <a:cs typeface="Arial"/>
              </a:rPr>
              <a:t>This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presentation</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contains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information</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that</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may</a:t>
            </a:r>
            <a:r>
              <a:rPr lang="es-ES" sz="700" noProof="0">
                <a:solidFill>
                  <a:schemeClr val="bg1"/>
                </a:solidFill>
                <a:latin typeface="Ubuntu" panose="020B0504030602030204" pitchFamily="34" charset="0"/>
                <a:cs typeface="Arial"/>
              </a:rPr>
              <a:t> be </a:t>
            </a:r>
            <a:r>
              <a:rPr lang="es-ES" sz="700" noProof="0" err="1">
                <a:solidFill>
                  <a:schemeClr val="bg1"/>
                </a:solidFill>
                <a:latin typeface="Ubuntu" panose="020B0504030602030204" pitchFamily="34" charset="0"/>
                <a:cs typeface="Arial"/>
              </a:rPr>
              <a:t>privileged</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or</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confidential</a:t>
            </a:r>
            <a:r>
              <a:rPr lang="es-ES" sz="700" noProof="0">
                <a:solidFill>
                  <a:schemeClr val="bg1"/>
                </a:solidFill>
                <a:latin typeface="Ubuntu" panose="020B0504030602030204" pitchFamily="34" charset="0"/>
                <a:cs typeface="Arial"/>
              </a:rPr>
              <a:t> and </a:t>
            </a:r>
            <a:r>
              <a:rPr lang="es-ES" sz="700" noProof="0" err="1">
                <a:solidFill>
                  <a:schemeClr val="bg1"/>
                </a:solidFill>
                <a:latin typeface="Ubuntu" panose="020B0504030602030204" pitchFamily="34" charset="0"/>
                <a:cs typeface="Arial"/>
              </a:rPr>
              <a:t>is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the</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property</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of</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the</a:t>
            </a:r>
            <a:r>
              <a:rPr lang="es-ES" sz="700" noProof="0">
                <a:solidFill>
                  <a:schemeClr val="bg1"/>
                </a:solidFill>
                <a:latin typeface="Ubuntu" panose="020B0504030602030204" pitchFamily="34" charset="0"/>
                <a:cs typeface="Arial"/>
              </a:rPr>
              <a:t> Capgemini </a:t>
            </a:r>
            <a:r>
              <a:rPr lang="es-ES" sz="700" noProof="0" err="1">
                <a:solidFill>
                  <a:schemeClr val="bg1"/>
                </a:solidFill>
                <a:latin typeface="Ubuntu" panose="020B0504030602030204" pitchFamily="34" charset="0"/>
                <a:cs typeface="Arial"/>
              </a:rPr>
              <a:t>Group</a:t>
            </a:r>
            <a:r>
              <a:rPr lang="es-ES" sz="700" noProof="0">
                <a:solidFill>
                  <a:schemeClr val="bg1"/>
                </a:solidFill>
                <a:latin typeface="Ubuntu" panose="020B0504030602030204" pitchFamily="34" charset="0"/>
                <a:cs typeface="Arial"/>
              </a:rPr>
              <a:t>.</a:t>
            </a:r>
          </a:p>
          <a:p>
            <a:pPr>
              <a:spcAft>
                <a:spcPts val="600"/>
              </a:spcAft>
            </a:pPr>
            <a:r>
              <a:rPr lang="es-ES" sz="700" noProof="0">
                <a:solidFill>
                  <a:schemeClr val="bg1"/>
                </a:solidFill>
                <a:latin typeface="Ubuntu" panose="020B0504030602030204" pitchFamily="34" charset="0"/>
                <a:cs typeface="Arial"/>
              </a:rPr>
              <a:t>Copyright © 2023 Capgemini. </a:t>
            </a:r>
            <a:r>
              <a:rPr lang="es-ES" sz="700" noProof="0" err="1">
                <a:solidFill>
                  <a:schemeClr val="bg1"/>
                </a:solidFill>
                <a:latin typeface="Ubuntu" panose="020B0504030602030204" pitchFamily="34" charset="0"/>
                <a:cs typeface="Arial"/>
              </a:rPr>
              <a:t>All</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rights</a:t>
            </a:r>
            <a:r>
              <a:rPr lang="es-ES" sz="700" noProof="0">
                <a:solidFill>
                  <a:schemeClr val="bg1"/>
                </a:solidFill>
                <a:latin typeface="Ubuntu" panose="020B0504030602030204" pitchFamily="34" charset="0"/>
                <a:cs typeface="Arial"/>
              </a:rPr>
              <a:t> </a:t>
            </a:r>
            <a:r>
              <a:rPr lang="es-ES" sz="700" noProof="0" err="1">
                <a:solidFill>
                  <a:schemeClr val="bg1"/>
                </a:solidFill>
                <a:latin typeface="Ubuntu" panose="020B0504030602030204" pitchFamily="34" charset="0"/>
                <a:cs typeface="Arial"/>
              </a:rPr>
              <a:t>reserved</a:t>
            </a:r>
            <a:r>
              <a:rPr lang="es-ES" sz="700" noProof="0">
                <a:solidFill>
                  <a:schemeClr val="bg1"/>
                </a:solidFill>
                <a:latin typeface="Ubuntu" panose="020B0504030602030204" pitchFamily="34" charset="0"/>
                <a:cs typeface="Arial"/>
              </a:rPr>
              <a:t>.</a:t>
            </a:r>
          </a:p>
        </p:txBody>
      </p:sp>
      <p:sp>
        <p:nvSpPr>
          <p:cNvPr id="14" name="Rectangle 13"/>
          <p:cNvSpPr/>
          <p:nvPr/>
        </p:nvSpPr>
        <p:spPr>
          <a:xfrm>
            <a:off x="6536185" y="2920221"/>
            <a:ext cx="4672383"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just"/>
            <a:r>
              <a:rPr lang="es-ES" sz="900" kern="1200">
                <a:solidFill>
                  <a:schemeClr val="lt1"/>
                </a:solidFill>
                <a:effectLst/>
                <a:latin typeface="+mn-lt"/>
                <a:ea typeface="+mn-ea"/>
                <a:cs typeface="+mn-cs"/>
              </a:rPr>
              <a:t>As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digital </a:t>
            </a:r>
            <a:r>
              <a:rPr lang="es-ES" sz="900" kern="1200" err="1">
                <a:solidFill>
                  <a:schemeClr val="lt1"/>
                </a:solidFill>
                <a:effectLst/>
                <a:latin typeface="+mn-lt"/>
                <a:ea typeface="+mn-ea"/>
                <a:cs typeface="+mn-cs"/>
              </a:rPr>
              <a:t>innovation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design</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transformation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brand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Invent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enables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CxOs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envision</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shape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future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Located</a:t>
            </a:r>
            <a:r>
              <a:rPr lang="es-ES" sz="900" kern="1200">
                <a:solidFill>
                  <a:schemeClr val="lt1"/>
                </a:solidFill>
                <a:effectLst/>
                <a:latin typeface="+mn-lt"/>
                <a:ea typeface="+mn-ea"/>
                <a:cs typeface="+mn-cs"/>
              </a:rPr>
              <a:t> in more </a:t>
            </a:r>
            <a:r>
              <a:rPr lang="es-ES" sz="900" kern="1200" err="1">
                <a:solidFill>
                  <a:schemeClr val="lt1"/>
                </a:solidFill>
                <a:effectLst/>
                <a:latin typeface="+mn-lt"/>
                <a:ea typeface="+mn-ea"/>
                <a:cs typeface="+mn-cs"/>
              </a:rPr>
              <a:t>than</a:t>
            </a:r>
            <a:r>
              <a:rPr lang="es-ES" sz="900" kern="1200">
                <a:solidFill>
                  <a:schemeClr val="lt1"/>
                </a:solidFill>
                <a:effectLst/>
                <a:latin typeface="+mn-lt"/>
                <a:ea typeface="+mn-ea"/>
                <a:cs typeface="+mn-cs"/>
              </a:rPr>
              <a:t> 36 </a:t>
            </a:r>
            <a:r>
              <a:rPr lang="es-ES" sz="900" kern="1200" err="1">
                <a:solidFill>
                  <a:schemeClr val="lt1"/>
                </a:solidFill>
                <a:effectLst/>
                <a:latin typeface="+mn-lt"/>
                <a:ea typeface="+mn-ea"/>
                <a:cs typeface="+mn-cs"/>
              </a:rPr>
              <a:t>offices</a:t>
            </a:r>
            <a:r>
              <a:rPr lang="es-ES" sz="900" kern="1200">
                <a:solidFill>
                  <a:schemeClr val="lt1"/>
                </a:solidFill>
                <a:effectLst/>
                <a:latin typeface="+mn-lt"/>
                <a:ea typeface="+mn-ea"/>
                <a:cs typeface="+mn-cs"/>
              </a:rPr>
              <a:t> and 37 creative </a:t>
            </a:r>
            <a:r>
              <a:rPr lang="es-ES" sz="900" kern="1200" err="1">
                <a:solidFill>
                  <a:schemeClr val="lt1"/>
                </a:solidFill>
                <a:effectLst/>
                <a:latin typeface="+mn-lt"/>
                <a:ea typeface="+mn-ea"/>
                <a:cs typeface="+mn-cs"/>
              </a:rPr>
              <a:t>studios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around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world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comprises</a:t>
            </a:r>
            <a:r>
              <a:rPr lang="es-ES" sz="900" kern="1200">
                <a:solidFill>
                  <a:schemeClr val="lt1"/>
                </a:solidFill>
                <a:effectLst/>
                <a:latin typeface="+mn-lt"/>
                <a:ea typeface="+mn-ea"/>
                <a:cs typeface="+mn-cs"/>
              </a:rPr>
              <a:t> a 10,000+ </a:t>
            </a:r>
            <a:r>
              <a:rPr lang="es-ES" sz="900" kern="1200" err="1">
                <a:solidFill>
                  <a:schemeClr val="lt1"/>
                </a:solidFill>
                <a:effectLst/>
                <a:latin typeface="+mn-lt"/>
                <a:ea typeface="+mn-ea"/>
                <a:cs typeface="+mn-cs"/>
              </a:rPr>
              <a:t>strong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team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strategists</a:t>
            </a:r>
            <a:r>
              <a:rPr lang="es-ES" sz="900" kern="1200">
                <a:solidFill>
                  <a:schemeClr val="lt1"/>
                </a:solidFill>
                <a:effectLst/>
                <a:latin typeface="+mn-lt"/>
                <a:ea typeface="+mn-ea"/>
                <a:cs typeface="+mn-cs"/>
              </a:rPr>
              <a:t>, data </a:t>
            </a:r>
            <a:r>
              <a:rPr lang="es-ES" sz="900" kern="1200" err="1">
                <a:solidFill>
                  <a:schemeClr val="lt1"/>
                </a:solidFill>
                <a:effectLst/>
                <a:latin typeface="+mn-lt"/>
                <a:ea typeface="+mn-ea"/>
                <a:cs typeface="+mn-cs"/>
              </a:rPr>
              <a:t>scientists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product</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experience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designers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brand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experts</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technologists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who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develop</a:t>
            </a:r>
            <a:r>
              <a:rPr lang="es-ES" sz="900" kern="1200">
                <a:solidFill>
                  <a:schemeClr val="lt1"/>
                </a:solidFill>
                <a:effectLst/>
                <a:latin typeface="+mn-lt"/>
                <a:ea typeface="+mn-ea"/>
                <a:cs typeface="+mn-cs"/>
              </a:rPr>
              <a:t> new digital </a:t>
            </a:r>
            <a:r>
              <a:rPr lang="es-ES" sz="900" kern="1200" err="1">
                <a:solidFill>
                  <a:schemeClr val="lt1"/>
                </a:solidFill>
                <a:effectLst/>
                <a:latin typeface="+mn-lt"/>
                <a:ea typeface="+mn-ea"/>
                <a:cs typeface="+mn-cs"/>
              </a:rPr>
              <a:t>services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products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experiences</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models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for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sustainable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growth</a:t>
            </a:r>
            <a:r>
              <a:rPr lang="es-ES" sz="900" kern="1200">
                <a:solidFill>
                  <a:schemeClr val="lt1"/>
                </a:solidFill>
                <a:effectLst/>
                <a:latin typeface="+mn-lt"/>
                <a:ea typeface="+mn-ea"/>
                <a:cs typeface="+mn-cs"/>
              </a:rPr>
              <a:t>.</a:t>
            </a:r>
          </a:p>
          <a:p>
            <a:pPr algn="just"/>
            <a:endParaRPr lang="es-ES" sz="900" kern="1200">
              <a:solidFill>
                <a:schemeClr val="lt1"/>
              </a:solidFill>
              <a:effectLst/>
              <a:latin typeface="+mn-lt"/>
              <a:ea typeface="+mn-ea"/>
              <a:cs typeface="+mn-cs"/>
            </a:endParaRPr>
          </a:p>
          <a:p>
            <a:pPr algn="just"/>
            <a:r>
              <a:rPr lang="es-ES" sz="900" kern="1200">
                <a:solidFill>
                  <a:schemeClr val="lt1"/>
                </a:solidFill>
                <a:effectLst/>
                <a:latin typeface="+mn-lt"/>
                <a:ea typeface="+mn-ea"/>
                <a:cs typeface="+mn-cs"/>
              </a:rPr>
              <a:t>Capgemini </a:t>
            </a:r>
            <a:r>
              <a:rPr lang="es-ES" sz="900" kern="1200" err="1">
                <a:solidFill>
                  <a:schemeClr val="lt1"/>
                </a:solidFill>
                <a:effectLst/>
                <a:latin typeface="+mn-lt"/>
                <a:ea typeface="+mn-ea"/>
                <a:cs typeface="+mn-cs"/>
              </a:rPr>
              <a:t>Invent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an</a:t>
            </a:r>
            <a:r>
              <a:rPr lang="es-ES" sz="900" kern="1200">
                <a:solidFill>
                  <a:schemeClr val="lt1"/>
                </a:solidFill>
                <a:effectLst/>
                <a:latin typeface="+mn-lt"/>
                <a:ea typeface="+mn-ea"/>
                <a:cs typeface="+mn-cs"/>
              </a:rPr>
              <a:t> integral </a:t>
            </a:r>
            <a:r>
              <a:rPr lang="es-ES" sz="900" kern="1200" err="1">
                <a:solidFill>
                  <a:schemeClr val="lt1"/>
                </a:solidFill>
                <a:effectLst/>
                <a:latin typeface="+mn-lt"/>
                <a:ea typeface="+mn-ea"/>
                <a:cs typeface="+mn-cs"/>
              </a:rPr>
              <a:t>part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Capgemini, a global leader in </a:t>
            </a:r>
            <a:r>
              <a:rPr lang="es-ES" sz="900" kern="1200" err="1">
                <a:solidFill>
                  <a:schemeClr val="lt1"/>
                </a:solidFill>
                <a:effectLst/>
                <a:latin typeface="+mn-lt"/>
                <a:ea typeface="+mn-ea"/>
                <a:cs typeface="+mn-cs"/>
              </a:rPr>
              <a:t>partnering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with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companies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transform</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manage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harnessing</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power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technology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guided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everyday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purpose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unleashing</a:t>
            </a:r>
            <a:r>
              <a:rPr lang="es-ES" sz="900" kern="1200">
                <a:solidFill>
                  <a:schemeClr val="lt1"/>
                </a:solidFill>
                <a:effectLst/>
                <a:latin typeface="+mn-lt"/>
                <a:ea typeface="+mn-ea"/>
                <a:cs typeface="+mn-cs"/>
              </a:rPr>
              <a:t> human </a:t>
            </a:r>
            <a:r>
              <a:rPr lang="es-ES" sz="900" kern="1200" err="1">
                <a:solidFill>
                  <a:schemeClr val="lt1"/>
                </a:solidFill>
                <a:effectLst/>
                <a:latin typeface="+mn-lt"/>
                <a:ea typeface="+mn-ea"/>
                <a:cs typeface="+mn-cs"/>
              </a:rPr>
              <a:t>energy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through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technology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for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an</a:t>
            </a:r>
            <a:r>
              <a:rPr lang="es-ES" sz="900" kern="1200">
                <a:solidFill>
                  <a:schemeClr val="lt1"/>
                </a:solidFill>
                <a:effectLst/>
                <a:latin typeface="+mn-lt"/>
                <a:ea typeface="+mn-ea"/>
                <a:cs typeface="+mn-cs"/>
              </a:rPr>
              <a:t> inclusive and </a:t>
            </a:r>
            <a:r>
              <a:rPr lang="es-ES" sz="900" kern="1200" err="1">
                <a:solidFill>
                  <a:schemeClr val="lt1"/>
                </a:solidFill>
                <a:effectLst/>
                <a:latin typeface="+mn-lt"/>
                <a:ea typeface="+mn-ea"/>
                <a:cs typeface="+mn-cs"/>
              </a:rPr>
              <a:t>sustainable</a:t>
            </a:r>
            <a:r>
              <a:rPr lang="es-ES" sz="900" kern="1200">
                <a:solidFill>
                  <a:schemeClr val="lt1"/>
                </a:solidFill>
                <a:effectLst/>
                <a:latin typeface="+mn-lt"/>
                <a:ea typeface="+mn-ea"/>
                <a:cs typeface="+mn-cs"/>
              </a:rPr>
              <a:t> future. </a:t>
            </a:r>
            <a:r>
              <a:rPr lang="es-ES" sz="900" kern="1200" err="1">
                <a:solidFill>
                  <a:schemeClr val="lt1"/>
                </a:solidFill>
                <a:effectLst/>
                <a:latin typeface="+mn-lt"/>
                <a:ea typeface="+mn-ea"/>
                <a:cs typeface="+mn-cs"/>
              </a:rPr>
              <a:t>It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 </a:t>
            </a:r>
            <a:r>
              <a:rPr lang="es-ES" sz="900" kern="1200" err="1">
                <a:solidFill>
                  <a:schemeClr val="lt1"/>
                </a:solidFill>
                <a:effectLst/>
                <a:latin typeface="+mn-lt"/>
                <a:ea typeface="+mn-ea"/>
                <a:cs typeface="+mn-cs"/>
              </a:rPr>
              <a:t>responsible</a:t>
            </a:r>
            <a:r>
              <a:rPr lang="es-ES" sz="900" kern="1200">
                <a:solidFill>
                  <a:schemeClr val="lt1"/>
                </a:solidFill>
                <a:effectLst/>
                <a:latin typeface="+mn-lt"/>
                <a:ea typeface="+mn-ea"/>
                <a:cs typeface="+mn-cs"/>
              </a:rPr>
              <a:t> and diverse </a:t>
            </a:r>
            <a:r>
              <a:rPr lang="es-ES" sz="900" kern="1200" err="1">
                <a:solidFill>
                  <a:schemeClr val="lt1"/>
                </a:solidFill>
                <a:effectLst/>
                <a:latin typeface="+mn-lt"/>
                <a:ea typeface="+mn-ea"/>
                <a:cs typeface="+mn-cs"/>
              </a:rPr>
              <a:t>organization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over</a:t>
            </a:r>
            <a:r>
              <a:rPr lang="es-ES" sz="900" kern="1200">
                <a:solidFill>
                  <a:schemeClr val="lt1"/>
                </a:solidFill>
                <a:effectLst/>
                <a:latin typeface="+mn-lt"/>
                <a:ea typeface="+mn-ea"/>
                <a:cs typeface="+mn-cs"/>
              </a:rPr>
              <a:t> 300,000 </a:t>
            </a:r>
            <a:r>
              <a:rPr lang="es-ES" sz="900" kern="1200" err="1">
                <a:solidFill>
                  <a:schemeClr val="lt1"/>
                </a:solidFill>
                <a:effectLst/>
                <a:latin typeface="+mn-lt"/>
                <a:ea typeface="+mn-ea"/>
                <a:cs typeface="+mn-cs"/>
              </a:rPr>
              <a:t>team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members</a:t>
            </a:r>
            <a:r>
              <a:rPr lang="es-ES" sz="900" kern="1200">
                <a:solidFill>
                  <a:schemeClr val="lt1"/>
                </a:solidFill>
                <a:effectLst/>
                <a:latin typeface="+mn-lt"/>
                <a:ea typeface="+mn-ea"/>
                <a:cs typeface="+mn-cs"/>
              </a:rPr>
              <a:t> in </a:t>
            </a:r>
            <a:r>
              <a:rPr lang="es-ES" sz="900" kern="1200" err="1">
                <a:solidFill>
                  <a:schemeClr val="lt1"/>
                </a:solidFill>
                <a:effectLst/>
                <a:latin typeface="+mn-lt"/>
                <a:ea typeface="+mn-ea"/>
                <a:cs typeface="+mn-cs"/>
              </a:rPr>
              <a:t>nearly</a:t>
            </a:r>
            <a:r>
              <a:rPr lang="es-ES" sz="900" kern="1200">
                <a:solidFill>
                  <a:schemeClr val="lt1"/>
                </a:solidFill>
                <a:effectLst/>
                <a:latin typeface="+mn-lt"/>
                <a:ea typeface="+mn-ea"/>
                <a:cs typeface="+mn-cs"/>
              </a:rPr>
              <a:t> 50 </a:t>
            </a:r>
            <a:r>
              <a:rPr lang="es-ES" sz="900" kern="1200" err="1">
                <a:solidFill>
                  <a:schemeClr val="lt1"/>
                </a:solidFill>
                <a:effectLst/>
                <a:latin typeface="+mn-lt"/>
                <a:ea typeface="+mn-ea"/>
                <a:cs typeface="+mn-cs"/>
              </a:rPr>
              <a:t>countries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With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strong</a:t>
            </a:r>
            <a:r>
              <a:rPr lang="es-ES" sz="900" kern="1200">
                <a:solidFill>
                  <a:schemeClr val="lt1"/>
                </a:solidFill>
                <a:effectLst/>
                <a:latin typeface="+mn-lt"/>
                <a:ea typeface="+mn-ea"/>
                <a:cs typeface="+mn-cs"/>
              </a:rPr>
              <a:t> 50-year </a:t>
            </a:r>
            <a:r>
              <a:rPr lang="es-ES" sz="900" kern="1200" err="1">
                <a:solidFill>
                  <a:schemeClr val="lt1"/>
                </a:solidFill>
                <a:effectLst/>
                <a:latin typeface="+mn-lt"/>
                <a:ea typeface="+mn-ea"/>
                <a:cs typeface="+mn-cs"/>
              </a:rPr>
              <a:t>heritage</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deep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industry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expertise</a:t>
            </a:r>
            <a:r>
              <a:rPr lang="es-ES" sz="900" kern="1200">
                <a:solidFill>
                  <a:schemeClr val="lt1"/>
                </a:solidFill>
                <a:effectLst/>
                <a:latin typeface="+mn-lt"/>
                <a:ea typeface="+mn-ea"/>
                <a:cs typeface="+mn-cs"/>
              </a:rPr>
              <a:t>, Capgemini </a:t>
            </a:r>
            <a:r>
              <a:rPr lang="es-ES" sz="900" kern="1200" err="1">
                <a:solidFill>
                  <a:schemeClr val="lt1"/>
                </a:solidFill>
                <a:effectLst/>
                <a:latin typeface="+mn-lt"/>
                <a:ea typeface="+mn-ea"/>
                <a:cs typeface="+mn-cs"/>
              </a:rPr>
              <a:t>is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trusted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its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clients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address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entire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breadth</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their</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business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needs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from</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strategy</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design</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to</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operations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fueled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by</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fast</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evolving</a:t>
            </a:r>
            <a:r>
              <a:rPr lang="es-ES" sz="900" kern="1200">
                <a:solidFill>
                  <a:schemeClr val="lt1"/>
                </a:solidFill>
                <a:effectLst/>
                <a:latin typeface="+mn-lt"/>
                <a:ea typeface="+mn-ea"/>
                <a:cs typeface="+mn-cs"/>
              </a:rPr>
              <a:t> and innovative </a:t>
            </a:r>
            <a:r>
              <a:rPr lang="es-ES" sz="900" kern="1200" err="1">
                <a:solidFill>
                  <a:schemeClr val="lt1"/>
                </a:solidFill>
                <a:effectLst/>
                <a:latin typeface="+mn-lt"/>
                <a:ea typeface="+mn-ea"/>
                <a:cs typeface="+mn-cs"/>
              </a:rPr>
              <a:t>world</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cloud</a:t>
            </a:r>
            <a:r>
              <a:rPr lang="es-ES" sz="900" kern="1200">
                <a:solidFill>
                  <a:schemeClr val="lt1"/>
                </a:solidFill>
                <a:effectLst/>
                <a:latin typeface="+mn-lt"/>
                <a:ea typeface="+mn-ea"/>
                <a:cs typeface="+mn-cs"/>
              </a:rPr>
              <a:t>, data, AI, </a:t>
            </a:r>
            <a:r>
              <a:rPr lang="es-ES" sz="900" kern="1200" err="1">
                <a:solidFill>
                  <a:schemeClr val="lt1"/>
                </a:solidFill>
                <a:effectLst/>
                <a:latin typeface="+mn-lt"/>
                <a:ea typeface="+mn-ea"/>
                <a:cs typeface="+mn-cs"/>
              </a:rPr>
              <a:t>connectivity</a:t>
            </a:r>
            <a:r>
              <a:rPr lang="es-ES" sz="900" kern="1200">
                <a:solidFill>
                  <a:schemeClr val="lt1"/>
                </a:solidFill>
                <a:effectLst/>
                <a:latin typeface="+mn-lt"/>
                <a:ea typeface="+mn-ea"/>
                <a:cs typeface="+mn-cs"/>
              </a:rPr>
              <a:t>, software, digital </a:t>
            </a:r>
            <a:r>
              <a:rPr lang="es-ES" sz="900" kern="1200" err="1">
                <a:solidFill>
                  <a:schemeClr val="lt1"/>
                </a:solidFill>
                <a:effectLst/>
                <a:latin typeface="+mn-lt"/>
                <a:ea typeface="+mn-ea"/>
                <a:cs typeface="+mn-cs"/>
              </a:rPr>
              <a:t>engineering</a:t>
            </a:r>
            <a:r>
              <a:rPr lang="es-ES" sz="900" kern="1200">
                <a:solidFill>
                  <a:schemeClr val="lt1"/>
                </a:solidFill>
                <a:effectLst/>
                <a:latin typeface="+mn-lt"/>
                <a:ea typeface="+mn-ea"/>
                <a:cs typeface="+mn-cs"/>
              </a:rPr>
              <a:t>, and </a:t>
            </a:r>
            <a:r>
              <a:rPr lang="es-ES" sz="900" kern="1200" err="1">
                <a:solidFill>
                  <a:schemeClr val="lt1"/>
                </a:solidFill>
                <a:effectLst/>
                <a:latin typeface="+mn-lt"/>
                <a:ea typeface="+mn-ea"/>
                <a:cs typeface="+mn-cs"/>
              </a:rPr>
              <a:t>platforms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The</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Group</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reported</a:t>
            </a:r>
            <a:r>
              <a:rPr lang="es-ES" sz="900" kern="1200">
                <a:solidFill>
                  <a:schemeClr val="lt1"/>
                </a:solidFill>
                <a:effectLst/>
                <a:latin typeface="+mn-lt"/>
                <a:ea typeface="+mn-ea"/>
                <a:cs typeface="+mn-cs"/>
              </a:rPr>
              <a:t> in 2020 global </a:t>
            </a:r>
            <a:r>
              <a:rPr lang="es-ES" sz="900" kern="1200" err="1">
                <a:solidFill>
                  <a:schemeClr val="lt1"/>
                </a:solidFill>
                <a:effectLst/>
                <a:latin typeface="+mn-lt"/>
                <a:ea typeface="+mn-ea"/>
                <a:cs typeface="+mn-cs"/>
              </a:rPr>
              <a:t>revenues</a:t>
            </a:r>
            <a:r>
              <a:rPr lang="es-ES" sz="900" kern="1200">
                <a:solidFill>
                  <a:schemeClr val="lt1"/>
                </a:solidFill>
                <a:effectLst/>
                <a:latin typeface="+mn-lt"/>
                <a:ea typeface="+mn-ea"/>
                <a:cs typeface="+mn-cs"/>
              </a:rPr>
              <a:t> </a:t>
            </a:r>
            <a:r>
              <a:rPr lang="es-ES" sz="900" kern="1200" err="1">
                <a:solidFill>
                  <a:schemeClr val="lt1"/>
                </a:solidFill>
                <a:effectLst/>
                <a:latin typeface="+mn-lt"/>
                <a:ea typeface="+mn-ea"/>
                <a:cs typeface="+mn-cs"/>
              </a:rPr>
              <a:t>of</a:t>
            </a:r>
            <a:r>
              <a:rPr lang="es-ES" sz="900" kern="1200">
                <a:solidFill>
                  <a:schemeClr val="lt1"/>
                </a:solidFill>
                <a:effectLst/>
                <a:latin typeface="+mn-lt"/>
                <a:ea typeface="+mn-ea"/>
                <a:cs typeface="+mn-cs"/>
              </a:rPr>
              <a:t> €16 </a:t>
            </a:r>
            <a:r>
              <a:rPr lang="es-ES" sz="900" kern="1200" err="1">
                <a:solidFill>
                  <a:schemeClr val="lt1"/>
                </a:solidFill>
                <a:effectLst/>
                <a:latin typeface="+mn-lt"/>
                <a:ea typeface="+mn-ea"/>
                <a:cs typeface="+mn-cs"/>
              </a:rPr>
              <a:t>billion</a:t>
            </a:r>
            <a:r>
              <a:rPr lang="es-ES" sz="900" kern="1200">
                <a:solidFill>
                  <a:schemeClr val="lt1"/>
                </a:solidFill>
                <a:effectLst/>
                <a:latin typeface="+mn-lt"/>
                <a:ea typeface="+mn-ea"/>
                <a:cs typeface="+mn-cs"/>
              </a:rPr>
              <a:t>.</a:t>
            </a: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nSpc>
                <a:spcPts val="2000"/>
              </a:lnSpc>
            </a:pPr>
            <a:r>
              <a:rPr lang="es-ES" sz="1400" err="1">
                <a:solidFill>
                  <a:schemeClr val="bg1"/>
                </a:solidFill>
                <a:latin typeface="Ubuntu" panose="020B0504030602030204" pitchFamily="34" charset="0"/>
              </a:rPr>
              <a:t>About</a:t>
            </a:r>
            <a:r>
              <a:rPr lang="es-ES" sz="1400">
                <a:solidFill>
                  <a:schemeClr val="bg1"/>
                </a:solidFill>
                <a:latin typeface="Ubuntu" panose="020B0504030602030204" pitchFamily="34" charset="0"/>
              </a:rPr>
              <a:t> Capgemini </a:t>
            </a:r>
            <a:r>
              <a:rPr lang="es-ES" sz="1400" err="1">
                <a:solidFill>
                  <a:schemeClr val="bg1"/>
                </a:solidFill>
                <a:latin typeface="Ubuntu" panose="020B0504030602030204" pitchFamily="34" charset="0"/>
              </a:rPr>
              <a:t>Invent</a:t>
            </a:r>
            <a:endParaRPr lang="es-ES" sz="1400">
              <a:solidFill>
                <a:schemeClr val="bg1"/>
              </a:solidFill>
              <a:latin typeface="Ubuntu" panose="020B0504030602030204" pitchFamily="34" charset="0"/>
            </a:endParaRP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ts val="1200"/>
              </a:lnSpc>
              <a:spcBef>
                <a:spcPts val="0"/>
              </a:spcBef>
              <a:spcAft>
                <a:spcPts val="0"/>
              </a:spcAft>
              <a:buClrTx/>
              <a:buSzTx/>
              <a:buFontTx/>
              <a:buNone/>
              <a:tabLst/>
              <a:defRPr/>
            </a:pPr>
            <a:r>
              <a:rPr lang="es-ES" sz="900" err="1">
                <a:solidFill>
                  <a:schemeClr val="bg1"/>
                </a:solidFill>
                <a:effectLst/>
                <a:latin typeface="Ubuntu" panose="020B0504030602030204" pitchFamily="34" charset="0"/>
              </a:rPr>
              <a:t>Get</a:t>
            </a:r>
            <a:r>
              <a:rPr lang="es-ES" sz="900">
                <a:solidFill>
                  <a:schemeClr val="bg1"/>
                </a:solidFill>
                <a:effectLst/>
                <a:latin typeface="Ubuntu" panose="020B0504030602030204" pitchFamily="34" charset="0"/>
              </a:rPr>
              <a:t> </a:t>
            </a:r>
            <a:r>
              <a:rPr lang="es-ES" sz="900" err="1">
                <a:solidFill>
                  <a:schemeClr val="bg1"/>
                </a:solidFill>
                <a:effectLst/>
                <a:latin typeface="Ubuntu" panose="020B0504030602030204" pitchFamily="34" charset="0"/>
              </a:rPr>
              <a:t>The</a:t>
            </a:r>
            <a:r>
              <a:rPr lang="es-ES" sz="900">
                <a:solidFill>
                  <a:schemeClr val="bg1"/>
                </a:solidFill>
                <a:effectLst/>
                <a:latin typeface="Ubuntu" panose="020B0504030602030204" pitchFamily="34" charset="0"/>
              </a:rPr>
              <a:t> Future </a:t>
            </a:r>
            <a:r>
              <a:rPr lang="es-ES" sz="900" err="1">
                <a:solidFill>
                  <a:schemeClr val="bg1"/>
                </a:solidFill>
                <a:effectLst/>
                <a:latin typeface="Ubuntu" panose="020B0504030602030204" pitchFamily="34" charset="0"/>
              </a:rPr>
              <a:t>You</a:t>
            </a:r>
            <a:r>
              <a:rPr lang="es-ES" sz="900">
                <a:solidFill>
                  <a:schemeClr val="bg1"/>
                </a:solidFill>
                <a:effectLst/>
                <a:latin typeface="Ubuntu" panose="020B0504030602030204" pitchFamily="34" charset="0"/>
              </a:rPr>
              <a:t> </a:t>
            </a:r>
            <a:r>
              <a:rPr lang="es-ES" sz="900" err="1">
                <a:solidFill>
                  <a:schemeClr val="bg1"/>
                </a:solidFill>
                <a:effectLst/>
                <a:latin typeface="Ubuntu" panose="020B0504030602030204" pitchFamily="34" charset="0"/>
              </a:rPr>
              <a:t>Want</a:t>
            </a:r>
            <a:r>
              <a:rPr lang="es-ES" sz="900">
                <a:solidFill>
                  <a:schemeClr val="bg1"/>
                </a:solidFill>
                <a:effectLst/>
                <a:latin typeface="Ubuntu" panose="020B0504030602030204" pitchFamily="34" charset="0"/>
              </a:rPr>
              <a:t> | </a:t>
            </a:r>
            <a:r>
              <a:rPr lang="es-ES" sz="105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grpSp>
        <p:nvGrpSpPr>
          <p:cNvPr id="22" name="Group 21">
            <a:extLst>
              <a:ext uri="{FF2B5EF4-FFF2-40B4-BE49-F238E27FC236}">
                <a16:creationId xmlns:a16="http://schemas.microsoft.com/office/drawing/2014/main" id="{7104071F-EAB2-4DB8-853B-B72B38D866DC}"/>
              </a:ext>
            </a:extLst>
          </p:cNvPr>
          <p:cNvGrpSpPr/>
          <p:nvPr/>
        </p:nvGrpSpPr>
        <p:grpSpPr>
          <a:xfrm>
            <a:off x="464334" y="5214282"/>
            <a:ext cx="1866702" cy="333195"/>
            <a:chOff x="426720" y="4976083"/>
            <a:chExt cx="1866702" cy="333195"/>
          </a:xfrm>
        </p:grpSpPr>
        <p:pic>
          <p:nvPicPr>
            <p:cNvPr id="24" name="Picture 2">
              <a:hlinkClick r:id="rId4"/>
              <a:extLst>
                <a:ext uri="{FF2B5EF4-FFF2-40B4-BE49-F238E27FC236}">
                  <a16:creationId xmlns:a16="http://schemas.microsoft.com/office/drawing/2014/main" id="{F994E339-CD91-451A-8F50-174559915C56}"/>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25" name="Picture 4">
              <a:hlinkClick r:id="rId6"/>
              <a:extLst>
                <a:ext uri="{FF2B5EF4-FFF2-40B4-BE49-F238E27FC236}">
                  <a16:creationId xmlns:a16="http://schemas.microsoft.com/office/drawing/2014/main" id="{3CF14C60-31ED-4659-A889-597070DD6DC7}"/>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6" name="Picture 5">
              <a:hlinkClick r:id="rId8"/>
              <a:extLst>
                <a:ext uri="{FF2B5EF4-FFF2-40B4-BE49-F238E27FC236}">
                  <a16:creationId xmlns:a16="http://schemas.microsoft.com/office/drawing/2014/main" id="{9E6C6A59-C94E-4D60-81D7-689D96240FBB}"/>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8" name="Picture 6">
              <a:hlinkClick r:id="rId10"/>
              <a:extLst>
                <a:ext uri="{FF2B5EF4-FFF2-40B4-BE49-F238E27FC236}">
                  <a16:creationId xmlns:a16="http://schemas.microsoft.com/office/drawing/2014/main" id="{A3A352BB-4265-4977-B13F-A325E74AEB70}"/>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9" name="Picture 7">
              <a:hlinkClick r:id="rId12"/>
              <a:extLst>
                <a:ext uri="{FF2B5EF4-FFF2-40B4-BE49-F238E27FC236}">
                  <a16:creationId xmlns:a16="http://schemas.microsoft.com/office/drawing/2014/main" id="{D204BDE8-ACD1-4764-8D8A-43B06E669DEF}"/>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Tree>
    <p:extLst>
      <p:ext uri="{BB962C8B-B14F-4D97-AF65-F5344CB8AC3E}">
        <p14:creationId xmlns:p14="http://schemas.microsoft.com/office/powerpoint/2010/main" val="2955088613"/>
      </p:ext>
    </p:extLst>
  </p:cSld>
  <p:clrMapOvr>
    <a:masterClrMapping/>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930750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EB016D-CF9A-4584-982E-40465F70132F}"/>
              </a:ext>
            </a:extLst>
          </p:cNvPr>
          <p:cNvSpPr>
            <a:spLocks noGrp="1"/>
          </p:cNvSpPr>
          <p:nvPr>
            <p:ph type="title" hasCustomPrompt="1"/>
          </p:nvPr>
        </p:nvSpPr>
        <p:spPr>
          <a:xfrm>
            <a:off x="550862" y="549274"/>
            <a:ext cx="10690357" cy="576263"/>
          </a:xfrm>
          <a:prstGeom prst="rect">
            <a:avLst/>
          </a:prstGeom>
        </p:spPr>
        <p:txBody>
          <a:bodyPr vert="horz" lIns="0" tIns="0" rIns="0" bIns="0" rtlCol="0" anchor="t">
            <a:noAutofit/>
          </a:bodyPr>
          <a:lstStyle>
            <a:lvl1pPr>
              <a:defRPr sz="2400"/>
            </a:lvl1pPr>
          </a:lstStyle>
          <a:p>
            <a:pPr lvl="0">
              <a:lnSpc>
                <a:spcPts val="3000"/>
              </a:lnSpc>
            </a:pPr>
            <a:r>
              <a:rPr lang="en-US"/>
              <a:t>CLICK TO EDIT MASTER TITLE STYLE</a:t>
            </a:r>
            <a:endParaRPr lang="pt-PT"/>
          </a:p>
        </p:txBody>
      </p:sp>
    </p:spTree>
    <p:extLst>
      <p:ext uri="{BB962C8B-B14F-4D97-AF65-F5344CB8AC3E}">
        <p14:creationId xmlns:p14="http://schemas.microsoft.com/office/powerpoint/2010/main" val="74104666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371298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image" Target="../media/image1.png"/><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image" Target="../media/image12.emf"/><Relationship Id="rId5" Type="http://schemas.openxmlformats.org/officeDocument/2006/relationships/slideLayout" Target="../slideLayouts/slideLayout63.xml"/><Relationship Id="rId10" Type="http://schemas.openxmlformats.org/officeDocument/2006/relationships/oleObject" Target="../embeddings/oleObject2.bin"/><Relationship Id="rId4" Type="http://schemas.openxmlformats.org/officeDocument/2006/relationships/slideLayout" Target="../slideLayouts/slideLayout62.xml"/><Relationship Id="rId9"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oleObject" Target="../embeddings/oleObject2.bin"/><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tags" Target="../tags/tag4.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theme" Target="../theme/theme3.xml"/><Relationship Id="rId5" Type="http://schemas.openxmlformats.org/officeDocument/2006/relationships/slideLayout" Target="../slideLayouts/slideLayout70.xml"/><Relationship Id="rId15" Type="http://schemas.openxmlformats.org/officeDocument/2006/relationships/image" Target="../media/image1.png"/><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image" Target="../media/image1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60"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dirty="0"/>
              <a:t>Enter </a:t>
            </a:r>
            <a:r>
              <a:rPr lang="fr-FR" dirty="0" err="1"/>
              <a:t>your</a:t>
            </a:r>
            <a:r>
              <a:rPr lang="fr-FR" dirty="0"/>
              <a:t> contents</a:t>
            </a:r>
          </a:p>
          <a:p>
            <a:pPr lvl="1"/>
            <a:r>
              <a:rPr lang="fr-FR" dirty="0"/>
              <a:t>Second </a:t>
            </a:r>
            <a:r>
              <a:rPr lang="fr-FR" dirty="0" err="1"/>
              <a:t>level</a:t>
            </a:r>
            <a:endParaRPr lang="fr-FR" dirty="0"/>
          </a:p>
          <a:p>
            <a:pPr lvl="2"/>
            <a:r>
              <a:rPr lang="fr-FR" dirty="0"/>
              <a:t>Third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en-US" dirty="0"/>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 Capgemini |</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Public © Capgemini 2025.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719133398"/>
      </p:ext>
    </p:extLst>
  </p:cSld>
  <p:clrMap bg1="lt1" tx1="dk1" bg2="lt2" tx2="dk2" accent1="accent1" accent2="accent2" accent3="accent3" accent4="accent4" accent5="accent5" accent6="accent6" hlink="hlink" folHlink="folHlink"/>
  <p:sldLayoutIdLst>
    <p:sldLayoutId id="2147484199" r:id="rId1"/>
    <p:sldLayoutId id="2147484177" r:id="rId2"/>
    <p:sldLayoutId id="2147484198" r:id="rId3"/>
    <p:sldLayoutId id="2147484184" r:id="rId4"/>
    <p:sldLayoutId id="2147484185" r:id="rId5"/>
    <p:sldLayoutId id="2147484186" r:id="rId6"/>
    <p:sldLayoutId id="2147484187" r:id="rId7"/>
    <p:sldLayoutId id="2147484158" r:id="rId8"/>
    <p:sldLayoutId id="2147484165" r:id="rId9"/>
    <p:sldLayoutId id="2147484119" r:id="rId10"/>
    <p:sldLayoutId id="2147484226" r:id="rId11"/>
    <p:sldLayoutId id="2147484169" r:id="rId12"/>
    <p:sldLayoutId id="2147484179" r:id="rId13"/>
    <p:sldLayoutId id="2147484180" r:id="rId14"/>
    <p:sldLayoutId id="2147484181" r:id="rId15"/>
    <p:sldLayoutId id="2147484194" r:id="rId16"/>
    <p:sldLayoutId id="2147484159" r:id="rId17"/>
    <p:sldLayoutId id="2147484124" r:id="rId18"/>
    <p:sldLayoutId id="2147484225" r:id="rId19"/>
    <p:sldLayoutId id="2147484229" r:id="rId20"/>
    <p:sldLayoutId id="2147484125" r:id="rId21"/>
    <p:sldLayoutId id="2147484126" r:id="rId22"/>
    <p:sldLayoutId id="2147484127" r:id="rId23"/>
    <p:sldLayoutId id="2147484128" r:id="rId24"/>
    <p:sldLayoutId id="2147484129" r:id="rId25"/>
    <p:sldLayoutId id="2147484227" r:id="rId26"/>
    <p:sldLayoutId id="2147484228" r:id="rId27"/>
    <p:sldLayoutId id="2147484130" r:id="rId28"/>
    <p:sldLayoutId id="2147484131" r:id="rId29"/>
    <p:sldLayoutId id="2147484132" r:id="rId30"/>
    <p:sldLayoutId id="2147484133" r:id="rId31"/>
    <p:sldLayoutId id="2147484134" r:id="rId32"/>
    <p:sldLayoutId id="2147484135" r:id="rId33"/>
    <p:sldLayoutId id="2147484218" r:id="rId34"/>
    <p:sldLayoutId id="2147484136" r:id="rId35"/>
    <p:sldLayoutId id="2147484137" r:id="rId36"/>
    <p:sldLayoutId id="2147484138" r:id="rId37"/>
    <p:sldLayoutId id="2147484219" r:id="rId38"/>
    <p:sldLayoutId id="2147484143" r:id="rId39"/>
    <p:sldLayoutId id="2147484145" r:id="rId40"/>
    <p:sldLayoutId id="2147484197" r:id="rId41"/>
    <p:sldLayoutId id="2147484139" r:id="rId42"/>
    <p:sldLayoutId id="2147484140" r:id="rId43"/>
    <p:sldLayoutId id="2147484141" r:id="rId44"/>
    <p:sldLayoutId id="2147484142" r:id="rId45"/>
    <p:sldLayoutId id="2147484216" r:id="rId46"/>
    <p:sldLayoutId id="2147484195" r:id="rId47"/>
    <p:sldLayoutId id="2147484144" r:id="rId48"/>
    <p:sldLayoutId id="2147484220" r:id="rId49"/>
    <p:sldLayoutId id="2147484221" r:id="rId50"/>
    <p:sldLayoutId id="2147484222" r:id="rId51"/>
    <p:sldLayoutId id="2147484223" r:id="rId52"/>
    <p:sldLayoutId id="2147484224" r:id="rId53"/>
    <p:sldLayoutId id="2147484215" r:id="rId54"/>
    <p:sldLayoutId id="2147484217" r:id="rId55"/>
    <p:sldLayoutId id="2147484156" r:id="rId56"/>
    <p:sldLayoutId id="2147484230" r:id="rId57"/>
    <p:sldLayoutId id="2147484231" r:id="rId58"/>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userDrawn="1">
          <p15:clr>
            <a:srgbClr val="F26B43"/>
          </p15:clr>
        </p15:guide>
        <p15:guide id="19" orient="horz" pos="4320" userDrawn="1">
          <p15:clr>
            <a:srgbClr val="F26B43"/>
          </p15:clr>
        </p15:guide>
        <p15:guide id="20" pos="257" userDrawn="1">
          <p15:clr>
            <a:srgbClr val="F26B43"/>
          </p15:clr>
        </p15:guide>
        <p15:guide id="21" pos="3840">
          <p15:clr>
            <a:srgbClr val="F26B43"/>
          </p15:clr>
        </p15:guide>
        <p15:guide id="22" pos="7423" userDrawn="1">
          <p15:clr>
            <a:srgbClr val="F26B43"/>
          </p15:clr>
        </p15:guide>
        <p15:guide id="23" orient="horz" pos="255" userDrawn="1">
          <p15:clr>
            <a:srgbClr val="F26B43"/>
          </p15:clr>
        </p15:guide>
        <p15:guide id="24" orient="horz" pos="1026">
          <p15:clr>
            <a:srgbClr val="F26B43"/>
          </p15:clr>
        </p15:guide>
        <p15:guide id="26" orient="horz" pos="4065" userDrawn="1">
          <p15:clr>
            <a:srgbClr val="F26B43"/>
          </p15:clr>
        </p15:guide>
        <p15:guide id="27" orient="horz" pos="89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21F00A5-885D-A238-0776-5A6E156E8754}"/>
              </a:ext>
            </a:extLst>
          </p:cNvPr>
          <p:cNvGraphicFramePr>
            <a:graphicFrameLocks noChangeAspect="1"/>
          </p:cNvGraphicFramePr>
          <p:nvPr>
            <p:custDataLst>
              <p:tags r:id="rId9"/>
            </p:custDataLst>
            <p:extLst>
              <p:ext uri="{D42A27DB-BD31-4B8C-83A1-F6EECF244321}">
                <p14:modId xmlns:p14="http://schemas.microsoft.com/office/powerpoint/2010/main" val="23056701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6" progId="TCLayout.ActiveDocument.1">
                  <p:embed/>
                </p:oleObj>
              </mc:Choice>
              <mc:Fallback>
                <p:oleObj name="think-cell Slide" r:id="rId10" imgW="395" imgH="396" progId="TCLayout.ActiveDocument.1">
                  <p:embed/>
                  <p:pic>
                    <p:nvPicPr>
                      <p:cNvPr id="7" name="think-cell data - do not delete" hidden="1">
                        <a:extLst>
                          <a:ext uri="{FF2B5EF4-FFF2-40B4-BE49-F238E27FC236}">
                            <a16:creationId xmlns:a16="http://schemas.microsoft.com/office/drawing/2014/main" id="{D21F00A5-885D-A238-0776-5A6E156E8754}"/>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3" name="Holder 3"/>
          <p:cNvSpPr>
            <a:spLocks noGrp="1"/>
          </p:cNvSpPr>
          <p:nvPr>
            <p:ph type="body" idx="1"/>
          </p:nvPr>
        </p:nvSpPr>
        <p:spPr>
          <a:xfrm>
            <a:off x="880485" y="1070034"/>
            <a:ext cx="1043102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8693894" y="6522256"/>
            <a:ext cx="2523120" cy="107722"/>
          </a:xfrm>
          <a:prstGeom prst="rect">
            <a:avLst/>
          </a:prstGeom>
        </p:spPr>
        <p:txBody>
          <a:bodyPr wrap="square" lIns="0" tIns="0" rIns="0" bIns="0">
            <a:spAutoFit/>
          </a:bodyPr>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6" name="Holder 6"/>
          <p:cNvSpPr>
            <a:spLocks noGrp="1"/>
          </p:cNvSpPr>
          <p:nvPr>
            <p:ph type="sldNum" sz="quarter" idx="7"/>
          </p:nvPr>
        </p:nvSpPr>
        <p:spPr>
          <a:xfrm>
            <a:off x="11580185" y="6515221"/>
            <a:ext cx="195627" cy="270587"/>
          </a:xfrm>
          <a:prstGeom prst="rect">
            <a:avLst/>
          </a:prstGeom>
        </p:spPr>
        <p:txBody>
          <a:bodyPr wrap="square" lIns="0" tIns="0" rIns="0" bIns="0">
            <a:spAutoFit/>
          </a:bodyPr>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pic>
        <p:nvPicPr>
          <p:cNvPr id="11" name="GRID" hidden="1">
            <a:extLst>
              <a:ext uri="{FF2B5EF4-FFF2-40B4-BE49-F238E27FC236}">
                <a16:creationId xmlns:a16="http://schemas.microsoft.com/office/drawing/2014/main" id="{EDFBB05D-3F06-34D5-496C-49B9F4166FD9}"/>
              </a:ext>
            </a:extLst>
          </p:cNvPr>
          <p:cNvPicPr/>
          <p:nvPr userDrawn="1"/>
        </p:nvPicPr>
        <p:blipFill>
          <a:blip r:embed="rId12"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grpSp>
        <p:nvGrpSpPr>
          <p:cNvPr id="13" name="Groupe 1">
            <a:extLst>
              <a:ext uri="{FF2B5EF4-FFF2-40B4-BE49-F238E27FC236}">
                <a16:creationId xmlns:a16="http://schemas.microsoft.com/office/drawing/2014/main" id="{AE5B12C5-4453-1B15-CC08-F1224D873170}"/>
              </a:ext>
            </a:extLst>
          </p:cNvPr>
          <p:cNvGrpSpPr/>
          <p:nvPr userDrawn="1"/>
        </p:nvGrpSpPr>
        <p:grpSpPr>
          <a:xfrm>
            <a:off x="11501102" y="183685"/>
            <a:ext cx="419436" cy="388988"/>
            <a:chOff x="11501102" y="171573"/>
            <a:chExt cx="419436" cy="388988"/>
          </a:xfrm>
        </p:grpSpPr>
        <p:sp>
          <p:nvSpPr>
            <p:cNvPr id="14" name="Freeform 13">
              <a:extLst>
                <a:ext uri="{FF2B5EF4-FFF2-40B4-BE49-F238E27FC236}">
                  <a16:creationId xmlns:a16="http://schemas.microsoft.com/office/drawing/2014/main" id="{4DC3733E-30F7-96D6-052E-A067EA64175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5" name="Freeform 14">
              <a:extLst>
                <a:ext uri="{FF2B5EF4-FFF2-40B4-BE49-F238E27FC236}">
                  <a16:creationId xmlns:a16="http://schemas.microsoft.com/office/drawing/2014/main" id="{E6CA59D8-1606-BC4F-3027-3E40943BFA50}"/>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7" name="Stickerbox" hidden="1">
            <a:extLst>
              <a:ext uri="{FF2B5EF4-FFF2-40B4-BE49-F238E27FC236}">
                <a16:creationId xmlns:a16="http://schemas.microsoft.com/office/drawing/2014/main" id="{DB189615-B50B-25F3-56F1-EE16273B3D6F}"/>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18" name="CapgeminiBox" hidden="1">
            <a:extLst>
              <a:ext uri="{FF2B5EF4-FFF2-40B4-BE49-F238E27FC236}">
                <a16:creationId xmlns:a16="http://schemas.microsoft.com/office/drawing/2014/main" id="{DB29DC05-9C45-F4DE-5DCC-579EC3831463}"/>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19" name="FootnoteAndSource" hidden="1">
            <a:extLst>
              <a:ext uri="{FF2B5EF4-FFF2-40B4-BE49-F238E27FC236}">
                <a16:creationId xmlns:a16="http://schemas.microsoft.com/office/drawing/2014/main" id="{90AC5749-63B5-B4DF-8B1F-189E585FD6CF}"/>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20" name="Rectangle 27">
            <a:extLst>
              <a:ext uri="{FF2B5EF4-FFF2-40B4-BE49-F238E27FC236}">
                <a16:creationId xmlns:a16="http://schemas.microsoft.com/office/drawing/2014/main" id="{7E28F00F-3F59-03C8-4101-2927E5D9ED72}"/>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 Capgemini |</a:t>
            </a:r>
          </a:p>
        </p:txBody>
      </p:sp>
      <p:sp>
        <p:nvSpPr>
          <p:cNvPr id="21" name="Rectangle 27">
            <a:extLst>
              <a:ext uri="{FF2B5EF4-FFF2-40B4-BE49-F238E27FC236}">
                <a16:creationId xmlns:a16="http://schemas.microsoft.com/office/drawing/2014/main" id="{5635DBA0-C7B6-1207-630D-343193D82C68}"/>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Public © Capgemini 2025. All rights reserved  |</a:t>
            </a:r>
          </a:p>
        </p:txBody>
      </p:sp>
      <p:sp>
        <p:nvSpPr>
          <p:cNvPr id="22" name="Rectangle 43">
            <a:extLst>
              <a:ext uri="{FF2B5EF4-FFF2-40B4-BE49-F238E27FC236}">
                <a16:creationId xmlns:a16="http://schemas.microsoft.com/office/drawing/2014/main" id="{45B78423-8324-4A7C-74B3-4ECBAE1E67BD}"/>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496660177"/>
      </p:ext>
    </p:extLst>
  </p:cSld>
  <p:clrMap bg1="lt1" tx1="dk1" bg2="lt2" tx2="dk2" accent1="accent1" accent2="accent2" accent3="accent3" accent4="accent4" accent5="accent5" accent6="accent6" hlink="hlink" folHlink="folHlink"/>
  <p:sldLayoutIdLst>
    <p:sldLayoutId id="2147484233" r:id="rId1"/>
    <p:sldLayoutId id="2147484234" r:id="rId2"/>
    <p:sldLayoutId id="2147484235" r:id="rId3"/>
    <p:sldLayoutId id="2147484236" r:id="rId4"/>
    <p:sldLayoutId id="2147484237" r:id="rId5"/>
    <p:sldLayoutId id="2147484239" r:id="rId6"/>
    <p:sldLayoutId id="2147484240" r:id="rId7"/>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63" userDrawn="1">
          <p15:clr>
            <a:srgbClr val="F26B43"/>
          </p15:clr>
        </p15:guide>
        <p15:guide id="4" orient="horz" pos="4320" userDrawn="1">
          <p15:clr>
            <a:srgbClr val="F26B43"/>
          </p15:clr>
        </p15:guide>
        <p15:guide id="5" pos="257" userDrawn="1">
          <p15:clr>
            <a:srgbClr val="F26B43"/>
          </p15:clr>
        </p15:guide>
        <p15:guide id="6" pos="7423" userDrawn="1">
          <p15:clr>
            <a:srgbClr val="F26B43"/>
          </p15:clr>
        </p15:guide>
        <p15:guide id="7" orient="horz" pos="255" userDrawn="1">
          <p15:clr>
            <a:srgbClr val="F26B43"/>
          </p15:clr>
        </p15:guide>
        <p15:guide id="8" orient="horz" pos="4065" userDrawn="1">
          <p15:clr>
            <a:srgbClr val="F26B43"/>
          </p15:clr>
        </p15:guide>
        <p15:guide id="9" orient="horz" pos="89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21F00A5-885D-A238-0776-5A6E156E8754}"/>
              </a:ext>
            </a:extLst>
          </p:cNvPr>
          <p:cNvGraphicFramePr>
            <a:graphicFrameLocks noChangeAspect="1"/>
          </p:cNvGraphicFramePr>
          <p:nvPr>
            <p:custDataLst>
              <p:tags r:id="rId12"/>
            </p:custDataLst>
            <p:extLst>
              <p:ext uri="{D42A27DB-BD31-4B8C-83A1-F6EECF244321}">
                <p14:modId xmlns:p14="http://schemas.microsoft.com/office/powerpoint/2010/main" val="23056701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7" name="think-cell data - do not delete" hidden="1">
                        <a:extLst>
                          <a:ext uri="{FF2B5EF4-FFF2-40B4-BE49-F238E27FC236}">
                            <a16:creationId xmlns:a16="http://schemas.microsoft.com/office/drawing/2014/main" id="{D21F00A5-885D-A238-0776-5A6E156E875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000000"/>
          </a:solidFill>
        </p:spPr>
        <p:txBody>
          <a:bodyPr wrap="square" lIns="0" tIns="0" rIns="0" bIns="0" rtlCol="0"/>
          <a:lstStyle/>
          <a:p>
            <a:endParaRPr sz="1092"/>
          </a:p>
        </p:txBody>
      </p:sp>
      <p:sp>
        <p:nvSpPr>
          <p:cNvPr id="3" name="Holder 3"/>
          <p:cNvSpPr>
            <a:spLocks noGrp="1"/>
          </p:cNvSpPr>
          <p:nvPr>
            <p:ph type="body" idx="1"/>
          </p:nvPr>
        </p:nvSpPr>
        <p:spPr>
          <a:xfrm>
            <a:off x="880485" y="1070034"/>
            <a:ext cx="1043102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8693894" y="6522256"/>
            <a:ext cx="2523120" cy="107722"/>
          </a:xfrm>
          <a:prstGeom prst="rect">
            <a:avLst/>
          </a:prstGeom>
        </p:spPr>
        <p:txBody>
          <a:bodyPr wrap="square" lIns="0" tIns="0" rIns="0" bIns="0">
            <a:spAutoFit/>
          </a:bodyPr>
          <a:lstStyle>
            <a:lvl1pPr>
              <a:defRPr sz="788" b="0" i="0">
                <a:solidFill>
                  <a:srgbClr val="A6AAA9"/>
                </a:solidFill>
                <a:latin typeface="Tahoma"/>
                <a:cs typeface="Tahom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6" name="Holder 6"/>
          <p:cNvSpPr>
            <a:spLocks noGrp="1"/>
          </p:cNvSpPr>
          <p:nvPr>
            <p:ph type="sldNum" sz="quarter" idx="7"/>
          </p:nvPr>
        </p:nvSpPr>
        <p:spPr>
          <a:xfrm>
            <a:off x="11580185" y="6515221"/>
            <a:ext cx="195627" cy="270587"/>
          </a:xfrm>
          <a:prstGeom prst="rect">
            <a:avLst/>
          </a:prstGeom>
        </p:spPr>
        <p:txBody>
          <a:bodyPr wrap="square" lIns="0" tIns="0" rIns="0" bIns="0">
            <a:spAutoFit/>
          </a:bodyPr>
          <a:lstStyle>
            <a:lvl1pPr>
              <a:defRPr sz="879" b="0" i="0">
                <a:solidFill>
                  <a:srgbClr val="7F7F7F"/>
                </a:solidFill>
                <a:latin typeface="Tahoma"/>
                <a:cs typeface="Tahoma"/>
              </a:defRPr>
            </a:lvl1pPr>
          </a:lstStyle>
          <a:p>
            <a:pPr marL="23104">
              <a:spcBef>
                <a:spcPts val="42"/>
              </a:spcBef>
            </a:pPr>
            <a:fld id="{81D60167-4931-47E6-BA6A-407CBD079E47}" type="slidenum">
              <a:rPr lang="en-US" spc="24" smtClean="0"/>
              <a:pPr marL="23104">
                <a:spcBef>
                  <a:spcPts val="42"/>
                </a:spcBef>
              </a:pPr>
              <a:t>‹#›</a:t>
            </a:fld>
            <a:r>
              <a:rPr lang="en-US" spc="-194"/>
              <a:t> </a:t>
            </a:r>
          </a:p>
        </p:txBody>
      </p:sp>
      <p:pic>
        <p:nvPicPr>
          <p:cNvPr id="11" name="GRID" hidden="1">
            <a:extLst>
              <a:ext uri="{FF2B5EF4-FFF2-40B4-BE49-F238E27FC236}">
                <a16:creationId xmlns:a16="http://schemas.microsoft.com/office/drawing/2014/main" id="{3936BB86-A9B4-1EBF-3F42-D9867881A19E}"/>
              </a:ext>
            </a:extLst>
          </p:cNvPr>
          <p:cNvPicPr/>
          <p:nvPr userDrawn="1"/>
        </p:nvPicPr>
        <p:blipFill>
          <a:blip r:embed="rId15"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grpSp>
        <p:nvGrpSpPr>
          <p:cNvPr id="13" name="Groupe 1">
            <a:extLst>
              <a:ext uri="{FF2B5EF4-FFF2-40B4-BE49-F238E27FC236}">
                <a16:creationId xmlns:a16="http://schemas.microsoft.com/office/drawing/2014/main" id="{0A0895B5-F982-8861-C721-33F8AFBE183E}"/>
              </a:ext>
            </a:extLst>
          </p:cNvPr>
          <p:cNvGrpSpPr/>
          <p:nvPr userDrawn="1"/>
        </p:nvGrpSpPr>
        <p:grpSpPr>
          <a:xfrm>
            <a:off x="11501102" y="171573"/>
            <a:ext cx="419436" cy="388988"/>
            <a:chOff x="11501102" y="171573"/>
            <a:chExt cx="419436" cy="388988"/>
          </a:xfrm>
        </p:grpSpPr>
        <p:sp>
          <p:nvSpPr>
            <p:cNvPr id="14" name="Freeform 13">
              <a:extLst>
                <a:ext uri="{FF2B5EF4-FFF2-40B4-BE49-F238E27FC236}">
                  <a16:creationId xmlns:a16="http://schemas.microsoft.com/office/drawing/2014/main" id="{CAF296AB-3EBB-8B41-976E-BC59D3C2BCFE}"/>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5" name="Freeform 14">
              <a:extLst>
                <a:ext uri="{FF2B5EF4-FFF2-40B4-BE49-F238E27FC236}">
                  <a16:creationId xmlns:a16="http://schemas.microsoft.com/office/drawing/2014/main" id="{6E125120-392F-5A89-2EF7-4D5BC7B8187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7" name="Stickerbox" hidden="1">
            <a:extLst>
              <a:ext uri="{FF2B5EF4-FFF2-40B4-BE49-F238E27FC236}">
                <a16:creationId xmlns:a16="http://schemas.microsoft.com/office/drawing/2014/main" id="{D32B6ED0-2592-6D09-88EB-1F713B5A9ED9}"/>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18" name="CapgeminiBox" hidden="1">
            <a:extLst>
              <a:ext uri="{FF2B5EF4-FFF2-40B4-BE49-F238E27FC236}">
                <a16:creationId xmlns:a16="http://schemas.microsoft.com/office/drawing/2014/main" id="{B98FF3EC-CAB6-7732-95AE-B5F17C3BBD3F}"/>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19" name="FootnoteAndSource" hidden="1">
            <a:extLst>
              <a:ext uri="{FF2B5EF4-FFF2-40B4-BE49-F238E27FC236}">
                <a16:creationId xmlns:a16="http://schemas.microsoft.com/office/drawing/2014/main" id="{35B9762F-A4A9-C663-DF17-7270097423CC}"/>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20" name="Rectangle 27">
            <a:extLst>
              <a:ext uri="{FF2B5EF4-FFF2-40B4-BE49-F238E27FC236}">
                <a16:creationId xmlns:a16="http://schemas.microsoft.com/office/drawing/2014/main" id="{8BCA600B-0305-C0B1-27F9-AD44ADE4C42B}"/>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 Capgemini |</a:t>
            </a:r>
          </a:p>
        </p:txBody>
      </p:sp>
      <p:sp>
        <p:nvSpPr>
          <p:cNvPr id="21" name="Rectangle 27">
            <a:extLst>
              <a:ext uri="{FF2B5EF4-FFF2-40B4-BE49-F238E27FC236}">
                <a16:creationId xmlns:a16="http://schemas.microsoft.com/office/drawing/2014/main" id="{BAAACB6A-5B4C-6B23-77E3-030F0329B984}"/>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Public © Capgemini 2025. All rights reserved  |</a:t>
            </a:r>
          </a:p>
        </p:txBody>
      </p:sp>
      <p:sp>
        <p:nvSpPr>
          <p:cNvPr id="22" name="Rectangle 43">
            <a:extLst>
              <a:ext uri="{FF2B5EF4-FFF2-40B4-BE49-F238E27FC236}">
                <a16:creationId xmlns:a16="http://schemas.microsoft.com/office/drawing/2014/main" id="{59C0594E-A0E6-3471-27A5-6ED5B68EB08A}"/>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330268736"/>
      </p:ext>
    </p:extLst>
  </p:cSld>
  <p:clrMap bg1="lt1" tx1="dk1" bg2="lt2" tx2="dk2" accent1="accent1" accent2="accent2" accent3="accent3" accent4="accent4" accent5="accent5" accent6="accent6" hlink="hlink" folHlink="folHlink"/>
  <p:sldLayoutIdLst>
    <p:sldLayoutId id="2147484251" r:id="rId1"/>
    <p:sldLayoutId id="2147484252" r:id="rId2"/>
    <p:sldLayoutId id="2147484253" r:id="rId3"/>
    <p:sldLayoutId id="2147484254" r:id="rId4"/>
    <p:sldLayoutId id="2147484255" r:id="rId5"/>
    <p:sldLayoutId id="2147484256" r:id="rId6"/>
    <p:sldLayoutId id="2147484257" r:id="rId7"/>
    <p:sldLayoutId id="2147484258" r:id="rId8"/>
    <p:sldLayoutId id="2147484262" r:id="rId9"/>
    <p:sldLayoutId id="2147484263" r:id="rId10"/>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63" userDrawn="1">
          <p15:clr>
            <a:srgbClr val="F26B43"/>
          </p15:clr>
        </p15:guide>
        <p15:guide id="4" orient="horz" pos="4320" userDrawn="1">
          <p15:clr>
            <a:srgbClr val="F26B43"/>
          </p15:clr>
        </p15:guide>
        <p15:guide id="5" pos="257" userDrawn="1">
          <p15:clr>
            <a:srgbClr val="F26B43"/>
          </p15:clr>
        </p15:guide>
        <p15:guide id="6" pos="7423" userDrawn="1">
          <p15:clr>
            <a:srgbClr val="F26B43"/>
          </p15:clr>
        </p15:guide>
        <p15:guide id="7" orient="horz" pos="255" userDrawn="1">
          <p15:clr>
            <a:srgbClr val="F26B43"/>
          </p15:clr>
        </p15:guide>
        <p15:guide id="8" orient="horz" pos="4065" userDrawn="1">
          <p15:clr>
            <a:srgbClr val="F26B43"/>
          </p15:clr>
        </p15:guide>
        <p15:guide id="9" orient="horz" pos="89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hemeOverride" Target="../theme/themeOverride1.xml"/><Relationship Id="rId5" Type="http://schemas.openxmlformats.org/officeDocument/2006/relationships/image" Target="../media/image23.png"/><Relationship Id="rId4"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3.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hemeOverride" Target="../theme/themeOverride3.xml"/><Relationship Id="rId5" Type="http://schemas.openxmlformats.org/officeDocument/2006/relationships/image" Target="../media/image23.png"/><Relationship Id="rId4" Type="http://schemas.openxmlformats.org/officeDocument/2006/relationships/slideLayout" Target="../slideLayouts/slideLayout6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3.xml"/><Relationship Id="rId1" Type="http://schemas.openxmlformats.org/officeDocument/2006/relationships/themeOverride" Target="../theme/themeOverride4.xml"/><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3.xml"/><Relationship Id="rId1" Type="http://schemas.openxmlformats.org/officeDocument/2006/relationships/themeOverride" Target="../theme/themeOverride5.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3.xml"/><Relationship Id="rId1" Type="http://schemas.openxmlformats.org/officeDocument/2006/relationships/themeOverride" Target="../theme/themeOverride6.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hemeOverride" Target="../theme/themeOverride7.xml"/><Relationship Id="rId5" Type="http://schemas.openxmlformats.org/officeDocument/2006/relationships/image" Target="../media/image23.png"/><Relationship Id="rId4" Type="http://schemas.openxmlformats.org/officeDocument/2006/relationships/slideLayout" Target="../slideLayouts/slideLayout65.xml"/></Relationships>
</file>

<file path=ppt/slides/_rels/slide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2.jpeg"/><Relationship Id="rId2" Type="http://schemas.openxmlformats.org/officeDocument/2006/relationships/image" Target="../media/image26.png"/><Relationship Id="rId1" Type="http://schemas.openxmlformats.org/officeDocument/2006/relationships/slideLayout" Target="../slideLayouts/slideLayout5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7.xml"/><Relationship Id="rId5" Type="http://schemas.openxmlformats.org/officeDocument/2006/relationships/image" Target="../media/image22.jpe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7.xml"/><Relationship Id="rId6" Type="http://schemas.openxmlformats.org/officeDocument/2006/relationships/image" Target="../media/image22.jpe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29.png"/><Relationship Id="rId7" Type="http://schemas.openxmlformats.org/officeDocument/2006/relationships/image" Target="../media/image38.png"/><Relationship Id="rId2" Type="http://schemas.openxmlformats.org/officeDocument/2006/relationships/image" Target="../media/image27.png"/><Relationship Id="rId1" Type="http://schemas.openxmlformats.org/officeDocument/2006/relationships/slideLayout" Target="../slideLayouts/slideLayout5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8.xml"/></Relationships>
</file>

<file path=ppt/slides/_rels/slide17.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hemeOverride" Target="../theme/themeOverride8.xml"/><Relationship Id="rId5" Type="http://schemas.openxmlformats.org/officeDocument/2006/relationships/image" Target="../media/image23.png"/><Relationship Id="rId4" Type="http://schemas.openxmlformats.org/officeDocument/2006/relationships/slideLayout" Target="../slideLayouts/slideLayout6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5.xml"/></Relationships>
</file>

<file path=ppt/slides/_rels/slide20.xml.rels><?xml version="1.0" encoding="UTF-8" standalone="yes"?>
<Relationships xmlns="http://schemas.openxmlformats.org/package/2006/relationships"><Relationship Id="rId3" Type="http://schemas.openxmlformats.org/officeDocument/2006/relationships/hyperlink" Target="https://www.capgemini.com/pt-en/about-us/capgemini-portugal-policies/capgemini-portugal-environmental-policy/" TargetMode="External"/><Relationship Id="rId2" Type="http://schemas.openxmlformats.org/officeDocument/2006/relationships/notesSlide" Target="../notesSlides/notesSlide5.xml"/><Relationship Id="rId1" Type="http://schemas.openxmlformats.org/officeDocument/2006/relationships/slideLayout" Target="../slideLayouts/slideLayout74.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9B698DA-D3F0-EE79-D78B-3D1992A8CF3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FAFF4A6E-5EA3-4AFC-5CFB-EA3306C5E14F}"/>
              </a:ext>
            </a:extLst>
          </p:cNvPr>
          <p:cNvSpPr>
            <a:spLocks noGrp="1"/>
          </p:cNvSpPr>
          <p:nvPr>
            <p:ph type="title"/>
          </p:nvPr>
        </p:nvSpPr>
        <p:spPr/>
        <p:txBody>
          <a:bodyPr/>
          <a:lstStyle/>
          <a:p>
            <a:r>
              <a:rPr lang="en-AU" noProof="0"/>
              <a:t>Agenda</a:t>
            </a:r>
          </a:p>
        </p:txBody>
      </p:sp>
      <p:sp>
        <p:nvSpPr>
          <p:cNvPr id="4" name="Espace réservé du texte 3">
            <a:extLst>
              <a:ext uri="{FF2B5EF4-FFF2-40B4-BE49-F238E27FC236}">
                <a16:creationId xmlns:a16="http://schemas.microsoft.com/office/drawing/2014/main" id="{20168EAB-DD1C-0AB0-6B22-3068D0E09B1B}"/>
              </a:ext>
            </a:extLst>
          </p:cNvPr>
          <p:cNvSpPr>
            <a:spLocks noGrp="1"/>
          </p:cNvSpPr>
          <p:nvPr>
            <p:ph type="body" sz="quarter" idx="12"/>
          </p:nvPr>
        </p:nvSpPr>
        <p:spPr/>
        <p:txBody>
          <a:bodyPr/>
          <a:lstStyle/>
          <a:p>
            <a:r>
              <a:rPr lang="en-AU" noProof="0">
                <a:solidFill>
                  <a:schemeClr val="bg1">
                    <a:lumMod val="65000"/>
                  </a:schemeClr>
                </a:solidFill>
              </a:rPr>
              <a:t>Context and objectives</a:t>
            </a:r>
          </a:p>
          <a:p>
            <a:r>
              <a:rPr lang="en-AU" noProof="0">
                <a:solidFill>
                  <a:schemeClr val="bg1">
                    <a:lumMod val="65000"/>
                  </a:schemeClr>
                </a:solidFill>
              </a:rPr>
              <a:t>Why Capgemini</a:t>
            </a:r>
          </a:p>
          <a:p>
            <a:r>
              <a:rPr lang="en-AU" noProof="0">
                <a:solidFill>
                  <a:schemeClr val="bg1">
                    <a:lumMod val="65000"/>
                  </a:schemeClr>
                </a:solidFill>
              </a:rPr>
              <a:t>Our vision and methodology</a:t>
            </a:r>
          </a:p>
          <a:p>
            <a:r>
              <a:rPr lang="en-AU" b="1" noProof="0"/>
              <a:t>Project plan</a:t>
            </a:r>
          </a:p>
          <a:p>
            <a:r>
              <a:rPr lang="en-AU" noProof="0">
                <a:solidFill>
                  <a:schemeClr val="bg1">
                    <a:lumMod val="65000"/>
                  </a:schemeClr>
                </a:solidFill>
              </a:rPr>
              <a:t>Proposed team and governance model</a:t>
            </a:r>
          </a:p>
          <a:p>
            <a:r>
              <a:rPr lang="en-AU" noProof="0">
                <a:solidFill>
                  <a:schemeClr val="bg1">
                    <a:lumMod val="65000"/>
                  </a:schemeClr>
                </a:solidFill>
              </a:rPr>
              <a:t>Economics</a:t>
            </a:r>
          </a:p>
          <a:p>
            <a:r>
              <a:rPr lang="en-AU" noProof="0">
                <a:solidFill>
                  <a:schemeClr val="bg1">
                    <a:lumMod val="65000"/>
                  </a:schemeClr>
                </a:solidFill>
              </a:rPr>
              <a:t>Credentials</a:t>
            </a:r>
          </a:p>
          <a:p>
            <a:r>
              <a:rPr lang="en-AU">
                <a:solidFill>
                  <a:schemeClr val="bg1">
                    <a:lumMod val="65000"/>
                  </a:schemeClr>
                </a:solidFill>
              </a:rPr>
              <a:t>CVs</a:t>
            </a:r>
            <a:endParaRPr lang="en-AU" noProof="0">
              <a:solidFill>
                <a:schemeClr val="bg1">
                  <a:lumMod val="65000"/>
                </a:schemeClr>
              </a:solidFill>
            </a:endParaRPr>
          </a:p>
        </p:txBody>
      </p:sp>
      <p:grpSp>
        <p:nvGrpSpPr>
          <p:cNvPr id="5" name="Group 12">
            <a:extLst>
              <a:ext uri="{FF2B5EF4-FFF2-40B4-BE49-F238E27FC236}">
                <a16:creationId xmlns:a16="http://schemas.microsoft.com/office/drawing/2014/main" id="{92182CA7-1E57-B30F-083F-0154BC9D470C}"/>
              </a:ext>
              <a:ext uri="{C183D7F6-B498-43B3-948B-1728B52AA6E4}">
                <adec:decorative xmlns:adec="http://schemas.microsoft.com/office/drawing/2017/decorative" val="1"/>
              </a:ext>
            </a:extLst>
          </p:cNvPr>
          <p:cNvGrpSpPr/>
          <p:nvPr/>
        </p:nvGrpSpPr>
        <p:grpSpPr>
          <a:xfrm>
            <a:off x="407988" y="3121174"/>
            <a:ext cx="5399980" cy="432048"/>
            <a:chOff x="407988" y="1844824"/>
            <a:chExt cx="5399980" cy="432048"/>
          </a:xfrm>
        </p:grpSpPr>
        <p:cxnSp>
          <p:nvCxnSpPr>
            <p:cNvPr id="6" name="Straight Connector 9">
              <a:extLst>
                <a:ext uri="{FF2B5EF4-FFF2-40B4-BE49-F238E27FC236}">
                  <a16:creationId xmlns:a16="http://schemas.microsoft.com/office/drawing/2014/main" id="{9D96E443-D7F6-8635-67E3-97EBB2274FC9}"/>
                </a:ext>
              </a:extLst>
            </p:cNvPr>
            <p:cNvCxnSpPr>
              <a:cxnSpLocks/>
            </p:cNvCxnSpPr>
            <p:nvPr>
              <p:custDataLst>
                <p:tags r:id="rId2"/>
              </p:custDataLst>
            </p:nvPr>
          </p:nvCxnSpPr>
          <p:spPr>
            <a:xfrm>
              <a:off x="407988" y="2276872"/>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7" name="Straight Connector 11">
              <a:extLst>
                <a:ext uri="{FF2B5EF4-FFF2-40B4-BE49-F238E27FC236}">
                  <a16:creationId xmlns:a16="http://schemas.microsoft.com/office/drawing/2014/main" id="{52D4C589-4F2F-5BBD-F9F6-9D09308B69F0}"/>
                </a:ext>
              </a:extLst>
            </p:cNvPr>
            <p:cNvCxnSpPr>
              <a:cxnSpLocks/>
            </p:cNvCxnSpPr>
            <p:nvPr>
              <p:custDataLst>
                <p:tags r:id="rId3"/>
              </p:custDataLst>
            </p:nvPr>
          </p:nvCxnSpPr>
          <p:spPr>
            <a:xfrm>
              <a:off x="407988" y="1844824"/>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pSp>
      <p:pic>
        <p:nvPicPr>
          <p:cNvPr id="14" name="Picture 13" descr="A fruit and vegetables in a grocery store&#10;&#10;AI-generated content may be incorrect.">
            <a:extLst>
              <a:ext uri="{FF2B5EF4-FFF2-40B4-BE49-F238E27FC236}">
                <a16:creationId xmlns:a16="http://schemas.microsoft.com/office/drawing/2014/main" id="{B0AF150C-2BBA-8611-4F3C-1DD1D9207DE4}"/>
              </a:ext>
            </a:extLst>
          </p:cNvPr>
          <p:cNvPicPr>
            <a:picLocks noChangeAspect="1"/>
          </p:cNvPicPr>
          <p:nvPr/>
        </p:nvPicPr>
        <p:blipFill>
          <a:blip r:embed="rId5"/>
          <a:srcRect l="19443" r="59004"/>
          <a:stretch>
            <a:fillRect/>
          </a:stretch>
        </p:blipFill>
        <p:spPr>
          <a:xfrm>
            <a:off x="7032107" y="0"/>
            <a:ext cx="5159893" cy="6858000"/>
          </a:xfrm>
          <a:prstGeom prst="rect">
            <a:avLst/>
          </a:prstGeom>
        </p:spPr>
      </p:pic>
    </p:spTree>
    <p:extLst>
      <p:ext uri="{BB962C8B-B14F-4D97-AF65-F5344CB8AC3E}">
        <p14:creationId xmlns:p14="http://schemas.microsoft.com/office/powerpoint/2010/main" val="365008368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A39A787-1E8A-4BD8-C1C6-CAECE502C37C}"/>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62D5E2C9-54E6-3118-4249-B1C58A3343E5}"/>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EBD9AE67-9596-2F16-9D5E-986FEDE69933}"/>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PROJECT PLAN</a:t>
            </a:r>
          </a:p>
        </p:txBody>
      </p:sp>
      <p:sp>
        <p:nvSpPr>
          <p:cNvPr id="3" name="Rectangle: Rounded Corners 2">
            <a:extLst>
              <a:ext uri="{FF2B5EF4-FFF2-40B4-BE49-F238E27FC236}">
                <a16:creationId xmlns:a16="http://schemas.microsoft.com/office/drawing/2014/main" id="{4AFF6B9A-337E-D6B2-CD1A-8E72F89B28B6}"/>
              </a:ext>
            </a:extLst>
          </p:cNvPr>
          <p:cNvSpPr/>
          <p:nvPr/>
        </p:nvSpPr>
        <p:spPr>
          <a:xfrm>
            <a:off x="210319" y="1685647"/>
            <a:ext cx="11685349" cy="3650555"/>
          </a:xfrm>
          <a:prstGeom prst="roundRect">
            <a:avLst/>
          </a:prstGeom>
          <a:solidFill>
            <a:schemeClr val="accent2">
              <a:alpha val="35000"/>
            </a:schemeClr>
          </a:solidFill>
          <a:ln w="12700" cap="flat" cmpd="sng" algn="ctr">
            <a:noFill/>
            <a:prstDash val="solid"/>
            <a:miter lim="800000"/>
          </a:ln>
          <a:effectLst/>
        </p:spPr>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100" b="0" i="0" u="none" strike="noStrike" kern="1200" cap="none" spc="0" normalizeH="0" baseline="0" noProof="0">
              <a:ln>
                <a:noFill/>
              </a:ln>
              <a:solidFill>
                <a:prstClr val="black"/>
              </a:solidFill>
              <a:effectLst/>
              <a:uLnTx/>
              <a:uFillTx/>
              <a:latin typeface="+mj-lt"/>
              <a:ea typeface="+mn-ea"/>
              <a:cs typeface="+mn-cs"/>
            </a:endParaRPr>
          </a:p>
        </p:txBody>
      </p:sp>
      <p:cxnSp>
        <p:nvCxnSpPr>
          <p:cNvPr id="6" name="Shape 51">
            <a:extLst>
              <a:ext uri="{FF2B5EF4-FFF2-40B4-BE49-F238E27FC236}">
                <a16:creationId xmlns:a16="http://schemas.microsoft.com/office/drawing/2014/main" id="{AD6C109F-F5AB-DEC1-8EE2-09F42631CD0B}"/>
              </a:ext>
            </a:extLst>
          </p:cNvPr>
          <p:cNvCxnSpPr>
            <a:cxnSpLocks/>
          </p:cNvCxnSpPr>
          <p:nvPr/>
        </p:nvCxnSpPr>
        <p:spPr>
          <a:xfrm>
            <a:off x="927588" y="1207653"/>
            <a:ext cx="31316" cy="4356000"/>
          </a:xfrm>
          <a:prstGeom prst="straightConnector1">
            <a:avLst/>
          </a:prstGeom>
          <a:noFill/>
          <a:ln w="9525" cap="flat" cmpd="sng">
            <a:solidFill>
              <a:srgbClr val="FFFFFF"/>
            </a:solidFill>
            <a:prstDash val="dash"/>
            <a:miter/>
            <a:headEnd type="none" w="sm" len="sm"/>
            <a:tailEnd type="none" w="med" len="med"/>
          </a:ln>
        </p:spPr>
      </p:cxnSp>
      <p:cxnSp>
        <p:nvCxnSpPr>
          <p:cNvPr id="7" name="Shape 51">
            <a:extLst>
              <a:ext uri="{FF2B5EF4-FFF2-40B4-BE49-F238E27FC236}">
                <a16:creationId xmlns:a16="http://schemas.microsoft.com/office/drawing/2014/main" id="{B1939B2F-2163-94AD-FB1D-CE0B15ED5FA7}"/>
              </a:ext>
            </a:extLst>
          </p:cNvPr>
          <p:cNvCxnSpPr>
            <a:cxnSpLocks/>
          </p:cNvCxnSpPr>
          <p:nvPr/>
        </p:nvCxnSpPr>
        <p:spPr>
          <a:xfrm>
            <a:off x="1537181" y="1423653"/>
            <a:ext cx="0" cy="4140000"/>
          </a:xfrm>
          <a:prstGeom prst="straightConnector1">
            <a:avLst/>
          </a:prstGeom>
          <a:noFill/>
          <a:ln w="9525" cap="flat" cmpd="sng">
            <a:solidFill>
              <a:srgbClr val="FFFFFF"/>
            </a:solidFill>
            <a:prstDash val="dash"/>
            <a:miter/>
            <a:headEnd type="none" w="sm" len="sm"/>
            <a:tailEnd type="none" w="med" len="med"/>
          </a:ln>
        </p:spPr>
      </p:cxnSp>
      <p:cxnSp>
        <p:nvCxnSpPr>
          <p:cNvPr id="8" name="Shape 51">
            <a:extLst>
              <a:ext uri="{FF2B5EF4-FFF2-40B4-BE49-F238E27FC236}">
                <a16:creationId xmlns:a16="http://schemas.microsoft.com/office/drawing/2014/main" id="{BF722C70-F0E5-7FBE-7E5B-3EAD9CA53329}"/>
              </a:ext>
            </a:extLst>
          </p:cNvPr>
          <p:cNvCxnSpPr>
            <a:cxnSpLocks/>
          </p:cNvCxnSpPr>
          <p:nvPr/>
        </p:nvCxnSpPr>
        <p:spPr>
          <a:xfrm>
            <a:off x="2115458" y="1423653"/>
            <a:ext cx="10846" cy="4140000"/>
          </a:xfrm>
          <a:prstGeom prst="straightConnector1">
            <a:avLst/>
          </a:prstGeom>
          <a:noFill/>
          <a:ln w="9525" cap="flat" cmpd="sng">
            <a:solidFill>
              <a:srgbClr val="FFFFFF"/>
            </a:solidFill>
            <a:prstDash val="dash"/>
            <a:miter/>
            <a:headEnd type="none" w="sm" len="sm"/>
            <a:tailEnd type="none" w="med" len="med"/>
          </a:ln>
        </p:spPr>
      </p:cxnSp>
      <p:cxnSp>
        <p:nvCxnSpPr>
          <p:cNvPr id="9" name="Shape 51">
            <a:extLst>
              <a:ext uri="{FF2B5EF4-FFF2-40B4-BE49-F238E27FC236}">
                <a16:creationId xmlns:a16="http://schemas.microsoft.com/office/drawing/2014/main" id="{60D77E7F-A5C4-E2EB-AAB8-E701FE28C653}"/>
              </a:ext>
            </a:extLst>
          </p:cNvPr>
          <p:cNvCxnSpPr>
            <a:cxnSpLocks/>
          </p:cNvCxnSpPr>
          <p:nvPr/>
        </p:nvCxnSpPr>
        <p:spPr>
          <a:xfrm>
            <a:off x="2704581" y="1423653"/>
            <a:ext cx="25578" cy="4140000"/>
          </a:xfrm>
          <a:prstGeom prst="straightConnector1">
            <a:avLst/>
          </a:prstGeom>
          <a:noFill/>
          <a:ln w="9525" cap="flat" cmpd="sng">
            <a:solidFill>
              <a:srgbClr val="FFFFFF"/>
            </a:solidFill>
            <a:prstDash val="dash"/>
            <a:miter/>
            <a:headEnd type="none" w="sm" len="sm"/>
            <a:tailEnd type="none" w="med" len="med"/>
          </a:ln>
        </p:spPr>
      </p:cxnSp>
      <p:cxnSp>
        <p:nvCxnSpPr>
          <p:cNvPr id="10" name="Shape 51">
            <a:extLst>
              <a:ext uri="{FF2B5EF4-FFF2-40B4-BE49-F238E27FC236}">
                <a16:creationId xmlns:a16="http://schemas.microsoft.com/office/drawing/2014/main" id="{93B043CB-708F-265F-CDC1-EFA4EBB107FD}"/>
              </a:ext>
            </a:extLst>
          </p:cNvPr>
          <p:cNvCxnSpPr>
            <a:cxnSpLocks/>
          </p:cNvCxnSpPr>
          <p:nvPr/>
        </p:nvCxnSpPr>
        <p:spPr>
          <a:xfrm>
            <a:off x="9255142" y="1423653"/>
            <a:ext cx="0" cy="4140000"/>
          </a:xfrm>
          <a:prstGeom prst="straightConnector1">
            <a:avLst/>
          </a:prstGeom>
          <a:noFill/>
          <a:ln w="9525" cap="flat" cmpd="sng">
            <a:solidFill>
              <a:srgbClr val="FFFFFF"/>
            </a:solidFill>
            <a:prstDash val="dash"/>
            <a:miter/>
            <a:headEnd type="none" w="sm" len="sm"/>
            <a:tailEnd type="none" w="med" len="med"/>
          </a:ln>
        </p:spPr>
      </p:cxnSp>
      <p:cxnSp>
        <p:nvCxnSpPr>
          <p:cNvPr id="11" name="Shape 51">
            <a:extLst>
              <a:ext uri="{FF2B5EF4-FFF2-40B4-BE49-F238E27FC236}">
                <a16:creationId xmlns:a16="http://schemas.microsoft.com/office/drawing/2014/main" id="{D6994364-E4F4-E6B6-D2CF-725AD94BFC56}"/>
              </a:ext>
            </a:extLst>
          </p:cNvPr>
          <p:cNvCxnSpPr>
            <a:cxnSpLocks/>
          </p:cNvCxnSpPr>
          <p:nvPr/>
        </p:nvCxnSpPr>
        <p:spPr>
          <a:xfrm>
            <a:off x="3308436" y="1423653"/>
            <a:ext cx="14228" cy="4140000"/>
          </a:xfrm>
          <a:prstGeom prst="straightConnector1">
            <a:avLst/>
          </a:prstGeom>
          <a:noFill/>
          <a:ln w="9525" cap="flat" cmpd="sng">
            <a:solidFill>
              <a:srgbClr val="FFFFFF"/>
            </a:solidFill>
            <a:prstDash val="dash"/>
            <a:miter/>
            <a:headEnd type="none" w="sm" len="sm"/>
            <a:tailEnd type="none" w="med" len="med"/>
          </a:ln>
        </p:spPr>
      </p:cxnSp>
      <p:cxnSp>
        <p:nvCxnSpPr>
          <p:cNvPr id="12" name="Straight Connector 11">
            <a:extLst>
              <a:ext uri="{FF2B5EF4-FFF2-40B4-BE49-F238E27FC236}">
                <a16:creationId xmlns:a16="http://schemas.microsoft.com/office/drawing/2014/main" id="{6882319F-2528-9AD1-2E0A-994DC9AECE05}"/>
              </a:ext>
            </a:extLst>
          </p:cNvPr>
          <p:cNvCxnSpPr>
            <a:cxnSpLocks/>
          </p:cNvCxnSpPr>
          <p:nvPr/>
        </p:nvCxnSpPr>
        <p:spPr>
          <a:xfrm flipV="1">
            <a:off x="-422828" y="5576243"/>
            <a:ext cx="13037657" cy="22704"/>
          </a:xfrm>
          <a:prstGeom prst="line">
            <a:avLst/>
          </a:prstGeom>
          <a:noFill/>
          <a:ln w="6350" cap="flat" cmpd="sng" algn="ctr">
            <a:solidFill>
              <a:schemeClr val="accent2"/>
            </a:solidFill>
            <a:prstDash val="solid"/>
            <a:miter lim="800000"/>
          </a:ln>
          <a:effectLst/>
        </p:spPr>
      </p:cxnSp>
      <p:sp>
        <p:nvSpPr>
          <p:cNvPr id="13" name="TextBox 1">
            <a:extLst>
              <a:ext uri="{FF2B5EF4-FFF2-40B4-BE49-F238E27FC236}">
                <a16:creationId xmlns:a16="http://schemas.microsoft.com/office/drawing/2014/main" id="{89F94998-72E0-6350-3776-16B2D02ED263}"/>
              </a:ext>
            </a:extLst>
          </p:cNvPr>
          <p:cNvSpPr txBox="1"/>
          <p:nvPr/>
        </p:nvSpPr>
        <p:spPr>
          <a:xfrm>
            <a:off x="139022" y="5582268"/>
            <a:ext cx="740520" cy="169277"/>
          </a:xfrm>
          <a:prstGeom prst="rect">
            <a:avLst/>
          </a:prstGeom>
          <a:solidFill>
            <a:schemeClr val="accent2"/>
          </a:solidFill>
        </p:spPr>
        <p:txBody>
          <a:bodyPr wrap="square" lIns="0" tIns="0" rIns="0" bIns="0" rtlCol="0" anchor="ctr">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AU" sz="1100" i="1" noProof="0">
                <a:solidFill>
                  <a:srgbClr val="FFFFFF"/>
                </a:solidFill>
                <a:latin typeface="+mj-lt"/>
              </a:rPr>
              <a:t>Milestones</a:t>
            </a:r>
          </a:p>
        </p:txBody>
      </p:sp>
      <p:sp>
        <p:nvSpPr>
          <p:cNvPr id="14" name="Isosceles Triangle 13">
            <a:extLst>
              <a:ext uri="{FF2B5EF4-FFF2-40B4-BE49-F238E27FC236}">
                <a16:creationId xmlns:a16="http://schemas.microsoft.com/office/drawing/2014/main" id="{79ECDDCD-2FE9-A176-04B1-57A1999EA2EB}"/>
              </a:ext>
            </a:extLst>
          </p:cNvPr>
          <p:cNvSpPr/>
          <p:nvPr/>
        </p:nvSpPr>
        <p:spPr>
          <a:xfrm rot="10800000">
            <a:off x="6234903" y="5601644"/>
            <a:ext cx="108000" cy="108000"/>
          </a:xfrm>
          <a:prstGeom prst="triangle">
            <a:avLst/>
          </a:prstGeom>
          <a:solidFill>
            <a:schemeClr val="accent2"/>
          </a:solidFill>
          <a:ln w="28575" cap="flat" cmpd="sng" algn="ctr">
            <a:solidFill>
              <a:schemeClr val="accent2"/>
            </a:solidFill>
            <a:prstDash val="solid"/>
            <a:miter lim="800000"/>
          </a:ln>
          <a:effectLst/>
        </p:spPr>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sz="1100" noProof="0">
              <a:solidFill>
                <a:srgbClr val="FFFFFF"/>
              </a:solidFill>
              <a:latin typeface="+mj-lt"/>
            </a:endParaRPr>
          </a:p>
        </p:txBody>
      </p:sp>
      <p:sp>
        <p:nvSpPr>
          <p:cNvPr id="15" name="Isosceles Triangle 14">
            <a:extLst>
              <a:ext uri="{FF2B5EF4-FFF2-40B4-BE49-F238E27FC236}">
                <a16:creationId xmlns:a16="http://schemas.microsoft.com/office/drawing/2014/main" id="{30594FA4-0F25-D32F-4661-F6DC2C3120CD}"/>
              </a:ext>
            </a:extLst>
          </p:cNvPr>
          <p:cNvSpPr/>
          <p:nvPr/>
        </p:nvSpPr>
        <p:spPr>
          <a:xfrm rot="10800000">
            <a:off x="10368987" y="5601644"/>
            <a:ext cx="108000" cy="108000"/>
          </a:xfrm>
          <a:prstGeom prst="triangle">
            <a:avLst/>
          </a:prstGeom>
          <a:solidFill>
            <a:schemeClr val="accent2"/>
          </a:solidFill>
          <a:ln w="28575" cap="flat" cmpd="sng" algn="ctr">
            <a:solidFill>
              <a:schemeClr val="accent2"/>
            </a:solidFill>
            <a:prstDash val="solid"/>
            <a:miter lim="800000"/>
          </a:ln>
          <a:effectLst/>
        </p:spPr>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sz="1100" noProof="0">
              <a:solidFill>
                <a:srgbClr val="FFFFFF"/>
              </a:solidFill>
              <a:latin typeface="+mj-lt"/>
            </a:endParaRPr>
          </a:p>
        </p:txBody>
      </p:sp>
      <p:sp>
        <p:nvSpPr>
          <p:cNvPr id="18" name="Isosceles Triangle 17">
            <a:extLst>
              <a:ext uri="{FF2B5EF4-FFF2-40B4-BE49-F238E27FC236}">
                <a16:creationId xmlns:a16="http://schemas.microsoft.com/office/drawing/2014/main" id="{CDD2662F-7385-4555-21B8-A1E1589D80C4}"/>
              </a:ext>
            </a:extLst>
          </p:cNvPr>
          <p:cNvSpPr/>
          <p:nvPr/>
        </p:nvSpPr>
        <p:spPr>
          <a:xfrm rot="10800000">
            <a:off x="4456532" y="5601645"/>
            <a:ext cx="108000" cy="108000"/>
          </a:xfrm>
          <a:prstGeom prst="triangle">
            <a:avLst/>
          </a:prstGeom>
          <a:solidFill>
            <a:schemeClr val="accent2"/>
          </a:solidFill>
          <a:ln w="28575" cap="flat" cmpd="sng" algn="ctr">
            <a:solidFill>
              <a:schemeClr val="accent2"/>
            </a:solidFill>
            <a:prstDash val="solid"/>
            <a:miter lim="800000"/>
          </a:ln>
          <a:effectLst/>
        </p:spPr>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sz="1100" noProof="0">
              <a:solidFill>
                <a:srgbClr val="FFFFFF"/>
              </a:solidFill>
              <a:latin typeface="+mj-lt"/>
            </a:endParaRPr>
          </a:p>
        </p:txBody>
      </p:sp>
      <p:sp>
        <p:nvSpPr>
          <p:cNvPr id="21" name="Rectangle 20">
            <a:extLst>
              <a:ext uri="{FF2B5EF4-FFF2-40B4-BE49-F238E27FC236}">
                <a16:creationId xmlns:a16="http://schemas.microsoft.com/office/drawing/2014/main" id="{FCCD5059-5080-A118-AA80-AFEBD933DE3C}"/>
              </a:ext>
            </a:extLst>
          </p:cNvPr>
          <p:cNvSpPr/>
          <p:nvPr/>
        </p:nvSpPr>
        <p:spPr>
          <a:xfrm>
            <a:off x="1024204"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W1</a:t>
            </a:r>
          </a:p>
        </p:txBody>
      </p:sp>
      <p:sp>
        <p:nvSpPr>
          <p:cNvPr id="22" name="Rectangle 21">
            <a:extLst>
              <a:ext uri="{FF2B5EF4-FFF2-40B4-BE49-F238E27FC236}">
                <a16:creationId xmlns:a16="http://schemas.microsoft.com/office/drawing/2014/main" id="{1288AF15-7BC4-3E12-43AC-8E7268FCF203}"/>
              </a:ext>
            </a:extLst>
          </p:cNvPr>
          <p:cNvSpPr/>
          <p:nvPr/>
        </p:nvSpPr>
        <p:spPr>
          <a:xfrm>
            <a:off x="1602481"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W2</a:t>
            </a:r>
          </a:p>
        </p:txBody>
      </p:sp>
      <p:sp>
        <p:nvSpPr>
          <p:cNvPr id="23" name="Rectangle 22">
            <a:extLst>
              <a:ext uri="{FF2B5EF4-FFF2-40B4-BE49-F238E27FC236}">
                <a16:creationId xmlns:a16="http://schemas.microsoft.com/office/drawing/2014/main" id="{51E3ED6E-FF57-CA72-CE0C-F397FBFDB487}"/>
              </a:ext>
            </a:extLst>
          </p:cNvPr>
          <p:cNvSpPr/>
          <p:nvPr/>
        </p:nvSpPr>
        <p:spPr>
          <a:xfrm>
            <a:off x="2191604"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W3</a:t>
            </a:r>
          </a:p>
        </p:txBody>
      </p:sp>
      <p:sp>
        <p:nvSpPr>
          <p:cNvPr id="24" name="Rectangle 23">
            <a:extLst>
              <a:ext uri="{FF2B5EF4-FFF2-40B4-BE49-F238E27FC236}">
                <a16:creationId xmlns:a16="http://schemas.microsoft.com/office/drawing/2014/main" id="{1361CF95-F222-D0B7-E6DE-DE7D123CA220}"/>
              </a:ext>
            </a:extLst>
          </p:cNvPr>
          <p:cNvSpPr/>
          <p:nvPr/>
        </p:nvSpPr>
        <p:spPr>
          <a:xfrm>
            <a:off x="2795459"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W4</a:t>
            </a:r>
          </a:p>
        </p:txBody>
      </p:sp>
      <p:sp>
        <p:nvSpPr>
          <p:cNvPr id="25" name="Rectangle 24">
            <a:extLst>
              <a:ext uri="{FF2B5EF4-FFF2-40B4-BE49-F238E27FC236}">
                <a16:creationId xmlns:a16="http://schemas.microsoft.com/office/drawing/2014/main" id="{601FAE86-0B33-8D17-A69E-61C50A602CF8}"/>
              </a:ext>
            </a:extLst>
          </p:cNvPr>
          <p:cNvSpPr/>
          <p:nvPr/>
        </p:nvSpPr>
        <p:spPr>
          <a:xfrm>
            <a:off x="3387964"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W5</a:t>
            </a:r>
          </a:p>
        </p:txBody>
      </p:sp>
      <p:sp>
        <p:nvSpPr>
          <p:cNvPr id="26" name="Rectangle 25">
            <a:extLst>
              <a:ext uri="{FF2B5EF4-FFF2-40B4-BE49-F238E27FC236}">
                <a16:creationId xmlns:a16="http://schemas.microsoft.com/office/drawing/2014/main" id="{8090E878-EFD8-72B5-AFA2-BFA533A89B05}"/>
              </a:ext>
            </a:extLst>
          </p:cNvPr>
          <p:cNvSpPr/>
          <p:nvPr/>
        </p:nvSpPr>
        <p:spPr>
          <a:xfrm>
            <a:off x="3997557"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W6</a:t>
            </a:r>
          </a:p>
        </p:txBody>
      </p:sp>
      <p:cxnSp>
        <p:nvCxnSpPr>
          <p:cNvPr id="27" name="Shape 51">
            <a:extLst>
              <a:ext uri="{FF2B5EF4-FFF2-40B4-BE49-F238E27FC236}">
                <a16:creationId xmlns:a16="http://schemas.microsoft.com/office/drawing/2014/main" id="{75E25F3F-1F4D-B7F9-9A5C-8DA90CDF4EE9}"/>
              </a:ext>
            </a:extLst>
          </p:cNvPr>
          <p:cNvCxnSpPr>
            <a:cxnSpLocks/>
          </p:cNvCxnSpPr>
          <p:nvPr/>
        </p:nvCxnSpPr>
        <p:spPr>
          <a:xfrm>
            <a:off x="9833419" y="1423653"/>
            <a:ext cx="0" cy="4140000"/>
          </a:xfrm>
          <a:prstGeom prst="straightConnector1">
            <a:avLst/>
          </a:prstGeom>
          <a:noFill/>
          <a:ln w="9525" cap="flat" cmpd="sng">
            <a:solidFill>
              <a:srgbClr val="FFFFFF"/>
            </a:solidFill>
            <a:prstDash val="dash"/>
            <a:miter/>
            <a:headEnd type="none" w="sm" len="sm"/>
            <a:tailEnd type="none" w="med" len="med"/>
          </a:ln>
        </p:spPr>
      </p:cxnSp>
      <p:sp>
        <p:nvSpPr>
          <p:cNvPr id="28" name="Rectangle 27">
            <a:extLst>
              <a:ext uri="{FF2B5EF4-FFF2-40B4-BE49-F238E27FC236}">
                <a16:creationId xmlns:a16="http://schemas.microsoft.com/office/drawing/2014/main" id="{0A653D49-0DA6-F523-E7A2-006F259204D0}"/>
              </a:ext>
            </a:extLst>
          </p:cNvPr>
          <p:cNvSpPr/>
          <p:nvPr/>
        </p:nvSpPr>
        <p:spPr>
          <a:xfrm>
            <a:off x="4575834"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W7</a:t>
            </a:r>
          </a:p>
        </p:txBody>
      </p:sp>
      <p:sp>
        <p:nvSpPr>
          <p:cNvPr id="29" name="Rectangle 28">
            <a:extLst>
              <a:ext uri="{FF2B5EF4-FFF2-40B4-BE49-F238E27FC236}">
                <a16:creationId xmlns:a16="http://schemas.microsoft.com/office/drawing/2014/main" id="{8FFDA9A1-BA59-65C2-7269-12A203457504}"/>
              </a:ext>
            </a:extLst>
          </p:cNvPr>
          <p:cNvSpPr/>
          <p:nvPr/>
        </p:nvSpPr>
        <p:spPr>
          <a:xfrm>
            <a:off x="10476987"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a:t>
            </a:r>
          </a:p>
        </p:txBody>
      </p:sp>
      <p:cxnSp>
        <p:nvCxnSpPr>
          <p:cNvPr id="30" name="Shape 51">
            <a:extLst>
              <a:ext uri="{FF2B5EF4-FFF2-40B4-BE49-F238E27FC236}">
                <a16:creationId xmlns:a16="http://schemas.microsoft.com/office/drawing/2014/main" id="{02CE10B7-0F6C-F7B5-1AA7-EA261961C352}"/>
              </a:ext>
            </a:extLst>
          </p:cNvPr>
          <p:cNvCxnSpPr>
            <a:cxnSpLocks/>
          </p:cNvCxnSpPr>
          <p:nvPr/>
        </p:nvCxnSpPr>
        <p:spPr>
          <a:xfrm>
            <a:off x="10411696" y="1207653"/>
            <a:ext cx="0" cy="4356000"/>
          </a:xfrm>
          <a:prstGeom prst="straightConnector1">
            <a:avLst/>
          </a:prstGeom>
          <a:noFill/>
          <a:ln w="9525" cap="flat" cmpd="sng">
            <a:solidFill>
              <a:srgbClr val="FFFFFF"/>
            </a:solidFill>
            <a:prstDash val="dash"/>
            <a:miter/>
            <a:headEnd type="none" w="sm" len="sm"/>
            <a:tailEnd type="none" w="med" len="med"/>
          </a:ln>
        </p:spPr>
      </p:cxnSp>
      <p:sp>
        <p:nvSpPr>
          <p:cNvPr id="33" name="Rectangle 32">
            <a:extLst>
              <a:ext uri="{FF2B5EF4-FFF2-40B4-BE49-F238E27FC236}">
                <a16:creationId xmlns:a16="http://schemas.microsoft.com/office/drawing/2014/main" id="{ED31469F-4288-0388-496E-EB01BE1771EF}"/>
              </a:ext>
            </a:extLst>
          </p:cNvPr>
          <p:cNvSpPr/>
          <p:nvPr/>
        </p:nvSpPr>
        <p:spPr>
          <a:xfrm>
            <a:off x="5164957"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W8</a:t>
            </a:r>
          </a:p>
        </p:txBody>
      </p:sp>
      <p:sp>
        <p:nvSpPr>
          <p:cNvPr id="34" name="Rectangle 33">
            <a:extLst>
              <a:ext uri="{FF2B5EF4-FFF2-40B4-BE49-F238E27FC236}">
                <a16:creationId xmlns:a16="http://schemas.microsoft.com/office/drawing/2014/main" id="{360B1F12-54BE-0665-F4C2-2FFFF9069B2E}"/>
              </a:ext>
            </a:extLst>
          </p:cNvPr>
          <p:cNvSpPr/>
          <p:nvPr/>
        </p:nvSpPr>
        <p:spPr>
          <a:xfrm>
            <a:off x="5768812"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W9</a:t>
            </a:r>
          </a:p>
        </p:txBody>
      </p:sp>
      <p:sp>
        <p:nvSpPr>
          <p:cNvPr id="35" name="Rectangle 34">
            <a:extLst>
              <a:ext uri="{FF2B5EF4-FFF2-40B4-BE49-F238E27FC236}">
                <a16:creationId xmlns:a16="http://schemas.microsoft.com/office/drawing/2014/main" id="{E9CD9A27-4385-6DC9-E0CB-7D2D632A2E7A}"/>
              </a:ext>
            </a:extLst>
          </p:cNvPr>
          <p:cNvSpPr/>
          <p:nvPr/>
        </p:nvSpPr>
        <p:spPr>
          <a:xfrm>
            <a:off x="6361317"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W10</a:t>
            </a:r>
          </a:p>
        </p:txBody>
      </p:sp>
      <p:sp>
        <p:nvSpPr>
          <p:cNvPr id="36" name="Rectangle 35">
            <a:extLst>
              <a:ext uri="{FF2B5EF4-FFF2-40B4-BE49-F238E27FC236}">
                <a16:creationId xmlns:a16="http://schemas.microsoft.com/office/drawing/2014/main" id="{5A3EEA64-2D31-DAA4-3281-32497E9ADF8A}"/>
              </a:ext>
            </a:extLst>
          </p:cNvPr>
          <p:cNvSpPr/>
          <p:nvPr/>
        </p:nvSpPr>
        <p:spPr>
          <a:xfrm>
            <a:off x="6970910"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W11</a:t>
            </a:r>
          </a:p>
        </p:txBody>
      </p:sp>
      <p:sp>
        <p:nvSpPr>
          <p:cNvPr id="37" name="Rectangle 36">
            <a:extLst>
              <a:ext uri="{FF2B5EF4-FFF2-40B4-BE49-F238E27FC236}">
                <a16:creationId xmlns:a16="http://schemas.microsoft.com/office/drawing/2014/main" id="{33165A2F-12BC-E146-2E5E-2CCA10E7208A}"/>
              </a:ext>
            </a:extLst>
          </p:cNvPr>
          <p:cNvSpPr/>
          <p:nvPr/>
        </p:nvSpPr>
        <p:spPr>
          <a:xfrm>
            <a:off x="7549187"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W12</a:t>
            </a:r>
          </a:p>
        </p:txBody>
      </p:sp>
      <p:sp>
        <p:nvSpPr>
          <p:cNvPr id="38" name="Rectangle 37">
            <a:extLst>
              <a:ext uri="{FF2B5EF4-FFF2-40B4-BE49-F238E27FC236}">
                <a16:creationId xmlns:a16="http://schemas.microsoft.com/office/drawing/2014/main" id="{8D6D0DE4-35A2-18C1-809D-9D447CDC9C37}"/>
              </a:ext>
            </a:extLst>
          </p:cNvPr>
          <p:cNvSpPr/>
          <p:nvPr/>
        </p:nvSpPr>
        <p:spPr>
          <a:xfrm>
            <a:off x="8138310"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W13</a:t>
            </a:r>
          </a:p>
        </p:txBody>
      </p:sp>
      <p:sp>
        <p:nvSpPr>
          <p:cNvPr id="39" name="Rectangle 38">
            <a:extLst>
              <a:ext uri="{FF2B5EF4-FFF2-40B4-BE49-F238E27FC236}">
                <a16:creationId xmlns:a16="http://schemas.microsoft.com/office/drawing/2014/main" id="{B273B53A-4B40-D461-6660-FCCF7879EDB4}"/>
              </a:ext>
            </a:extLst>
          </p:cNvPr>
          <p:cNvSpPr/>
          <p:nvPr/>
        </p:nvSpPr>
        <p:spPr>
          <a:xfrm>
            <a:off x="8742165"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W14</a:t>
            </a:r>
          </a:p>
        </p:txBody>
      </p:sp>
      <p:sp>
        <p:nvSpPr>
          <p:cNvPr id="40" name="Rectangle 39">
            <a:extLst>
              <a:ext uri="{FF2B5EF4-FFF2-40B4-BE49-F238E27FC236}">
                <a16:creationId xmlns:a16="http://schemas.microsoft.com/office/drawing/2014/main" id="{6D2B61D8-6151-33F4-9851-1708BE63ADA8}"/>
              </a:ext>
            </a:extLst>
          </p:cNvPr>
          <p:cNvSpPr/>
          <p:nvPr/>
        </p:nvSpPr>
        <p:spPr>
          <a:xfrm>
            <a:off x="9320442"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W15</a:t>
            </a:r>
          </a:p>
        </p:txBody>
      </p:sp>
      <p:sp>
        <p:nvSpPr>
          <p:cNvPr id="41" name="Rectangle 40">
            <a:extLst>
              <a:ext uri="{FF2B5EF4-FFF2-40B4-BE49-F238E27FC236}">
                <a16:creationId xmlns:a16="http://schemas.microsoft.com/office/drawing/2014/main" id="{2494D81E-7FFD-2280-15A1-D730AC3392D3}"/>
              </a:ext>
            </a:extLst>
          </p:cNvPr>
          <p:cNvSpPr/>
          <p:nvPr/>
        </p:nvSpPr>
        <p:spPr>
          <a:xfrm>
            <a:off x="9898719" y="1420706"/>
            <a:ext cx="447677" cy="245443"/>
          </a:xfrm>
          <a:prstGeom prst="rect">
            <a:avLst/>
          </a:prstGeom>
          <a:no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0" i="0" u="none" strike="noStrike" kern="0" cap="none" spc="0" normalizeH="0" baseline="0" noProof="0">
                <a:ln>
                  <a:noFill/>
                </a:ln>
                <a:solidFill>
                  <a:schemeClr val="bg1"/>
                </a:solidFill>
                <a:effectLst/>
                <a:uLnTx/>
                <a:uFillTx/>
                <a:latin typeface="+mj-lt"/>
                <a:ea typeface="+mn-ea"/>
                <a:cs typeface="+mn-cs"/>
              </a:rPr>
              <a:t>W16</a:t>
            </a:r>
          </a:p>
        </p:txBody>
      </p:sp>
      <p:cxnSp>
        <p:nvCxnSpPr>
          <p:cNvPr id="42" name="Shape 51">
            <a:extLst>
              <a:ext uri="{FF2B5EF4-FFF2-40B4-BE49-F238E27FC236}">
                <a16:creationId xmlns:a16="http://schemas.microsoft.com/office/drawing/2014/main" id="{19489A6C-D784-7E1B-F2CC-E1852B816313}"/>
              </a:ext>
            </a:extLst>
          </p:cNvPr>
          <p:cNvCxnSpPr>
            <a:cxnSpLocks/>
          </p:cNvCxnSpPr>
          <p:nvPr/>
        </p:nvCxnSpPr>
        <p:spPr>
          <a:xfrm>
            <a:off x="3900941" y="1207653"/>
            <a:ext cx="31316" cy="4356000"/>
          </a:xfrm>
          <a:prstGeom prst="straightConnector1">
            <a:avLst/>
          </a:prstGeom>
          <a:noFill/>
          <a:ln w="9525" cap="flat" cmpd="sng">
            <a:solidFill>
              <a:srgbClr val="FFFFFF"/>
            </a:solidFill>
            <a:prstDash val="dash"/>
            <a:miter/>
            <a:headEnd type="none" w="sm" len="sm"/>
            <a:tailEnd type="none" w="med" len="med"/>
          </a:ln>
        </p:spPr>
      </p:cxnSp>
      <p:cxnSp>
        <p:nvCxnSpPr>
          <p:cNvPr id="43" name="Shape 51">
            <a:extLst>
              <a:ext uri="{FF2B5EF4-FFF2-40B4-BE49-F238E27FC236}">
                <a16:creationId xmlns:a16="http://schemas.microsoft.com/office/drawing/2014/main" id="{78708C8E-10B5-7E6C-0469-844EA1EA71DF}"/>
              </a:ext>
            </a:extLst>
          </p:cNvPr>
          <p:cNvCxnSpPr>
            <a:cxnSpLocks/>
          </p:cNvCxnSpPr>
          <p:nvPr/>
        </p:nvCxnSpPr>
        <p:spPr>
          <a:xfrm>
            <a:off x="4510534" y="1423653"/>
            <a:ext cx="0" cy="4140000"/>
          </a:xfrm>
          <a:prstGeom prst="straightConnector1">
            <a:avLst/>
          </a:prstGeom>
          <a:noFill/>
          <a:ln w="9525" cap="flat" cmpd="sng">
            <a:solidFill>
              <a:srgbClr val="FFFFFF"/>
            </a:solidFill>
            <a:prstDash val="dash"/>
            <a:miter/>
            <a:headEnd type="none" w="sm" len="sm"/>
            <a:tailEnd type="none" w="med" len="med"/>
          </a:ln>
        </p:spPr>
      </p:cxnSp>
      <p:cxnSp>
        <p:nvCxnSpPr>
          <p:cNvPr id="44" name="Shape 51">
            <a:extLst>
              <a:ext uri="{FF2B5EF4-FFF2-40B4-BE49-F238E27FC236}">
                <a16:creationId xmlns:a16="http://schemas.microsoft.com/office/drawing/2014/main" id="{949D1F9D-CE91-C55B-3990-10264D91AA5D}"/>
              </a:ext>
            </a:extLst>
          </p:cNvPr>
          <p:cNvCxnSpPr>
            <a:cxnSpLocks/>
          </p:cNvCxnSpPr>
          <p:nvPr/>
        </p:nvCxnSpPr>
        <p:spPr>
          <a:xfrm>
            <a:off x="5088811" y="1423653"/>
            <a:ext cx="10846" cy="4140000"/>
          </a:xfrm>
          <a:prstGeom prst="straightConnector1">
            <a:avLst/>
          </a:prstGeom>
          <a:noFill/>
          <a:ln w="9525" cap="flat" cmpd="sng">
            <a:solidFill>
              <a:srgbClr val="FFFFFF"/>
            </a:solidFill>
            <a:prstDash val="dash"/>
            <a:miter/>
            <a:headEnd type="none" w="sm" len="sm"/>
            <a:tailEnd type="none" w="med" len="med"/>
          </a:ln>
        </p:spPr>
      </p:cxnSp>
      <p:cxnSp>
        <p:nvCxnSpPr>
          <p:cNvPr id="45" name="Shape 51">
            <a:extLst>
              <a:ext uri="{FF2B5EF4-FFF2-40B4-BE49-F238E27FC236}">
                <a16:creationId xmlns:a16="http://schemas.microsoft.com/office/drawing/2014/main" id="{6581D819-853C-C92A-51E0-B80FF2D4507E}"/>
              </a:ext>
            </a:extLst>
          </p:cNvPr>
          <p:cNvCxnSpPr>
            <a:cxnSpLocks/>
          </p:cNvCxnSpPr>
          <p:nvPr/>
        </p:nvCxnSpPr>
        <p:spPr>
          <a:xfrm>
            <a:off x="5677934" y="1423653"/>
            <a:ext cx="25578" cy="4140000"/>
          </a:xfrm>
          <a:prstGeom prst="straightConnector1">
            <a:avLst/>
          </a:prstGeom>
          <a:noFill/>
          <a:ln w="9525" cap="flat" cmpd="sng">
            <a:solidFill>
              <a:srgbClr val="FFFFFF"/>
            </a:solidFill>
            <a:prstDash val="dash"/>
            <a:miter/>
            <a:headEnd type="none" w="sm" len="sm"/>
            <a:tailEnd type="none" w="med" len="med"/>
          </a:ln>
        </p:spPr>
      </p:cxnSp>
      <p:cxnSp>
        <p:nvCxnSpPr>
          <p:cNvPr id="46" name="Shape 51">
            <a:extLst>
              <a:ext uri="{FF2B5EF4-FFF2-40B4-BE49-F238E27FC236}">
                <a16:creationId xmlns:a16="http://schemas.microsoft.com/office/drawing/2014/main" id="{2A88BDE5-815E-9F6B-F669-3BC5C98670B9}"/>
              </a:ext>
            </a:extLst>
          </p:cNvPr>
          <p:cNvCxnSpPr>
            <a:cxnSpLocks/>
          </p:cNvCxnSpPr>
          <p:nvPr/>
        </p:nvCxnSpPr>
        <p:spPr>
          <a:xfrm>
            <a:off x="6281789" y="1423653"/>
            <a:ext cx="14228" cy="4140000"/>
          </a:xfrm>
          <a:prstGeom prst="straightConnector1">
            <a:avLst/>
          </a:prstGeom>
          <a:noFill/>
          <a:ln w="9525" cap="flat" cmpd="sng">
            <a:solidFill>
              <a:srgbClr val="FFFFFF"/>
            </a:solidFill>
            <a:prstDash val="dash"/>
            <a:miter/>
            <a:headEnd type="none" w="sm" len="sm"/>
            <a:tailEnd type="none" w="med" len="med"/>
          </a:ln>
        </p:spPr>
      </p:cxnSp>
      <p:cxnSp>
        <p:nvCxnSpPr>
          <p:cNvPr id="47" name="Shape 51">
            <a:extLst>
              <a:ext uri="{FF2B5EF4-FFF2-40B4-BE49-F238E27FC236}">
                <a16:creationId xmlns:a16="http://schemas.microsoft.com/office/drawing/2014/main" id="{8C525640-3995-5A4B-3FCD-380590E4D142}"/>
              </a:ext>
            </a:extLst>
          </p:cNvPr>
          <p:cNvCxnSpPr>
            <a:cxnSpLocks/>
          </p:cNvCxnSpPr>
          <p:nvPr/>
        </p:nvCxnSpPr>
        <p:spPr>
          <a:xfrm>
            <a:off x="6874294" y="1423653"/>
            <a:ext cx="31316" cy="4140000"/>
          </a:xfrm>
          <a:prstGeom prst="straightConnector1">
            <a:avLst/>
          </a:prstGeom>
          <a:noFill/>
          <a:ln w="9525" cap="flat" cmpd="sng">
            <a:solidFill>
              <a:srgbClr val="FFFFFF"/>
            </a:solidFill>
            <a:prstDash val="dash"/>
            <a:miter/>
            <a:headEnd type="none" w="sm" len="sm"/>
            <a:tailEnd type="none" w="med" len="med"/>
          </a:ln>
        </p:spPr>
      </p:cxnSp>
      <p:cxnSp>
        <p:nvCxnSpPr>
          <p:cNvPr id="48" name="Shape 51">
            <a:extLst>
              <a:ext uri="{FF2B5EF4-FFF2-40B4-BE49-F238E27FC236}">
                <a16:creationId xmlns:a16="http://schemas.microsoft.com/office/drawing/2014/main" id="{4F9FC821-E12F-1CC6-E08A-AF660DEF6480}"/>
              </a:ext>
            </a:extLst>
          </p:cNvPr>
          <p:cNvCxnSpPr>
            <a:cxnSpLocks/>
          </p:cNvCxnSpPr>
          <p:nvPr/>
        </p:nvCxnSpPr>
        <p:spPr>
          <a:xfrm>
            <a:off x="7483887" y="1423653"/>
            <a:ext cx="0" cy="4140000"/>
          </a:xfrm>
          <a:prstGeom prst="straightConnector1">
            <a:avLst/>
          </a:prstGeom>
          <a:noFill/>
          <a:ln w="9525" cap="flat" cmpd="sng">
            <a:solidFill>
              <a:srgbClr val="FFFFFF"/>
            </a:solidFill>
            <a:prstDash val="dash"/>
            <a:miter/>
            <a:headEnd type="none" w="sm" len="sm"/>
            <a:tailEnd type="none" w="med" len="med"/>
          </a:ln>
        </p:spPr>
      </p:cxnSp>
      <p:cxnSp>
        <p:nvCxnSpPr>
          <p:cNvPr id="49" name="Shape 51">
            <a:extLst>
              <a:ext uri="{FF2B5EF4-FFF2-40B4-BE49-F238E27FC236}">
                <a16:creationId xmlns:a16="http://schemas.microsoft.com/office/drawing/2014/main" id="{A1AB4354-3CF7-06B9-C64E-20ADD407F5FE}"/>
              </a:ext>
            </a:extLst>
          </p:cNvPr>
          <p:cNvCxnSpPr>
            <a:cxnSpLocks/>
          </p:cNvCxnSpPr>
          <p:nvPr/>
        </p:nvCxnSpPr>
        <p:spPr>
          <a:xfrm>
            <a:off x="8062164" y="1423653"/>
            <a:ext cx="10846" cy="4140000"/>
          </a:xfrm>
          <a:prstGeom prst="straightConnector1">
            <a:avLst/>
          </a:prstGeom>
          <a:noFill/>
          <a:ln w="9525" cap="flat" cmpd="sng">
            <a:solidFill>
              <a:srgbClr val="FFFFFF"/>
            </a:solidFill>
            <a:prstDash val="dash"/>
            <a:miter/>
            <a:headEnd type="none" w="sm" len="sm"/>
            <a:tailEnd type="none" w="med" len="med"/>
          </a:ln>
        </p:spPr>
      </p:cxnSp>
      <p:cxnSp>
        <p:nvCxnSpPr>
          <p:cNvPr id="50" name="Shape 51">
            <a:extLst>
              <a:ext uri="{FF2B5EF4-FFF2-40B4-BE49-F238E27FC236}">
                <a16:creationId xmlns:a16="http://schemas.microsoft.com/office/drawing/2014/main" id="{643785B0-9D20-D484-5AE1-0B5A3B1F1277}"/>
              </a:ext>
            </a:extLst>
          </p:cNvPr>
          <p:cNvCxnSpPr>
            <a:cxnSpLocks/>
          </p:cNvCxnSpPr>
          <p:nvPr/>
        </p:nvCxnSpPr>
        <p:spPr>
          <a:xfrm>
            <a:off x="8651287" y="1423653"/>
            <a:ext cx="25578" cy="4140000"/>
          </a:xfrm>
          <a:prstGeom prst="straightConnector1">
            <a:avLst/>
          </a:prstGeom>
          <a:noFill/>
          <a:ln w="9525" cap="flat" cmpd="sng">
            <a:solidFill>
              <a:srgbClr val="FFFFFF"/>
            </a:solidFill>
            <a:prstDash val="dash"/>
            <a:miter/>
            <a:headEnd type="none" w="sm" len="sm"/>
            <a:tailEnd type="none" w="med" len="med"/>
          </a:ln>
        </p:spPr>
      </p:cxnSp>
      <p:sp>
        <p:nvSpPr>
          <p:cNvPr id="70" name="Isosceles Triangle 69">
            <a:extLst>
              <a:ext uri="{FF2B5EF4-FFF2-40B4-BE49-F238E27FC236}">
                <a16:creationId xmlns:a16="http://schemas.microsoft.com/office/drawing/2014/main" id="{1BA03E3A-E7DC-6F0B-86C5-756AC552BA9C}"/>
              </a:ext>
            </a:extLst>
          </p:cNvPr>
          <p:cNvSpPr/>
          <p:nvPr/>
        </p:nvSpPr>
        <p:spPr>
          <a:xfrm rot="10800000">
            <a:off x="1659526" y="5604564"/>
            <a:ext cx="108000" cy="108000"/>
          </a:xfrm>
          <a:prstGeom prst="triangle">
            <a:avLst/>
          </a:prstGeom>
          <a:solidFill>
            <a:schemeClr val="accent2"/>
          </a:solidFill>
          <a:ln w="28575" cap="flat" cmpd="sng" algn="ctr">
            <a:solidFill>
              <a:schemeClr val="accent2"/>
            </a:solidFill>
            <a:prstDash val="solid"/>
            <a:miter lim="800000"/>
          </a:ln>
          <a:effectLst/>
        </p:spPr>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100" b="0" i="0" u="none" strike="noStrike" kern="1200" cap="none" spc="0" normalizeH="0" baseline="0" noProof="0">
              <a:ln>
                <a:noFill/>
              </a:ln>
              <a:solidFill>
                <a:srgbClr val="FFFFFF"/>
              </a:solidFill>
              <a:effectLst/>
              <a:uLnTx/>
              <a:uFillTx/>
              <a:latin typeface="+mj-lt"/>
              <a:ea typeface="+mn-ea"/>
              <a:cs typeface="+mn-cs"/>
            </a:endParaRPr>
          </a:p>
        </p:txBody>
      </p:sp>
      <p:sp>
        <p:nvSpPr>
          <p:cNvPr id="71" name="TextBox 24">
            <a:extLst>
              <a:ext uri="{FF2B5EF4-FFF2-40B4-BE49-F238E27FC236}">
                <a16:creationId xmlns:a16="http://schemas.microsoft.com/office/drawing/2014/main" id="{CFCF72E3-4A3D-8A13-A766-D01FE41B875F}"/>
              </a:ext>
            </a:extLst>
          </p:cNvPr>
          <p:cNvSpPr txBox="1"/>
          <p:nvPr/>
        </p:nvSpPr>
        <p:spPr>
          <a:xfrm>
            <a:off x="1659526" y="5766018"/>
            <a:ext cx="1332000" cy="169277"/>
          </a:xfrm>
          <a:prstGeom prst="rect">
            <a:avLst/>
          </a:prstGeom>
          <a:noFill/>
        </p:spPr>
        <p:txBody>
          <a:bodyPr wrap="square" lIns="0" tIns="0" rIns="0" bIns="0" rtlCol="0" anchor="ctr">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indent="-92075">
              <a:buFont typeface="Arial" panose="020B0604020202020204" pitchFamily="34" charset="0"/>
              <a:buChar char="•"/>
              <a:defRPr/>
            </a:pPr>
            <a:r>
              <a:rPr lang="en-AU" sz="1100" noProof="0">
                <a:solidFill>
                  <a:srgbClr val="FFFFFF"/>
                </a:solidFill>
                <a:latin typeface="+mj-lt"/>
              </a:rPr>
              <a:t>Kick off</a:t>
            </a:r>
          </a:p>
        </p:txBody>
      </p:sp>
      <p:sp>
        <p:nvSpPr>
          <p:cNvPr id="81" name="Rectangle: Rounded Corners 80">
            <a:extLst>
              <a:ext uri="{FF2B5EF4-FFF2-40B4-BE49-F238E27FC236}">
                <a16:creationId xmlns:a16="http://schemas.microsoft.com/office/drawing/2014/main" id="{18974D40-06AA-C1F0-630A-F89F8F4C8985}"/>
              </a:ext>
            </a:extLst>
          </p:cNvPr>
          <p:cNvSpPr/>
          <p:nvPr/>
        </p:nvSpPr>
        <p:spPr>
          <a:xfrm>
            <a:off x="10457239" y="1758139"/>
            <a:ext cx="1221856" cy="3496815"/>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1100" i="1" kern="0" noProof="0">
                <a:solidFill>
                  <a:srgbClr val="FFFFFF"/>
                </a:solidFill>
                <a:latin typeface="+mj-lt"/>
              </a:rPr>
              <a:t>DEPLOYMENT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i="1" u="none" strike="noStrike" kern="0" cap="none" spc="0" normalizeH="0" baseline="0" noProof="0">
                <a:ln>
                  <a:noFill/>
                </a:ln>
                <a:solidFill>
                  <a:srgbClr val="FFFFFF"/>
                </a:solidFill>
                <a:effectLst/>
                <a:uLnTx/>
                <a:uFillTx/>
                <a:latin typeface="+mj-lt"/>
                <a:ea typeface="+mn-ea"/>
                <a:cs typeface="+mn-cs"/>
              </a:rPr>
              <a:t>(duration </a:t>
            </a:r>
            <a:r>
              <a:rPr kumimoji="0" lang="en-AU" sz="1100" i="1" u="none" strike="noStrike" kern="0" cap="none" spc="0" normalizeH="0" baseline="0" noProof="0" err="1">
                <a:ln>
                  <a:noFill/>
                </a:ln>
                <a:solidFill>
                  <a:srgbClr val="FFFFFF"/>
                </a:solidFill>
                <a:effectLst/>
                <a:uLnTx/>
                <a:uFillTx/>
                <a:latin typeface="+mj-lt"/>
                <a:ea typeface="+mn-ea"/>
                <a:cs typeface="+mn-cs"/>
              </a:rPr>
              <a:t>tbd</a:t>
            </a:r>
            <a:r>
              <a:rPr kumimoji="0" lang="en-AU" sz="1100" i="1" u="none" strike="noStrike" kern="0" cap="none" spc="0" normalizeH="0" baseline="0" noProof="0">
                <a:ln>
                  <a:noFill/>
                </a:ln>
                <a:solidFill>
                  <a:srgbClr val="FFFFFF"/>
                </a:solidFill>
                <a:effectLst/>
                <a:uLnTx/>
                <a:uFillTx/>
                <a:latin typeface="+mj-lt"/>
                <a:ea typeface="+mn-ea"/>
                <a:cs typeface="+mn-cs"/>
              </a:rPr>
              <a:t>)</a:t>
            </a:r>
          </a:p>
        </p:txBody>
      </p:sp>
      <p:grpSp>
        <p:nvGrpSpPr>
          <p:cNvPr id="91" name="Group 90">
            <a:extLst>
              <a:ext uri="{FF2B5EF4-FFF2-40B4-BE49-F238E27FC236}">
                <a16:creationId xmlns:a16="http://schemas.microsoft.com/office/drawing/2014/main" id="{07B0F451-16AC-F796-8A06-8B58547BBC88}"/>
              </a:ext>
            </a:extLst>
          </p:cNvPr>
          <p:cNvGrpSpPr/>
          <p:nvPr/>
        </p:nvGrpSpPr>
        <p:grpSpPr>
          <a:xfrm>
            <a:off x="815382" y="1675080"/>
            <a:ext cx="1009083" cy="623059"/>
            <a:chOff x="815381" y="1766250"/>
            <a:chExt cx="1009083" cy="623059"/>
          </a:xfrm>
        </p:grpSpPr>
        <p:sp>
          <p:nvSpPr>
            <p:cNvPr id="76" name="Rectangle: Rounded Corners 75">
              <a:extLst>
                <a:ext uri="{FF2B5EF4-FFF2-40B4-BE49-F238E27FC236}">
                  <a16:creationId xmlns:a16="http://schemas.microsoft.com/office/drawing/2014/main" id="{DE55BCF0-7A0E-B948-6E3F-BB30BA782A9E}"/>
                </a:ext>
              </a:extLst>
            </p:cNvPr>
            <p:cNvSpPr/>
            <p:nvPr/>
          </p:nvSpPr>
          <p:spPr>
            <a:xfrm>
              <a:off x="937508" y="1849309"/>
              <a:ext cx="886956" cy="540000"/>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i="1" u="none" strike="noStrike" kern="0" cap="none" spc="0" normalizeH="0" baseline="0" noProof="0">
                  <a:ln>
                    <a:noFill/>
                  </a:ln>
                  <a:solidFill>
                    <a:srgbClr val="FFFFFF"/>
                  </a:solidFill>
                  <a:effectLst/>
                  <a:uLnTx/>
                  <a:uFillTx/>
                  <a:latin typeface="+mj-lt"/>
                  <a:ea typeface="+mn-ea"/>
                  <a:cs typeface="+mn-cs"/>
                </a:rPr>
                <a:t>MOBILIZATION AND PREPARATION</a:t>
              </a:r>
            </a:p>
          </p:txBody>
        </p:sp>
        <p:sp>
          <p:nvSpPr>
            <p:cNvPr id="82" name="Oval 81">
              <a:extLst>
                <a:ext uri="{FF2B5EF4-FFF2-40B4-BE49-F238E27FC236}">
                  <a16:creationId xmlns:a16="http://schemas.microsoft.com/office/drawing/2014/main" id="{76E298E6-5B7A-6641-BCFB-FDB783DE52AE}"/>
                </a:ext>
              </a:extLst>
            </p:cNvPr>
            <p:cNvSpPr/>
            <p:nvPr/>
          </p:nvSpPr>
          <p:spPr>
            <a:xfrm>
              <a:off x="815381" y="1766250"/>
              <a:ext cx="240790" cy="240790"/>
            </a:xfrm>
            <a:prstGeom prst="ellipse">
              <a:avLst/>
            </a:prstGeom>
            <a:solidFill>
              <a:srgbClr val="12ABDB"/>
            </a:solidFill>
            <a:ln>
              <a:solidFill>
                <a:srgbClr val="063C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100" b="1" noProof="0">
                  <a:solidFill>
                    <a:schemeClr val="bg1"/>
                  </a:solidFill>
                  <a:latin typeface="+mj-lt"/>
                </a:rPr>
                <a:t>1</a:t>
              </a:r>
            </a:p>
          </p:txBody>
        </p:sp>
      </p:grpSp>
      <p:grpSp>
        <p:nvGrpSpPr>
          <p:cNvPr id="92" name="Group 91">
            <a:extLst>
              <a:ext uri="{FF2B5EF4-FFF2-40B4-BE49-F238E27FC236}">
                <a16:creationId xmlns:a16="http://schemas.microsoft.com/office/drawing/2014/main" id="{8FAF5A70-6033-F8EE-CF15-90051CA38CF1}"/>
              </a:ext>
            </a:extLst>
          </p:cNvPr>
          <p:cNvGrpSpPr/>
          <p:nvPr/>
        </p:nvGrpSpPr>
        <p:grpSpPr>
          <a:xfrm>
            <a:off x="1662881" y="2414284"/>
            <a:ext cx="2847651" cy="623059"/>
            <a:chOff x="1662880" y="2542704"/>
            <a:chExt cx="2847651" cy="623059"/>
          </a:xfrm>
        </p:grpSpPr>
        <p:sp>
          <p:nvSpPr>
            <p:cNvPr id="77" name="Rectangle: Rounded Corners 76">
              <a:extLst>
                <a:ext uri="{FF2B5EF4-FFF2-40B4-BE49-F238E27FC236}">
                  <a16:creationId xmlns:a16="http://schemas.microsoft.com/office/drawing/2014/main" id="{A648EA4F-CF0C-1312-2D68-B449A61FF6B0}"/>
                </a:ext>
              </a:extLst>
            </p:cNvPr>
            <p:cNvSpPr/>
            <p:nvPr/>
          </p:nvSpPr>
          <p:spPr>
            <a:xfrm>
              <a:off x="1783274" y="2625763"/>
              <a:ext cx="2727257" cy="540000"/>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i="1" u="none" strike="noStrike" kern="0" cap="none" spc="0" normalizeH="0" baseline="0" noProof="0" dirty="0">
                  <a:ln>
                    <a:noFill/>
                  </a:ln>
                  <a:solidFill>
                    <a:srgbClr val="FFFFFF"/>
                  </a:solidFill>
                  <a:effectLst/>
                  <a:uLnTx/>
                  <a:uFillTx/>
                  <a:latin typeface="+mj-lt"/>
                  <a:ea typeface="+mn-ea"/>
                  <a:cs typeface="+mn-cs"/>
                </a:rPr>
                <a:t>MATURITY ASSESSMENT AND ASPIRATIONAL DEFINITION</a:t>
              </a:r>
            </a:p>
          </p:txBody>
        </p:sp>
        <p:sp>
          <p:nvSpPr>
            <p:cNvPr id="83" name="Oval 82">
              <a:extLst>
                <a:ext uri="{FF2B5EF4-FFF2-40B4-BE49-F238E27FC236}">
                  <a16:creationId xmlns:a16="http://schemas.microsoft.com/office/drawing/2014/main" id="{0781262A-F817-DE9E-4FCD-D9BEFB849E6C}"/>
                </a:ext>
              </a:extLst>
            </p:cNvPr>
            <p:cNvSpPr/>
            <p:nvPr/>
          </p:nvSpPr>
          <p:spPr>
            <a:xfrm>
              <a:off x="1662880" y="2542704"/>
              <a:ext cx="240790" cy="240790"/>
            </a:xfrm>
            <a:prstGeom prst="ellipse">
              <a:avLst/>
            </a:prstGeom>
            <a:solidFill>
              <a:srgbClr val="12ABDB"/>
            </a:solidFill>
            <a:ln>
              <a:solidFill>
                <a:srgbClr val="063C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100" b="1" noProof="0">
                  <a:solidFill>
                    <a:schemeClr val="bg1"/>
                  </a:solidFill>
                  <a:latin typeface="+mj-lt"/>
                </a:rPr>
                <a:t>2</a:t>
              </a:r>
            </a:p>
          </p:txBody>
        </p:sp>
      </p:grpSp>
      <p:grpSp>
        <p:nvGrpSpPr>
          <p:cNvPr id="93" name="Group 92">
            <a:extLst>
              <a:ext uri="{FF2B5EF4-FFF2-40B4-BE49-F238E27FC236}">
                <a16:creationId xmlns:a16="http://schemas.microsoft.com/office/drawing/2014/main" id="{D3F9F5A5-5DEF-689B-DCFB-18F05EDC0AC2}"/>
              </a:ext>
            </a:extLst>
          </p:cNvPr>
          <p:cNvGrpSpPr/>
          <p:nvPr/>
        </p:nvGrpSpPr>
        <p:grpSpPr>
          <a:xfrm>
            <a:off x="3799099" y="3153488"/>
            <a:ext cx="2511462" cy="623059"/>
            <a:chOff x="3799098" y="3357591"/>
            <a:chExt cx="2511462" cy="623059"/>
          </a:xfrm>
        </p:grpSpPr>
        <p:sp>
          <p:nvSpPr>
            <p:cNvPr id="78" name="Rectangle: Rounded Corners 77">
              <a:extLst>
                <a:ext uri="{FF2B5EF4-FFF2-40B4-BE49-F238E27FC236}">
                  <a16:creationId xmlns:a16="http://schemas.microsoft.com/office/drawing/2014/main" id="{E52288B2-41CC-5D35-273A-FD60A7E5C23E}"/>
                </a:ext>
              </a:extLst>
            </p:cNvPr>
            <p:cNvSpPr/>
            <p:nvPr/>
          </p:nvSpPr>
          <p:spPr>
            <a:xfrm>
              <a:off x="3921410" y="3440650"/>
              <a:ext cx="2389150" cy="540000"/>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i="1" u="none" strike="noStrike" kern="0" cap="none" spc="0" normalizeH="0" baseline="0" noProof="0">
                  <a:ln>
                    <a:noFill/>
                  </a:ln>
                  <a:solidFill>
                    <a:srgbClr val="FFFFFF"/>
                  </a:solidFill>
                  <a:effectLst/>
                  <a:uLnTx/>
                  <a:uFillTx/>
                  <a:latin typeface="+mj-lt"/>
                  <a:ea typeface="+mn-ea"/>
                  <a:cs typeface="+mn-cs"/>
                </a:rPr>
                <a:t>TARGET S&amp;OP CYCLE DEFINITION</a:t>
              </a:r>
            </a:p>
          </p:txBody>
        </p:sp>
        <p:sp>
          <p:nvSpPr>
            <p:cNvPr id="84" name="Oval 83">
              <a:extLst>
                <a:ext uri="{FF2B5EF4-FFF2-40B4-BE49-F238E27FC236}">
                  <a16:creationId xmlns:a16="http://schemas.microsoft.com/office/drawing/2014/main" id="{8F00FB77-557B-8AC4-DD91-3561DDF9FAEC}"/>
                </a:ext>
              </a:extLst>
            </p:cNvPr>
            <p:cNvSpPr/>
            <p:nvPr/>
          </p:nvSpPr>
          <p:spPr>
            <a:xfrm>
              <a:off x="3799098" y="3357591"/>
              <a:ext cx="240790" cy="240790"/>
            </a:xfrm>
            <a:prstGeom prst="ellipse">
              <a:avLst/>
            </a:prstGeom>
            <a:solidFill>
              <a:srgbClr val="12ABDB"/>
            </a:solidFill>
            <a:ln>
              <a:solidFill>
                <a:srgbClr val="063C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100" i="1" noProof="0">
                  <a:solidFill>
                    <a:schemeClr val="bg1"/>
                  </a:solidFill>
                  <a:latin typeface="+mj-lt"/>
                </a:rPr>
                <a:t>3</a:t>
              </a:r>
            </a:p>
          </p:txBody>
        </p:sp>
      </p:grpSp>
      <p:grpSp>
        <p:nvGrpSpPr>
          <p:cNvPr id="94" name="Group 93">
            <a:extLst>
              <a:ext uri="{FF2B5EF4-FFF2-40B4-BE49-F238E27FC236}">
                <a16:creationId xmlns:a16="http://schemas.microsoft.com/office/drawing/2014/main" id="{2FB2925F-5362-B73D-6463-FA557C7AE1F8}"/>
              </a:ext>
            </a:extLst>
          </p:cNvPr>
          <p:cNvGrpSpPr/>
          <p:nvPr/>
        </p:nvGrpSpPr>
        <p:grpSpPr>
          <a:xfrm>
            <a:off x="6166681" y="3892692"/>
            <a:ext cx="3059689" cy="623059"/>
            <a:chOff x="6166680" y="4019430"/>
            <a:chExt cx="3059689" cy="623059"/>
          </a:xfrm>
        </p:grpSpPr>
        <p:sp>
          <p:nvSpPr>
            <p:cNvPr id="79" name="Rectangle: Rounded Corners 78">
              <a:extLst>
                <a:ext uri="{FF2B5EF4-FFF2-40B4-BE49-F238E27FC236}">
                  <a16:creationId xmlns:a16="http://schemas.microsoft.com/office/drawing/2014/main" id="{A113CFC5-961F-2EF3-9331-66782A4A8C4B}"/>
                </a:ext>
              </a:extLst>
            </p:cNvPr>
            <p:cNvSpPr/>
            <p:nvPr/>
          </p:nvSpPr>
          <p:spPr>
            <a:xfrm>
              <a:off x="6290908" y="4102489"/>
              <a:ext cx="2935461" cy="540000"/>
            </a:xfrm>
            <a:prstGeom prst="roundRect">
              <a:avLst/>
            </a:prstGeom>
            <a:solidFill>
              <a:srgbClr val="12ABDB"/>
            </a:solidFill>
            <a:ln w="25400" cap="flat" cmpd="sng" algn="ctr">
              <a:noFill/>
              <a:prstDash val="solid"/>
            </a:ln>
            <a:effectLst/>
          </p:spPr>
          <p:txBody>
            <a:bodyPr lIns="0" tIns="0" rIns="0" bIns="0" rtlCol="0" anchor="ctr"/>
            <a:lstStyle/>
            <a:p>
              <a:pPr lvl="0" algn="ctr">
                <a:defRPr/>
              </a:pPr>
              <a:r>
                <a:rPr lang="en-AU" sz="1100" i="1" kern="0" noProof="0">
                  <a:solidFill>
                    <a:srgbClr val="FFFFFF"/>
                  </a:solidFill>
                  <a:latin typeface="+mj-lt"/>
                </a:rPr>
                <a:t>DEMAND AND SUPPLY ORGANIZATION AND PROCESSES DESIGN</a:t>
              </a:r>
            </a:p>
          </p:txBody>
        </p:sp>
        <p:sp>
          <p:nvSpPr>
            <p:cNvPr id="85" name="Oval 84">
              <a:extLst>
                <a:ext uri="{FF2B5EF4-FFF2-40B4-BE49-F238E27FC236}">
                  <a16:creationId xmlns:a16="http://schemas.microsoft.com/office/drawing/2014/main" id="{C98BB5DE-27C0-29E5-E044-FBDE3D01811B}"/>
                </a:ext>
              </a:extLst>
            </p:cNvPr>
            <p:cNvSpPr/>
            <p:nvPr/>
          </p:nvSpPr>
          <p:spPr>
            <a:xfrm>
              <a:off x="6166680" y="4019430"/>
              <a:ext cx="240790" cy="240790"/>
            </a:xfrm>
            <a:prstGeom prst="ellipse">
              <a:avLst/>
            </a:prstGeom>
            <a:solidFill>
              <a:srgbClr val="12ABDB"/>
            </a:solidFill>
            <a:ln>
              <a:solidFill>
                <a:srgbClr val="063C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100" i="1" noProof="0">
                  <a:solidFill>
                    <a:schemeClr val="bg1"/>
                  </a:solidFill>
                  <a:latin typeface="+mj-lt"/>
                </a:rPr>
                <a:t>4</a:t>
              </a:r>
            </a:p>
          </p:txBody>
        </p:sp>
      </p:grpSp>
      <p:sp>
        <p:nvSpPr>
          <p:cNvPr id="86" name="Oval 85">
            <a:extLst>
              <a:ext uri="{FF2B5EF4-FFF2-40B4-BE49-F238E27FC236}">
                <a16:creationId xmlns:a16="http://schemas.microsoft.com/office/drawing/2014/main" id="{A29BC514-48C3-C94E-444F-6E05D14B462E}"/>
              </a:ext>
            </a:extLst>
          </p:cNvPr>
          <p:cNvSpPr/>
          <p:nvPr/>
        </p:nvSpPr>
        <p:spPr>
          <a:xfrm>
            <a:off x="10336843" y="1675080"/>
            <a:ext cx="240790" cy="240790"/>
          </a:xfrm>
          <a:prstGeom prst="ellipse">
            <a:avLst/>
          </a:prstGeom>
          <a:solidFill>
            <a:srgbClr val="12ABDB"/>
          </a:solidFill>
          <a:ln>
            <a:solidFill>
              <a:srgbClr val="063C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100">
                <a:solidFill>
                  <a:schemeClr val="bg1"/>
                </a:solidFill>
                <a:latin typeface="+mj-lt"/>
              </a:rPr>
              <a:t>6</a:t>
            </a:r>
            <a:endParaRPr lang="en-AU" sz="1100" noProof="0">
              <a:solidFill>
                <a:schemeClr val="bg1"/>
              </a:solidFill>
              <a:latin typeface="+mj-lt"/>
            </a:endParaRPr>
          </a:p>
        </p:txBody>
      </p:sp>
      <p:grpSp>
        <p:nvGrpSpPr>
          <p:cNvPr id="95" name="Group 94">
            <a:extLst>
              <a:ext uri="{FF2B5EF4-FFF2-40B4-BE49-F238E27FC236}">
                <a16:creationId xmlns:a16="http://schemas.microsoft.com/office/drawing/2014/main" id="{0B2ED184-7C8E-6C2D-815B-161CA7AFE4B7}"/>
              </a:ext>
            </a:extLst>
          </p:cNvPr>
          <p:cNvGrpSpPr/>
          <p:nvPr/>
        </p:nvGrpSpPr>
        <p:grpSpPr>
          <a:xfrm>
            <a:off x="8497219" y="4631895"/>
            <a:ext cx="1945793" cy="623059"/>
            <a:chOff x="8497218" y="4726157"/>
            <a:chExt cx="1945793" cy="623059"/>
          </a:xfrm>
        </p:grpSpPr>
        <p:sp>
          <p:nvSpPr>
            <p:cNvPr id="80" name="Rectangle: Rounded Corners 79">
              <a:extLst>
                <a:ext uri="{FF2B5EF4-FFF2-40B4-BE49-F238E27FC236}">
                  <a16:creationId xmlns:a16="http://schemas.microsoft.com/office/drawing/2014/main" id="{CC7BBA1F-C65D-FCC3-4C56-85F0A550625D}"/>
                </a:ext>
              </a:extLst>
            </p:cNvPr>
            <p:cNvSpPr/>
            <p:nvPr/>
          </p:nvSpPr>
          <p:spPr>
            <a:xfrm>
              <a:off x="8621447" y="4809216"/>
              <a:ext cx="1821564" cy="540000"/>
            </a:xfrm>
            <a:prstGeom prst="roundRect">
              <a:avLst/>
            </a:prstGeom>
            <a:solidFill>
              <a:srgbClr val="12ABDB"/>
            </a:solid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AU" sz="1100" i="1" kern="0" noProof="0">
                  <a:solidFill>
                    <a:srgbClr val="FFFFFF"/>
                  </a:solidFill>
                  <a:latin typeface="+mj-lt"/>
                </a:rPr>
                <a:t>IMPLEMENTATION READINESS, CHANGE MANAGEMENT &amp; KPIs</a:t>
              </a:r>
              <a:endParaRPr kumimoji="0" lang="en-AU" sz="1100" i="1" u="none" strike="noStrike" kern="0" cap="none" spc="0" normalizeH="0" baseline="0" noProof="0">
                <a:ln>
                  <a:noFill/>
                </a:ln>
                <a:solidFill>
                  <a:srgbClr val="FFFFFF"/>
                </a:solidFill>
                <a:effectLst/>
                <a:uLnTx/>
                <a:uFillTx/>
                <a:latin typeface="+mj-lt"/>
                <a:ea typeface="+mn-ea"/>
                <a:cs typeface="+mn-cs"/>
              </a:endParaRPr>
            </a:p>
          </p:txBody>
        </p:sp>
        <p:sp>
          <p:nvSpPr>
            <p:cNvPr id="87" name="Oval 86">
              <a:extLst>
                <a:ext uri="{FF2B5EF4-FFF2-40B4-BE49-F238E27FC236}">
                  <a16:creationId xmlns:a16="http://schemas.microsoft.com/office/drawing/2014/main" id="{81E50576-E586-1AB3-04D1-9CC746C1C1B5}"/>
                </a:ext>
              </a:extLst>
            </p:cNvPr>
            <p:cNvSpPr/>
            <p:nvPr/>
          </p:nvSpPr>
          <p:spPr>
            <a:xfrm>
              <a:off x="8497218" y="4726157"/>
              <a:ext cx="240790" cy="240790"/>
            </a:xfrm>
            <a:prstGeom prst="ellipse">
              <a:avLst/>
            </a:prstGeom>
            <a:solidFill>
              <a:srgbClr val="12ABDB"/>
            </a:solidFill>
            <a:ln>
              <a:solidFill>
                <a:srgbClr val="063C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100" i="1" noProof="0">
                  <a:solidFill>
                    <a:schemeClr val="bg1"/>
                  </a:solidFill>
                  <a:latin typeface="+mj-lt"/>
                </a:rPr>
                <a:t>5</a:t>
              </a:r>
            </a:p>
          </p:txBody>
        </p:sp>
      </p:grpSp>
      <p:sp>
        <p:nvSpPr>
          <p:cNvPr id="90" name="TextBox 24">
            <a:extLst>
              <a:ext uri="{FF2B5EF4-FFF2-40B4-BE49-F238E27FC236}">
                <a16:creationId xmlns:a16="http://schemas.microsoft.com/office/drawing/2014/main" id="{010709CF-ED91-1B44-40B8-83220E0127C2}"/>
              </a:ext>
            </a:extLst>
          </p:cNvPr>
          <p:cNvSpPr txBox="1"/>
          <p:nvPr/>
        </p:nvSpPr>
        <p:spPr>
          <a:xfrm>
            <a:off x="1659526" y="5957008"/>
            <a:ext cx="1332000" cy="169277"/>
          </a:xfrm>
          <a:prstGeom prst="rect">
            <a:avLst/>
          </a:prstGeom>
          <a:noFill/>
        </p:spPr>
        <p:txBody>
          <a:bodyPr wrap="square" lIns="0" tIns="0" rIns="0" bIns="0" rtlCol="0" anchor="ctr">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indent="-92075">
              <a:buFont typeface="Arial" panose="020B0604020202020204" pitchFamily="34" charset="0"/>
              <a:buChar char="•"/>
              <a:defRPr/>
            </a:pPr>
            <a:r>
              <a:rPr lang="en-AU" sz="1100" noProof="0">
                <a:solidFill>
                  <a:srgbClr val="FFFFFF"/>
                </a:solidFill>
                <a:latin typeface="+mj-lt"/>
              </a:rPr>
              <a:t>Segmentation</a:t>
            </a:r>
          </a:p>
        </p:txBody>
      </p:sp>
      <p:sp>
        <p:nvSpPr>
          <p:cNvPr id="96" name="TextBox 24">
            <a:extLst>
              <a:ext uri="{FF2B5EF4-FFF2-40B4-BE49-F238E27FC236}">
                <a16:creationId xmlns:a16="http://schemas.microsoft.com/office/drawing/2014/main" id="{5B13BCA4-ED88-BE13-0607-EE4601D308C9}"/>
              </a:ext>
            </a:extLst>
          </p:cNvPr>
          <p:cNvSpPr txBox="1"/>
          <p:nvPr/>
        </p:nvSpPr>
        <p:spPr>
          <a:xfrm>
            <a:off x="4456531" y="5850541"/>
            <a:ext cx="1332000" cy="338554"/>
          </a:xfrm>
          <a:prstGeom prst="rect">
            <a:avLst/>
          </a:prstGeom>
          <a:noFill/>
        </p:spPr>
        <p:txBody>
          <a:bodyPr wrap="square" lIns="0" tIns="0" rIns="0" bIns="0" rtlCol="0" anchor="ctr">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indent="-92075">
              <a:buFont typeface="Arial" panose="020B0604020202020204" pitchFamily="34" charset="0"/>
              <a:buChar char="•"/>
              <a:defRPr/>
            </a:pPr>
            <a:r>
              <a:rPr lang="en-AU" sz="1100" noProof="0">
                <a:solidFill>
                  <a:srgbClr val="FFFFFF"/>
                </a:solidFill>
                <a:latin typeface="+mj-lt"/>
              </a:rPr>
              <a:t>Maturity assessment analysis and results</a:t>
            </a:r>
          </a:p>
        </p:txBody>
      </p:sp>
      <p:sp>
        <p:nvSpPr>
          <p:cNvPr id="97" name="TextBox 24">
            <a:extLst>
              <a:ext uri="{FF2B5EF4-FFF2-40B4-BE49-F238E27FC236}">
                <a16:creationId xmlns:a16="http://schemas.microsoft.com/office/drawing/2014/main" id="{45E6654F-A534-DADD-1490-EBF68ADA56D7}"/>
              </a:ext>
            </a:extLst>
          </p:cNvPr>
          <p:cNvSpPr txBox="1"/>
          <p:nvPr/>
        </p:nvSpPr>
        <p:spPr>
          <a:xfrm>
            <a:off x="6234902" y="5766018"/>
            <a:ext cx="1332000" cy="507831"/>
          </a:xfrm>
          <a:prstGeom prst="rect">
            <a:avLst/>
          </a:prstGeom>
          <a:noFill/>
        </p:spPr>
        <p:txBody>
          <a:bodyPr wrap="square" lIns="0" tIns="0" rIns="0" bIns="0" rtlCol="0" anchor="ctr">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indent="-92075">
              <a:buFont typeface="Arial" panose="020B0604020202020204" pitchFamily="34" charset="0"/>
              <a:buChar char="•"/>
              <a:defRPr/>
            </a:pPr>
            <a:r>
              <a:rPr lang="en-AU" sz="1100" noProof="0">
                <a:solidFill>
                  <a:srgbClr val="FFFFFF"/>
                </a:solidFill>
                <a:latin typeface="+mj-lt"/>
              </a:rPr>
              <a:t>Target S&amp;OP cycle defined and validated</a:t>
            </a:r>
          </a:p>
        </p:txBody>
      </p:sp>
      <p:sp>
        <p:nvSpPr>
          <p:cNvPr id="98" name="Isosceles Triangle 97">
            <a:extLst>
              <a:ext uri="{FF2B5EF4-FFF2-40B4-BE49-F238E27FC236}">
                <a16:creationId xmlns:a16="http://schemas.microsoft.com/office/drawing/2014/main" id="{58F3060F-E2D2-584F-9BBD-ABAA9EE1880E}"/>
              </a:ext>
            </a:extLst>
          </p:cNvPr>
          <p:cNvSpPr/>
          <p:nvPr/>
        </p:nvSpPr>
        <p:spPr>
          <a:xfrm rot="10800000">
            <a:off x="9223180" y="5601644"/>
            <a:ext cx="108000" cy="108000"/>
          </a:xfrm>
          <a:prstGeom prst="triangle">
            <a:avLst/>
          </a:prstGeom>
          <a:solidFill>
            <a:schemeClr val="accent2"/>
          </a:solidFill>
          <a:ln w="28575" cap="flat" cmpd="sng" algn="ctr">
            <a:solidFill>
              <a:schemeClr val="accent2"/>
            </a:solidFill>
            <a:prstDash val="solid"/>
            <a:miter lim="800000"/>
          </a:ln>
          <a:effectLst/>
        </p:spPr>
        <p:txBody>
          <a:bodyPr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sz="1100" noProof="0">
              <a:solidFill>
                <a:srgbClr val="FFFFFF"/>
              </a:solidFill>
              <a:latin typeface="+mj-lt"/>
            </a:endParaRPr>
          </a:p>
        </p:txBody>
      </p:sp>
      <p:sp>
        <p:nvSpPr>
          <p:cNvPr id="99" name="TextBox 24">
            <a:extLst>
              <a:ext uri="{FF2B5EF4-FFF2-40B4-BE49-F238E27FC236}">
                <a16:creationId xmlns:a16="http://schemas.microsoft.com/office/drawing/2014/main" id="{4623F642-3C8B-5BD5-954E-9264DFD85AD1}"/>
              </a:ext>
            </a:extLst>
          </p:cNvPr>
          <p:cNvSpPr txBox="1"/>
          <p:nvPr/>
        </p:nvSpPr>
        <p:spPr>
          <a:xfrm>
            <a:off x="9223179" y="5766018"/>
            <a:ext cx="1332000" cy="507831"/>
          </a:xfrm>
          <a:prstGeom prst="rect">
            <a:avLst/>
          </a:prstGeom>
          <a:noFill/>
        </p:spPr>
        <p:txBody>
          <a:bodyPr wrap="square" lIns="0" tIns="0" rIns="0" bIns="0" rtlCol="0" anchor="ctr">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indent="-92075">
              <a:buFont typeface="Arial" panose="020B0604020202020204" pitchFamily="34" charset="0"/>
              <a:buChar char="•"/>
              <a:defRPr/>
            </a:pPr>
            <a:r>
              <a:rPr lang="en-AU" sz="1100" noProof="0">
                <a:solidFill>
                  <a:srgbClr val="FFFFFF"/>
                </a:solidFill>
                <a:latin typeface="+mj-lt"/>
              </a:rPr>
              <a:t>Target processes </a:t>
            </a:r>
            <a:br>
              <a:rPr lang="en-AU" sz="1100" noProof="0">
                <a:solidFill>
                  <a:srgbClr val="FFFFFF"/>
                </a:solidFill>
                <a:latin typeface="+mj-lt"/>
              </a:rPr>
            </a:br>
            <a:r>
              <a:rPr lang="en-AU" sz="1100" noProof="0">
                <a:solidFill>
                  <a:srgbClr val="FFFFFF"/>
                </a:solidFill>
                <a:latin typeface="+mj-lt"/>
              </a:rPr>
              <a:t>&amp; org defined </a:t>
            </a:r>
            <a:br>
              <a:rPr lang="en-AU" sz="1100" noProof="0">
                <a:solidFill>
                  <a:srgbClr val="FFFFFF"/>
                </a:solidFill>
                <a:latin typeface="+mj-lt"/>
              </a:rPr>
            </a:br>
            <a:r>
              <a:rPr lang="en-AU" sz="1100" noProof="0">
                <a:solidFill>
                  <a:srgbClr val="FFFFFF"/>
                </a:solidFill>
                <a:latin typeface="+mj-lt"/>
              </a:rPr>
              <a:t>and validated</a:t>
            </a:r>
          </a:p>
        </p:txBody>
      </p:sp>
      <p:sp>
        <p:nvSpPr>
          <p:cNvPr id="100" name="TextBox 24">
            <a:extLst>
              <a:ext uri="{FF2B5EF4-FFF2-40B4-BE49-F238E27FC236}">
                <a16:creationId xmlns:a16="http://schemas.microsoft.com/office/drawing/2014/main" id="{49C3662D-CBAB-C0E4-1C65-ACCAC05529C3}"/>
              </a:ext>
            </a:extLst>
          </p:cNvPr>
          <p:cNvSpPr txBox="1"/>
          <p:nvPr/>
        </p:nvSpPr>
        <p:spPr>
          <a:xfrm>
            <a:off x="10368987" y="5766018"/>
            <a:ext cx="1332000" cy="507600"/>
          </a:xfrm>
          <a:prstGeom prst="rect">
            <a:avLst/>
          </a:prstGeom>
          <a:noFill/>
        </p:spPr>
        <p:txBody>
          <a:bodyPr wrap="square" lIns="0" tIns="0" rIns="0" bIns="0" rtlCol="0" anchor="ctr">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indent="-92075">
              <a:buFont typeface="Arial" panose="020B0604020202020204" pitchFamily="34" charset="0"/>
              <a:buChar char="•"/>
              <a:defRPr/>
            </a:pPr>
            <a:r>
              <a:rPr lang="en-AU" sz="1100" noProof="0">
                <a:solidFill>
                  <a:srgbClr val="FFFFFF"/>
                </a:solidFill>
                <a:latin typeface="+mj-lt"/>
              </a:rPr>
              <a:t>Roadmap of implementation defined and validated</a:t>
            </a:r>
          </a:p>
        </p:txBody>
      </p:sp>
    </p:spTree>
    <p:extLst>
      <p:ext uri="{BB962C8B-B14F-4D97-AF65-F5344CB8AC3E}">
        <p14:creationId xmlns:p14="http://schemas.microsoft.com/office/powerpoint/2010/main" val="155332104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3978B1-920E-94EB-67BF-A7065903722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7C03B205-7110-29DC-257C-3E75EF40E936}"/>
              </a:ext>
            </a:extLst>
          </p:cNvPr>
          <p:cNvSpPr>
            <a:spLocks noGrp="1"/>
          </p:cNvSpPr>
          <p:nvPr>
            <p:ph type="title"/>
          </p:nvPr>
        </p:nvSpPr>
        <p:spPr/>
        <p:txBody>
          <a:bodyPr/>
          <a:lstStyle/>
          <a:p>
            <a:r>
              <a:rPr lang="en-AU" noProof="0"/>
              <a:t>Agenda</a:t>
            </a:r>
          </a:p>
        </p:txBody>
      </p:sp>
      <p:sp>
        <p:nvSpPr>
          <p:cNvPr id="4" name="Espace réservé du texte 3">
            <a:extLst>
              <a:ext uri="{FF2B5EF4-FFF2-40B4-BE49-F238E27FC236}">
                <a16:creationId xmlns:a16="http://schemas.microsoft.com/office/drawing/2014/main" id="{F501BA76-E4CE-BEDC-B394-21C5A8DCE0E4}"/>
              </a:ext>
            </a:extLst>
          </p:cNvPr>
          <p:cNvSpPr>
            <a:spLocks noGrp="1"/>
          </p:cNvSpPr>
          <p:nvPr>
            <p:ph type="body" sz="quarter" idx="12"/>
          </p:nvPr>
        </p:nvSpPr>
        <p:spPr/>
        <p:txBody>
          <a:bodyPr/>
          <a:lstStyle/>
          <a:p>
            <a:r>
              <a:rPr lang="en-AU" noProof="0">
                <a:solidFill>
                  <a:schemeClr val="bg1">
                    <a:lumMod val="65000"/>
                  </a:schemeClr>
                </a:solidFill>
              </a:rPr>
              <a:t>Context and objectives</a:t>
            </a:r>
          </a:p>
          <a:p>
            <a:r>
              <a:rPr lang="en-AU" noProof="0">
                <a:solidFill>
                  <a:schemeClr val="bg1">
                    <a:lumMod val="65000"/>
                  </a:schemeClr>
                </a:solidFill>
              </a:rPr>
              <a:t>Why Capgemini</a:t>
            </a:r>
          </a:p>
          <a:p>
            <a:r>
              <a:rPr lang="en-AU" noProof="0">
                <a:solidFill>
                  <a:schemeClr val="bg1">
                    <a:lumMod val="65000"/>
                  </a:schemeClr>
                </a:solidFill>
              </a:rPr>
              <a:t>Our vision and methodology</a:t>
            </a:r>
          </a:p>
          <a:p>
            <a:r>
              <a:rPr lang="en-AU" noProof="0">
                <a:solidFill>
                  <a:schemeClr val="bg1">
                    <a:lumMod val="65000"/>
                  </a:schemeClr>
                </a:solidFill>
              </a:rPr>
              <a:t>Project plan</a:t>
            </a:r>
          </a:p>
          <a:p>
            <a:r>
              <a:rPr lang="en-AU" b="1" noProof="0"/>
              <a:t>Proposed team and governance model</a:t>
            </a:r>
          </a:p>
          <a:p>
            <a:r>
              <a:rPr lang="en-AU" noProof="0">
                <a:solidFill>
                  <a:schemeClr val="bg1">
                    <a:lumMod val="65000"/>
                  </a:schemeClr>
                </a:solidFill>
              </a:rPr>
              <a:t>Economics</a:t>
            </a:r>
          </a:p>
          <a:p>
            <a:r>
              <a:rPr lang="en-AU" noProof="0">
                <a:solidFill>
                  <a:schemeClr val="bg1">
                    <a:lumMod val="65000"/>
                  </a:schemeClr>
                </a:solidFill>
              </a:rPr>
              <a:t>Credentials</a:t>
            </a:r>
          </a:p>
          <a:p>
            <a:r>
              <a:rPr lang="en-AU">
                <a:solidFill>
                  <a:schemeClr val="bg1">
                    <a:lumMod val="65000"/>
                  </a:schemeClr>
                </a:solidFill>
              </a:rPr>
              <a:t>CVs</a:t>
            </a:r>
            <a:endParaRPr lang="en-AU" noProof="0">
              <a:solidFill>
                <a:schemeClr val="bg1">
                  <a:lumMod val="65000"/>
                </a:schemeClr>
              </a:solidFill>
            </a:endParaRPr>
          </a:p>
        </p:txBody>
      </p:sp>
      <p:grpSp>
        <p:nvGrpSpPr>
          <p:cNvPr id="5" name="Group 12">
            <a:extLst>
              <a:ext uri="{FF2B5EF4-FFF2-40B4-BE49-F238E27FC236}">
                <a16:creationId xmlns:a16="http://schemas.microsoft.com/office/drawing/2014/main" id="{5616C167-05D1-5ED0-AFCD-B915E292E873}"/>
              </a:ext>
              <a:ext uri="{C183D7F6-B498-43B3-948B-1728B52AA6E4}">
                <adec:decorative xmlns:adec="http://schemas.microsoft.com/office/drawing/2017/decorative" val="1"/>
              </a:ext>
            </a:extLst>
          </p:cNvPr>
          <p:cNvGrpSpPr/>
          <p:nvPr/>
        </p:nvGrpSpPr>
        <p:grpSpPr>
          <a:xfrm>
            <a:off x="407988" y="3555514"/>
            <a:ext cx="5399980" cy="432048"/>
            <a:chOff x="407988" y="1844824"/>
            <a:chExt cx="5399980" cy="432048"/>
          </a:xfrm>
        </p:grpSpPr>
        <p:cxnSp>
          <p:nvCxnSpPr>
            <p:cNvPr id="6" name="Straight Connector 9">
              <a:extLst>
                <a:ext uri="{FF2B5EF4-FFF2-40B4-BE49-F238E27FC236}">
                  <a16:creationId xmlns:a16="http://schemas.microsoft.com/office/drawing/2014/main" id="{7933B6AA-A255-B024-BFA8-D4CEEA96EFB2}"/>
                </a:ext>
              </a:extLst>
            </p:cNvPr>
            <p:cNvCxnSpPr>
              <a:cxnSpLocks/>
            </p:cNvCxnSpPr>
            <p:nvPr>
              <p:custDataLst>
                <p:tags r:id="rId2"/>
              </p:custDataLst>
            </p:nvPr>
          </p:nvCxnSpPr>
          <p:spPr>
            <a:xfrm>
              <a:off x="407988" y="2276872"/>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7" name="Straight Connector 11">
              <a:extLst>
                <a:ext uri="{FF2B5EF4-FFF2-40B4-BE49-F238E27FC236}">
                  <a16:creationId xmlns:a16="http://schemas.microsoft.com/office/drawing/2014/main" id="{47BC7BFD-6E0F-60EB-2914-75C9B8CDB535}"/>
                </a:ext>
              </a:extLst>
            </p:cNvPr>
            <p:cNvCxnSpPr>
              <a:cxnSpLocks/>
            </p:cNvCxnSpPr>
            <p:nvPr>
              <p:custDataLst>
                <p:tags r:id="rId3"/>
              </p:custDataLst>
            </p:nvPr>
          </p:nvCxnSpPr>
          <p:spPr>
            <a:xfrm>
              <a:off x="407988" y="1844824"/>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pSp>
      <p:pic>
        <p:nvPicPr>
          <p:cNvPr id="14" name="Picture 13" descr="A fruit and vegetables in a grocery store&#10;&#10;AI-generated content may be incorrect.">
            <a:extLst>
              <a:ext uri="{FF2B5EF4-FFF2-40B4-BE49-F238E27FC236}">
                <a16:creationId xmlns:a16="http://schemas.microsoft.com/office/drawing/2014/main" id="{1FFC3663-5FFF-B436-D9D6-28FD427DFAAE}"/>
              </a:ext>
            </a:extLst>
          </p:cNvPr>
          <p:cNvPicPr>
            <a:picLocks noChangeAspect="1"/>
          </p:cNvPicPr>
          <p:nvPr/>
        </p:nvPicPr>
        <p:blipFill>
          <a:blip r:embed="rId5"/>
          <a:srcRect l="19443" r="59004"/>
          <a:stretch>
            <a:fillRect/>
          </a:stretch>
        </p:blipFill>
        <p:spPr>
          <a:xfrm>
            <a:off x="7032107" y="0"/>
            <a:ext cx="5159893" cy="6858000"/>
          </a:xfrm>
          <a:prstGeom prst="rect">
            <a:avLst/>
          </a:prstGeom>
        </p:spPr>
      </p:pic>
    </p:spTree>
    <p:extLst>
      <p:ext uri="{BB962C8B-B14F-4D97-AF65-F5344CB8AC3E}">
        <p14:creationId xmlns:p14="http://schemas.microsoft.com/office/powerpoint/2010/main" val="1774270045"/>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7952F87-F678-8AC3-8406-540147B68860}"/>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ABEF0F90-A38F-58B1-50EE-D29DA88BB12A}"/>
              </a:ext>
            </a:extLst>
          </p:cNvPr>
          <p:cNvSpPr/>
          <p:nvPr/>
        </p:nvSpPr>
        <p:spPr>
          <a:xfrm>
            <a:off x="3911592" y="3841371"/>
            <a:ext cx="1008112" cy="1891986"/>
          </a:xfrm>
          <a:prstGeom prst="roundRect">
            <a:avLst/>
          </a:prstGeom>
          <a:solidFill>
            <a:srgbClr val="FFFFFF"/>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Verdana"/>
              <a:ea typeface="+mn-ea"/>
              <a:cs typeface="+mn-cs"/>
              <a:sym typeface="Helvetica"/>
            </a:endParaRPr>
          </a:p>
        </p:txBody>
      </p:sp>
      <p:sp>
        <p:nvSpPr>
          <p:cNvPr id="4" name="Titre 3">
            <a:extLst>
              <a:ext uri="{FF2B5EF4-FFF2-40B4-BE49-F238E27FC236}">
                <a16:creationId xmlns:a16="http://schemas.microsoft.com/office/drawing/2014/main" id="{35442994-A7E0-07DF-71A9-C51787749F0C}"/>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91C5EDDB-1F31-581D-083B-8D88D465F561}"/>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PROPOSED TEAM DURING FIRST 16 WEEKS: PHASES 1 TO 5</a:t>
            </a:r>
          </a:p>
        </p:txBody>
      </p:sp>
      <p:cxnSp>
        <p:nvCxnSpPr>
          <p:cNvPr id="3" name="Connector: Elbow 2">
            <a:extLst>
              <a:ext uri="{FF2B5EF4-FFF2-40B4-BE49-F238E27FC236}">
                <a16:creationId xmlns:a16="http://schemas.microsoft.com/office/drawing/2014/main" id="{C0AC76A6-7B6C-17E3-1732-4DF1D5F4B8EB}"/>
              </a:ext>
            </a:extLst>
          </p:cNvPr>
          <p:cNvCxnSpPr>
            <a:cxnSpLocks/>
            <a:stCxn id="20" idx="2"/>
            <a:endCxn id="16" idx="1"/>
          </p:cNvCxnSpPr>
          <p:nvPr/>
        </p:nvCxnSpPr>
        <p:spPr>
          <a:xfrm rot="16200000" flipH="1">
            <a:off x="8568739" y="3475439"/>
            <a:ext cx="933323" cy="1303104"/>
          </a:xfrm>
          <a:prstGeom prst="bentConnector2">
            <a:avLst/>
          </a:prstGeom>
          <a:noFill/>
          <a:ln w="3175" cap="flat">
            <a:solidFill>
              <a:schemeClr val="accent2"/>
            </a:solidFill>
            <a:prstDash val="sysDash"/>
            <a:round/>
            <a:tailEnd type="none"/>
          </a:ln>
          <a:effectLst/>
          <a:sp3d/>
        </p:spPr>
        <p:style>
          <a:lnRef idx="0">
            <a:scrgbClr r="0" g="0" b="0"/>
          </a:lnRef>
          <a:fillRef idx="0">
            <a:scrgbClr r="0" g="0" b="0"/>
          </a:fillRef>
          <a:effectRef idx="0">
            <a:scrgbClr r="0" g="0" b="0"/>
          </a:effectRef>
          <a:fontRef idx="none"/>
        </p:style>
      </p:cxnSp>
      <p:sp>
        <p:nvSpPr>
          <p:cNvPr id="6" name="Rectángulo redondeado">
            <a:extLst>
              <a:ext uri="{FF2B5EF4-FFF2-40B4-BE49-F238E27FC236}">
                <a16:creationId xmlns:a16="http://schemas.microsoft.com/office/drawing/2014/main" id="{C95C0D60-4FDA-CFC0-9E5C-DAC7BFB7241F}"/>
              </a:ext>
            </a:extLst>
          </p:cNvPr>
          <p:cNvSpPr/>
          <p:nvPr/>
        </p:nvSpPr>
        <p:spPr>
          <a:xfrm>
            <a:off x="6465562" y="1081288"/>
            <a:ext cx="6654537" cy="846187"/>
          </a:xfrm>
          <a:prstGeom prst="roundRect">
            <a:avLst>
              <a:gd name="adj" fmla="val 50000"/>
            </a:avLst>
          </a:prstGeom>
          <a:solidFill>
            <a:srgbClr val="FFFFFF"/>
          </a:solidFill>
          <a:ln w="12700">
            <a:miter lim="400000"/>
          </a:ln>
        </p:spPr>
        <p:txBody>
          <a:bodyPr lIns="45718" tIns="45718" rIns="45718" bIns="45718" anchor="ctr"/>
          <a:lstStyle/>
          <a:p>
            <a:pPr marL="0" marR="0" lvl="0" indent="0" algn="l"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endParaRPr kumimoji="0" lang="en-AU" sz="1600" b="0" i="0" u="none" strike="noStrike" kern="0" cap="none" spc="0" normalizeH="0" baseline="0" noProof="0">
              <a:ln>
                <a:noFill/>
              </a:ln>
              <a:solidFill>
                <a:srgbClr val="000000"/>
              </a:solidFill>
              <a:effectLst/>
              <a:uLnTx/>
              <a:uFillTx/>
              <a:latin typeface="Ubuntu"/>
              <a:sym typeface="Ubuntu"/>
            </a:endParaRPr>
          </a:p>
        </p:txBody>
      </p:sp>
      <p:sp>
        <p:nvSpPr>
          <p:cNvPr id="7" name="Rectángulo redondeado">
            <a:extLst>
              <a:ext uri="{FF2B5EF4-FFF2-40B4-BE49-F238E27FC236}">
                <a16:creationId xmlns:a16="http://schemas.microsoft.com/office/drawing/2014/main" id="{424C186B-C807-D2C2-6D26-340E0C69575A}"/>
              </a:ext>
            </a:extLst>
          </p:cNvPr>
          <p:cNvSpPr/>
          <p:nvPr/>
        </p:nvSpPr>
        <p:spPr>
          <a:xfrm>
            <a:off x="6494540" y="2078475"/>
            <a:ext cx="5545029" cy="531225"/>
          </a:xfrm>
          <a:prstGeom prst="roundRect">
            <a:avLst>
              <a:gd name="adj" fmla="val 50000"/>
            </a:avLst>
          </a:prstGeom>
          <a:solidFill>
            <a:srgbClr val="4FA8D6"/>
          </a:solidFill>
          <a:ln w="12700">
            <a:miter lim="400000"/>
          </a:ln>
        </p:spPr>
        <p:txBody>
          <a:bodyPr lIns="0" tIns="45718" rIns="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t>Project Director</a:t>
            </a:r>
          </a:p>
        </p:txBody>
      </p:sp>
      <p:sp>
        <p:nvSpPr>
          <p:cNvPr id="8" name="Rectángulo redondeado">
            <a:extLst>
              <a:ext uri="{FF2B5EF4-FFF2-40B4-BE49-F238E27FC236}">
                <a16:creationId xmlns:a16="http://schemas.microsoft.com/office/drawing/2014/main" id="{958CD507-0720-4812-9FF2-5E18555D2CED}"/>
              </a:ext>
            </a:extLst>
          </p:cNvPr>
          <p:cNvSpPr/>
          <p:nvPr/>
        </p:nvSpPr>
        <p:spPr>
          <a:xfrm>
            <a:off x="6547693" y="2145913"/>
            <a:ext cx="681185" cy="399117"/>
          </a:xfrm>
          <a:prstGeom prst="roundRect">
            <a:avLst>
              <a:gd name="adj" fmla="val 50000"/>
            </a:avLst>
          </a:prstGeom>
          <a:solidFill>
            <a:schemeClr val="bg1"/>
          </a:solidFill>
          <a:ln w="12700">
            <a:miter lim="400000"/>
          </a:ln>
        </p:spPr>
        <p:txBody>
          <a:bodyPr lIns="4680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050" kern="0" noProof="0" dirty="0">
                <a:solidFill>
                  <a:srgbClr val="2B174E"/>
                </a:solidFill>
                <a:latin typeface="Ubuntu" panose="020B0504030602030204" pitchFamily="34" charset="0"/>
                <a:sym typeface="Ubuntu"/>
              </a:rPr>
              <a:t>2</a:t>
            </a:r>
            <a:r>
              <a:rPr kumimoji="0" lang="en-AU" sz="1050" b="0" i="0" u="none" strike="noStrike" kern="0" cap="none" spc="0" normalizeH="0" baseline="0" noProof="0" dirty="0">
                <a:ln>
                  <a:noFill/>
                </a:ln>
                <a:solidFill>
                  <a:srgbClr val="2B174E"/>
                </a:solidFill>
                <a:effectLst/>
                <a:uLnTx/>
                <a:uFillTx/>
                <a:latin typeface="Ubuntu" panose="020B0504030602030204" pitchFamily="34" charset="0"/>
                <a:sym typeface="Ubuntu"/>
              </a:rPr>
              <a:t>0%</a:t>
            </a:r>
          </a:p>
        </p:txBody>
      </p:sp>
      <p:grpSp>
        <p:nvGrpSpPr>
          <p:cNvPr id="12" name="Group 11">
            <a:extLst>
              <a:ext uri="{FF2B5EF4-FFF2-40B4-BE49-F238E27FC236}">
                <a16:creationId xmlns:a16="http://schemas.microsoft.com/office/drawing/2014/main" id="{C6B1E677-385D-036D-DCE5-A811E36A352E}"/>
              </a:ext>
            </a:extLst>
          </p:cNvPr>
          <p:cNvGrpSpPr/>
          <p:nvPr/>
        </p:nvGrpSpPr>
        <p:grpSpPr>
          <a:xfrm>
            <a:off x="6579345" y="4256780"/>
            <a:ext cx="2284229" cy="642054"/>
            <a:chOff x="6590606" y="4508240"/>
            <a:chExt cx="2284229" cy="642054"/>
          </a:xfrm>
        </p:grpSpPr>
        <p:sp>
          <p:nvSpPr>
            <p:cNvPr id="14" name="Rectángulo redondeado">
              <a:extLst>
                <a:ext uri="{FF2B5EF4-FFF2-40B4-BE49-F238E27FC236}">
                  <a16:creationId xmlns:a16="http://schemas.microsoft.com/office/drawing/2014/main" id="{D7089BCA-9B24-6656-5018-497ED0419F08}"/>
                </a:ext>
              </a:extLst>
            </p:cNvPr>
            <p:cNvSpPr/>
            <p:nvPr/>
          </p:nvSpPr>
          <p:spPr>
            <a:xfrm>
              <a:off x="6590606" y="4508240"/>
              <a:ext cx="2284229" cy="642054"/>
            </a:xfrm>
            <a:prstGeom prst="roundRect">
              <a:avLst>
                <a:gd name="adj" fmla="val 50000"/>
              </a:avLst>
            </a:prstGeom>
            <a:solidFill>
              <a:srgbClr val="4FA8D6"/>
            </a:solidFill>
            <a:ln w="12700">
              <a:miter lim="400000"/>
            </a:ln>
          </p:spPr>
          <p:txBody>
            <a:bodyPr lIns="684000" tIns="45718" rIns="45718" bIns="45718" anchor="ctr"/>
            <a:lstStyle/>
            <a:p>
              <a:pPr marL="0" marR="0" lvl="0" indent="0" algn="l"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t>Supply chain planning </a:t>
              </a:r>
              <a:b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br>
              <a: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t>Senior Consultant</a:t>
              </a:r>
            </a:p>
          </p:txBody>
        </p:sp>
        <p:sp>
          <p:nvSpPr>
            <p:cNvPr id="15" name="Rectángulo redondeado">
              <a:extLst>
                <a:ext uri="{FF2B5EF4-FFF2-40B4-BE49-F238E27FC236}">
                  <a16:creationId xmlns:a16="http://schemas.microsoft.com/office/drawing/2014/main" id="{C90213F6-670F-2C49-E7AF-2FE81E653C2E}"/>
                </a:ext>
              </a:extLst>
            </p:cNvPr>
            <p:cNvSpPr/>
            <p:nvPr/>
          </p:nvSpPr>
          <p:spPr>
            <a:xfrm>
              <a:off x="6647032" y="4588800"/>
              <a:ext cx="619259" cy="482386"/>
            </a:xfrm>
            <a:prstGeom prst="roundRect">
              <a:avLst>
                <a:gd name="adj" fmla="val 50000"/>
              </a:avLst>
            </a:prstGeom>
            <a:solidFill>
              <a:schemeClr val="bg1"/>
            </a:solidFill>
            <a:ln w="12700">
              <a:miter lim="400000"/>
            </a:ln>
          </p:spPr>
          <p:txBody>
            <a:bodyPr lIns="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rPr>
                <a:t>100%</a:t>
              </a:r>
            </a:p>
          </p:txBody>
        </p:sp>
      </p:grpSp>
      <p:sp>
        <p:nvSpPr>
          <p:cNvPr id="16" name="Rectángulo redondeado">
            <a:extLst>
              <a:ext uri="{FF2B5EF4-FFF2-40B4-BE49-F238E27FC236}">
                <a16:creationId xmlns:a16="http://schemas.microsoft.com/office/drawing/2014/main" id="{AE526193-B753-EA4E-4591-A50BC0C693B2}"/>
              </a:ext>
            </a:extLst>
          </p:cNvPr>
          <p:cNvSpPr/>
          <p:nvPr/>
        </p:nvSpPr>
        <p:spPr>
          <a:xfrm>
            <a:off x="9686952" y="4256779"/>
            <a:ext cx="3120492" cy="673747"/>
          </a:xfrm>
          <a:prstGeom prst="roundRect">
            <a:avLst>
              <a:gd name="adj" fmla="val 50000"/>
            </a:avLst>
          </a:prstGeom>
          <a:solidFill>
            <a:srgbClr val="4FA8D6"/>
          </a:solidFill>
          <a:ln w="12700">
            <a:miter lim="400000"/>
          </a:ln>
        </p:spPr>
        <p:txBody>
          <a:bodyPr lIns="684000" tIns="45718" rIns="45718" bIns="45718" anchor="ctr"/>
          <a:lstStyle/>
          <a:p>
            <a:pPr marL="0" marR="0" lvl="0" indent="0" algn="l"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200" kern="0" noProof="0" dirty="0">
                <a:solidFill>
                  <a:srgbClr val="FFFFFF"/>
                </a:solidFill>
                <a:latin typeface="Ubuntu" panose="020B0504030602030204" pitchFamily="34" charset="0"/>
                <a:sym typeface="Ubuntu"/>
              </a:rPr>
              <a:t>Business Partner </a:t>
            </a:r>
            <a:r>
              <a:rPr lang="en-AU" sz="1200" kern="0" dirty="0">
                <a:solidFill>
                  <a:srgbClr val="FFFFFF"/>
                </a:solidFill>
                <a:latin typeface="Ubuntu" panose="020B0504030602030204" pitchFamily="34" charset="0"/>
                <a:sym typeface="Ubuntu"/>
              </a:rPr>
              <a:t> </a:t>
            </a:r>
            <a:endParaRPr lang="en-AU" sz="1200" kern="0" noProof="0" dirty="0">
              <a:solidFill>
                <a:srgbClr val="FFFFFF"/>
              </a:solidFill>
              <a:latin typeface="Ubuntu" panose="020B0504030602030204" pitchFamily="34" charset="0"/>
              <a:sym typeface="Ubuntu"/>
            </a:endParaRPr>
          </a:p>
          <a:p>
            <a:pPr marL="0" marR="0" lvl="0" indent="0" algn="l"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200" kern="0" noProof="0" dirty="0">
                <a:solidFill>
                  <a:srgbClr val="FFFFFF"/>
                </a:solidFill>
                <a:latin typeface="Ubuntu" panose="020B0504030602030204" pitchFamily="34" charset="0"/>
                <a:sym typeface="Ubuntu"/>
              </a:rPr>
              <a:t>with knowledge on </a:t>
            </a:r>
          </a:p>
          <a:p>
            <a:pPr marL="0" marR="0" lvl="0" indent="0" algn="l"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200" kern="0" noProof="0" dirty="0">
                <a:solidFill>
                  <a:srgbClr val="FFFFFF"/>
                </a:solidFill>
                <a:latin typeface="Ubuntu" panose="020B0504030602030204" pitchFamily="34" charset="0"/>
                <a:sym typeface="Ubuntu"/>
              </a:rPr>
              <a:t>Functional solution</a:t>
            </a:r>
            <a:endParaRPr kumimoji="0" lang="en-AU" sz="1200" b="0" i="0" u="none" strike="noStrike" kern="0" cap="none" spc="0" normalizeH="0" baseline="0" noProof="0" dirty="0">
              <a:ln>
                <a:noFill/>
              </a:ln>
              <a:solidFill>
                <a:srgbClr val="FFFFFF"/>
              </a:solidFill>
              <a:effectLst/>
              <a:uLnTx/>
              <a:uFillTx/>
              <a:latin typeface="Ubuntu" panose="020B0504030602030204" pitchFamily="34" charset="0"/>
              <a:sym typeface="Ubuntu"/>
            </a:endParaRPr>
          </a:p>
        </p:txBody>
      </p:sp>
      <p:sp>
        <p:nvSpPr>
          <p:cNvPr id="18" name="Rectángulo redondeado">
            <a:extLst>
              <a:ext uri="{FF2B5EF4-FFF2-40B4-BE49-F238E27FC236}">
                <a16:creationId xmlns:a16="http://schemas.microsoft.com/office/drawing/2014/main" id="{E32806ED-F1B3-D3C4-D0B0-A3DEE8639DCC}"/>
              </a:ext>
            </a:extLst>
          </p:cNvPr>
          <p:cNvSpPr/>
          <p:nvPr/>
        </p:nvSpPr>
        <p:spPr>
          <a:xfrm>
            <a:off x="9743378" y="4337339"/>
            <a:ext cx="619259" cy="482386"/>
          </a:xfrm>
          <a:prstGeom prst="roundRect">
            <a:avLst>
              <a:gd name="adj" fmla="val 50000"/>
            </a:avLst>
          </a:prstGeom>
          <a:solidFill>
            <a:schemeClr val="bg1"/>
          </a:solidFill>
          <a:ln w="12700">
            <a:miter lim="400000"/>
          </a:ln>
        </p:spPr>
        <p:txBody>
          <a:bodyPr lIns="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050" kern="0" dirty="0">
                <a:solidFill>
                  <a:srgbClr val="2B174E"/>
                </a:solidFill>
                <a:latin typeface="Ubuntu" panose="020B0504030602030204" pitchFamily="34" charset="0"/>
                <a:sym typeface="Ubuntu"/>
              </a:rPr>
              <a:t>100</a:t>
            </a:r>
            <a:r>
              <a:rPr kumimoji="0" lang="en-AU" sz="1050" b="0" i="0" u="none" strike="noStrike" kern="0" cap="none" spc="0" normalizeH="0" baseline="0" noProof="0" dirty="0">
                <a:ln>
                  <a:noFill/>
                </a:ln>
                <a:solidFill>
                  <a:srgbClr val="2B174E"/>
                </a:solidFill>
                <a:effectLst/>
                <a:uLnTx/>
                <a:uFillTx/>
                <a:latin typeface="Ubuntu" panose="020B0504030602030204" pitchFamily="34" charset="0"/>
                <a:sym typeface="Ubuntu"/>
              </a:rPr>
              <a:t>%</a:t>
            </a:r>
          </a:p>
        </p:txBody>
      </p:sp>
      <p:sp>
        <p:nvSpPr>
          <p:cNvPr id="20" name="Rectángulo redondeado">
            <a:extLst>
              <a:ext uri="{FF2B5EF4-FFF2-40B4-BE49-F238E27FC236}">
                <a16:creationId xmlns:a16="http://schemas.microsoft.com/office/drawing/2014/main" id="{18213788-F009-E9EC-982F-565E10EE7C8D}"/>
              </a:ext>
            </a:extLst>
          </p:cNvPr>
          <p:cNvSpPr/>
          <p:nvPr/>
        </p:nvSpPr>
        <p:spPr>
          <a:xfrm>
            <a:off x="7373391" y="3129105"/>
            <a:ext cx="2020914" cy="531225"/>
          </a:xfrm>
          <a:prstGeom prst="roundRect">
            <a:avLst>
              <a:gd name="adj" fmla="val 50000"/>
            </a:avLst>
          </a:prstGeom>
          <a:solidFill>
            <a:srgbClr val="4FA8D6"/>
          </a:solidFill>
          <a:ln w="12700">
            <a:miter lim="400000"/>
          </a:ln>
        </p:spPr>
        <p:txBody>
          <a:bodyPr lIns="0" tIns="45718" rIns="0" bIns="45718" anchor="ctr"/>
          <a:lstStyle/>
          <a:p>
            <a:pPr marL="533400" marR="0" lvl="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200" b="0" i="0" u="none" strike="noStrike" kern="0" cap="none" spc="0" normalizeH="0" baseline="0" noProof="0" dirty="0">
                <a:ln>
                  <a:noFill/>
                </a:ln>
                <a:solidFill>
                  <a:srgbClr val="FFFFFF"/>
                </a:solidFill>
                <a:effectLst/>
                <a:uLnTx/>
                <a:uFillTx/>
                <a:latin typeface="Ubuntu" panose="020B0504030602030204" pitchFamily="34" charset="0"/>
                <a:sym typeface="Ubuntu"/>
              </a:rPr>
              <a:t>Project </a:t>
            </a:r>
            <a:b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br>
            <a:r>
              <a:rPr kumimoji="0" lang="en-AU" sz="1200" b="0" i="0" u="none" strike="noStrike" kern="0" cap="none" spc="0" normalizeH="0" baseline="0" noProof="0" dirty="0">
                <a:ln>
                  <a:noFill/>
                </a:ln>
                <a:solidFill>
                  <a:srgbClr val="FFFFFF"/>
                </a:solidFill>
                <a:effectLst/>
                <a:uLnTx/>
                <a:uFillTx/>
                <a:latin typeface="Ubuntu" panose="020B0504030602030204" pitchFamily="34" charset="0"/>
                <a:sym typeface="Ubuntu"/>
              </a:rPr>
              <a:t>Manager</a:t>
            </a:r>
            <a: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t> </a:t>
            </a:r>
            <a:b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br>
            <a: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t>(Functional)</a:t>
            </a:r>
          </a:p>
        </p:txBody>
      </p:sp>
      <p:sp>
        <p:nvSpPr>
          <p:cNvPr id="21" name="Rectángulo redondeado">
            <a:extLst>
              <a:ext uri="{FF2B5EF4-FFF2-40B4-BE49-F238E27FC236}">
                <a16:creationId xmlns:a16="http://schemas.microsoft.com/office/drawing/2014/main" id="{7290256F-4009-F1C0-4776-7C4EFC25A5A2}"/>
              </a:ext>
            </a:extLst>
          </p:cNvPr>
          <p:cNvSpPr/>
          <p:nvPr/>
        </p:nvSpPr>
        <p:spPr>
          <a:xfrm>
            <a:off x="7431039" y="3196543"/>
            <a:ext cx="681185" cy="399117"/>
          </a:xfrm>
          <a:prstGeom prst="roundRect">
            <a:avLst>
              <a:gd name="adj" fmla="val 50000"/>
            </a:avLst>
          </a:prstGeom>
          <a:solidFill>
            <a:schemeClr val="bg1"/>
          </a:solidFill>
          <a:ln w="12700">
            <a:miter lim="400000"/>
          </a:ln>
        </p:spPr>
        <p:txBody>
          <a:bodyPr lIns="4680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050" kern="0" dirty="0">
                <a:solidFill>
                  <a:srgbClr val="2B174E"/>
                </a:solidFill>
                <a:latin typeface="Ubuntu" panose="020B0504030602030204" pitchFamily="34" charset="0"/>
                <a:sym typeface="Ubuntu"/>
              </a:rPr>
              <a:t>50</a:t>
            </a:r>
            <a:r>
              <a:rPr kumimoji="0" lang="en-AU" sz="1050" b="0" i="0" u="none" strike="noStrike" kern="0" cap="none" spc="0" normalizeH="0" baseline="0" noProof="0" dirty="0">
                <a:ln>
                  <a:noFill/>
                </a:ln>
                <a:solidFill>
                  <a:srgbClr val="2B174E"/>
                </a:solidFill>
                <a:effectLst/>
                <a:uLnTx/>
                <a:uFillTx/>
                <a:latin typeface="Ubuntu" panose="020B0504030602030204" pitchFamily="34" charset="0"/>
                <a:sym typeface="Ubuntu"/>
              </a:rPr>
              <a:t>%</a:t>
            </a:r>
          </a:p>
        </p:txBody>
      </p:sp>
      <p:pic>
        <p:nvPicPr>
          <p:cNvPr id="22" name="Picture 21">
            <a:extLst>
              <a:ext uri="{FF2B5EF4-FFF2-40B4-BE49-F238E27FC236}">
                <a16:creationId xmlns:a16="http://schemas.microsoft.com/office/drawing/2014/main" id="{A89BB510-0F46-62A3-FF3C-C41E4CA5E1B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771631" y="1106616"/>
            <a:ext cx="3245347" cy="909754"/>
          </a:xfrm>
          <a:prstGeom prst="rect">
            <a:avLst/>
          </a:prstGeom>
        </p:spPr>
      </p:pic>
      <p:grpSp>
        <p:nvGrpSpPr>
          <p:cNvPr id="23" name="Group 22">
            <a:extLst>
              <a:ext uri="{FF2B5EF4-FFF2-40B4-BE49-F238E27FC236}">
                <a16:creationId xmlns:a16="http://schemas.microsoft.com/office/drawing/2014/main" id="{EDB1A609-F16B-3CAF-38B4-76681389BFEE}"/>
              </a:ext>
            </a:extLst>
          </p:cNvPr>
          <p:cNvGrpSpPr/>
          <p:nvPr/>
        </p:nvGrpSpPr>
        <p:grpSpPr>
          <a:xfrm>
            <a:off x="6579345" y="5005133"/>
            <a:ext cx="2284229" cy="642054"/>
            <a:chOff x="6579345" y="5256593"/>
            <a:chExt cx="2284229" cy="642054"/>
          </a:xfrm>
        </p:grpSpPr>
        <p:sp>
          <p:nvSpPr>
            <p:cNvPr id="24" name="Rectángulo redondeado">
              <a:extLst>
                <a:ext uri="{FF2B5EF4-FFF2-40B4-BE49-F238E27FC236}">
                  <a16:creationId xmlns:a16="http://schemas.microsoft.com/office/drawing/2014/main" id="{F44098A0-286E-2FCC-8878-4D9252F123B1}"/>
                </a:ext>
              </a:extLst>
            </p:cNvPr>
            <p:cNvSpPr/>
            <p:nvPr/>
          </p:nvSpPr>
          <p:spPr>
            <a:xfrm>
              <a:off x="6579345" y="5256593"/>
              <a:ext cx="2284229" cy="642054"/>
            </a:xfrm>
            <a:prstGeom prst="roundRect">
              <a:avLst>
                <a:gd name="adj" fmla="val 50000"/>
              </a:avLst>
            </a:prstGeom>
            <a:solidFill>
              <a:srgbClr val="4FA8D6"/>
            </a:solidFill>
            <a:ln w="12700">
              <a:miter lim="400000"/>
            </a:ln>
          </p:spPr>
          <p:txBody>
            <a:bodyPr lIns="684000" tIns="45718" rIns="45718" bIns="45718" anchor="ctr"/>
            <a:lstStyle/>
            <a:p>
              <a:pPr marL="0" marR="0" lvl="0" indent="0" algn="l"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t>Supply chain planning Consultant</a:t>
              </a:r>
            </a:p>
          </p:txBody>
        </p:sp>
        <p:sp>
          <p:nvSpPr>
            <p:cNvPr id="25" name="Rectángulo redondeado">
              <a:extLst>
                <a:ext uri="{FF2B5EF4-FFF2-40B4-BE49-F238E27FC236}">
                  <a16:creationId xmlns:a16="http://schemas.microsoft.com/office/drawing/2014/main" id="{CBD34B52-CADB-8C83-7FA9-7B17F122C014}"/>
                </a:ext>
              </a:extLst>
            </p:cNvPr>
            <p:cNvSpPr/>
            <p:nvPr/>
          </p:nvSpPr>
          <p:spPr>
            <a:xfrm>
              <a:off x="6635771" y="5337153"/>
              <a:ext cx="619259" cy="482386"/>
            </a:xfrm>
            <a:prstGeom prst="roundRect">
              <a:avLst>
                <a:gd name="adj" fmla="val 50000"/>
              </a:avLst>
            </a:prstGeom>
            <a:solidFill>
              <a:schemeClr val="bg1"/>
            </a:solidFill>
            <a:ln w="12700">
              <a:miter lim="400000"/>
            </a:ln>
          </p:spPr>
          <p:txBody>
            <a:bodyPr lIns="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rPr>
                <a:t>100%</a:t>
              </a:r>
            </a:p>
          </p:txBody>
        </p:sp>
      </p:grpSp>
      <p:sp>
        <p:nvSpPr>
          <p:cNvPr id="28" name="Rectangle: Rounded Corners 27">
            <a:extLst>
              <a:ext uri="{FF2B5EF4-FFF2-40B4-BE49-F238E27FC236}">
                <a16:creationId xmlns:a16="http://schemas.microsoft.com/office/drawing/2014/main" id="{90F2CAD7-FA2C-8A46-7D2E-9EA31898B37E}"/>
              </a:ext>
            </a:extLst>
          </p:cNvPr>
          <p:cNvSpPr/>
          <p:nvPr/>
        </p:nvSpPr>
        <p:spPr>
          <a:xfrm>
            <a:off x="551384" y="3876355"/>
            <a:ext cx="1008112" cy="1891986"/>
          </a:xfrm>
          <a:prstGeom prst="roundRect">
            <a:avLst/>
          </a:prstGeom>
          <a:solidFill>
            <a:srgbClr val="FFFFFF"/>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Verdana"/>
              <a:ea typeface="+mn-ea"/>
              <a:cs typeface="+mn-cs"/>
              <a:sym typeface="Helvetica"/>
            </a:endParaRPr>
          </a:p>
        </p:txBody>
      </p:sp>
      <p:sp>
        <p:nvSpPr>
          <p:cNvPr id="29" name="Rectangle: Rounded Corners 28">
            <a:extLst>
              <a:ext uri="{FF2B5EF4-FFF2-40B4-BE49-F238E27FC236}">
                <a16:creationId xmlns:a16="http://schemas.microsoft.com/office/drawing/2014/main" id="{F5BECB31-0010-2C4C-723F-A1D78CDF4524}"/>
              </a:ext>
            </a:extLst>
          </p:cNvPr>
          <p:cNvSpPr/>
          <p:nvPr/>
        </p:nvSpPr>
        <p:spPr>
          <a:xfrm>
            <a:off x="1703512" y="3876355"/>
            <a:ext cx="1008112" cy="1891986"/>
          </a:xfrm>
          <a:prstGeom prst="roundRect">
            <a:avLst/>
          </a:prstGeom>
          <a:solidFill>
            <a:srgbClr val="FFFFFF"/>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Verdana"/>
              <a:ea typeface="+mn-ea"/>
              <a:cs typeface="+mn-cs"/>
              <a:sym typeface="Helvetica"/>
            </a:endParaRPr>
          </a:p>
        </p:txBody>
      </p:sp>
      <p:sp>
        <p:nvSpPr>
          <p:cNvPr id="30" name="Rectangle: Rounded Corners 29">
            <a:extLst>
              <a:ext uri="{FF2B5EF4-FFF2-40B4-BE49-F238E27FC236}">
                <a16:creationId xmlns:a16="http://schemas.microsoft.com/office/drawing/2014/main" id="{23E59131-479A-D53F-5972-0532755A9647}"/>
              </a:ext>
            </a:extLst>
          </p:cNvPr>
          <p:cNvSpPr/>
          <p:nvPr/>
        </p:nvSpPr>
        <p:spPr>
          <a:xfrm>
            <a:off x="2855640" y="3876355"/>
            <a:ext cx="1008112" cy="1891986"/>
          </a:xfrm>
          <a:prstGeom prst="roundRect">
            <a:avLst/>
          </a:prstGeom>
          <a:solidFill>
            <a:srgbClr val="FFFFFF"/>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Verdana"/>
              <a:ea typeface="+mn-ea"/>
              <a:cs typeface="+mn-cs"/>
              <a:sym typeface="Helvetica"/>
            </a:endParaRPr>
          </a:p>
        </p:txBody>
      </p:sp>
      <p:sp>
        <p:nvSpPr>
          <p:cNvPr id="31" name="Rectángulo redondeado">
            <a:extLst>
              <a:ext uri="{FF2B5EF4-FFF2-40B4-BE49-F238E27FC236}">
                <a16:creationId xmlns:a16="http://schemas.microsoft.com/office/drawing/2014/main" id="{6E176469-2D17-C68D-EFC6-391F4C7A4168}"/>
              </a:ext>
            </a:extLst>
          </p:cNvPr>
          <p:cNvSpPr/>
          <p:nvPr/>
        </p:nvSpPr>
        <p:spPr>
          <a:xfrm>
            <a:off x="-801385" y="1081288"/>
            <a:ext cx="6527817" cy="846187"/>
          </a:xfrm>
          <a:prstGeom prst="roundRect">
            <a:avLst>
              <a:gd name="adj" fmla="val 50000"/>
            </a:avLst>
          </a:prstGeom>
          <a:solidFill>
            <a:schemeClr val="accent2">
              <a:lumMod val="75000"/>
            </a:schemeClr>
          </a:solidFill>
          <a:ln w="12700">
            <a:miter lim="400000"/>
          </a:ln>
        </p:spPr>
        <p:txBody>
          <a:bodyPr lIns="45718" tIns="45718" rIns="45718" bIns="45718" anchor="ctr"/>
          <a:lstStyle/>
          <a:p>
            <a:pPr marL="0" marR="0" lvl="0" indent="0" algn="l"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endParaRPr kumimoji="0" lang="en-AU" sz="1600" b="0" i="0" u="none" strike="noStrike" kern="0" cap="none" spc="0" normalizeH="0" baseline="0" noProof="0">
              <a:ln>
                <a:noFill/>
              </a:ln>
              <a:solidFill>
                <a:srgbClr val="000000"/>
              </a:solidFill>
              <a:effectLst/>
              <a:uLnTx/>
              <a:uFillTx/>
              <a:latin typeface="Ubuntu"/>
              <a:sym typeface="Ubuntu"/>
            </a:endParaRPr>
          </a:p>
        </p:txBody>
      </p:sp>
      <p:sp>
        <p:nvSpPr>
          <p:cNvPr id="32" name="Rectángulo redondeado">
            <a:extLst>
              <a:ext uri="{FF2B5EF4-FFF2-40B4-BE49-F238E27FC236}">
                <a16:creationId xmlns:a16="http://schemas.microsoft.com/office/drawing/2014/main" id="{A34EA261-2D32-2BF5-B975-7C6D52E1F7FB}"/>
              </a:ext>
            </a:extLst>
          </p:cNvPr>
          <p:cNvSpPr/>
          <p:nvPr/>
        </p:nvSpPr>
        <p:spPr>
          <a:xfrm>
            <a:off x="-1890255" y="2079168"/>
            <a:ext cx="7003593" cy="532800"/>
          </a:xfrm>
          <a:prstGeom prst="roundRect">
            <a:avLst>
              <a:gd name="adj" fmla="val 50000"/>
            </a:avLst>
          </a:prstGeom>
          <a:solidFill>
            <a:schemeClr val="accent2">
              <a:lumMod val="75000"/>
            </a:schemeClr>
          </a:solidFill>
          <a:ln w="12700">
            <a:miter lim="400000"/>
          </a:ln>
        </p:spPr>
        <p:txBody>
          <a:bodyPr lIns="45718" tIns="45718" rIns="45718" bIns="45718" anchor="ctr"/>
          <a:lstStyle/>
          <a:p>
            <a:pPr hangingPunct="0"/>
            <a:endParaRPr lang="en-AU" sz="1600" kern="0" noProof="0">
              <a:solidFill>
                <a:srgbClr val="000000"/>
              </a:solidFill>
              <a:latin typeface="Ubuntu"/>
              <a:sym typeface="Ubuntu"/>
            </a:endParaRPr>
          </a:p>
        </p:txBody>
      </p:sp>
      <p:sp>
        <p:nvSpPr>
          <p:cNvPr id="33" name="Rectángulo redondeado">
            <a:extLst>
              <a:ext uri="{FF2B5EF4-FFF2-40B4-BE49-F238E27FC236}">
                <a16:creationId xmlns:a16="http://schemas.microsoft.com/office/drawing/2014/main" id="{368ACF9F-5B0B-0F50-5B03-6E835EE70F31}"/>
              </a:ext>
            </a:extLst>
          </p:cNvPr>
          <p:cNvSpPr/>
          <p:nvPr/>
        </p:nvSpPr>
        <p:spPr>
          <a:xfrm>
            <a:off x="-600744" y="3150384"/>
            <a:ext cx="4999129" cy="531212"/>
          </a:xfrm>
          <a:prstGeom prst="roundRect">
            <a:avLst>
              <a:gd name="adj" fmla="val 50000"/>
            </a:avLst>
          </a:prstGeom>
          <a:solidFill>
            <a:schemeClr val="accent2">
              <a:lumMod val="75000"/>
            </a:schemeClr>
          </a:solidFill>
          <a:ln w="12700" cap="flat">
            <a:noFill/>
            <a:miter lim="400000"/>
          </a:ln>
          <a:effectLst/>
        </p:spPr>
        <p:txBody>
          <a:bodyPr wrap="square" lIns="1440000" tIns="45718" rIns="45718" bIns="45718" numCol="1" anchor="ctr">
            <a:noAutofit/>
          </a:bodyPr>
          <a:lstStyle/>
          <a:p>
            <a:pPr marL="722313" marR="0" lvl="0" indent="0" algn="l" defTabSz="914400" rtl="0" eaLnBrk="1" fontAlgn="auto" latinLnBrk="0" hangingPunct="0">
              <a:lnSpc>
                <a:spcPct val="100000"/>
              </a:lnSpc>
              <a:spcBef>
                <a:spcPts val="0"/>
              </a:spcBef>
              <a:spcAft>
                <a:spcPts val="0"/>
              </a:spcAft>
              <a:buClrTx/>
              <a:buSzTx/>
              <a:buFontTx/>
              <a:buNone/>
              <a:tabLst/>
              <a:defRPr/>
            </a:pPr>
            <a:r>
              <a:rPr kumimoji="0" lang="en-AU" sz="1200" b="0" i="0" u="none" strike="noStrike" kern="0" cap="none" spc="0" normalizeH="0" baseline="0" noProof="0">
                <a:ln>
                  <a:noFill/>
                </a:ln>
                <a:solidFill>
                  <a:srgbClr val="FFFFFF"/>
                </a:solidFill>
                <a:effectLst/>
                <a:uLnTx/>
                <a:uFillTx/>
                <a:latin typeface="Ubuntu" panose="020B0504030602030204" pitchFamily="34" charset="0"/>
                <a:ea typeface="+mn-ea"/>
                <a:cs typeface="Helvetica"/>
                <a:sym typeface="Ubuntu"/>
              </a:rPr>
              <a:t>Project Manager</a:t>
            </a:r>
          </a:p>
        </p:txBody>
      </p:sp>
      <p:grpSp>
        <p:nvGrpSpPr>
          <p:cNvPr id="34" name="Group 33">
            <a:extLst>
              <a:ext uri="{FF2B5EF4-FFF2-40B4-BE49-F238E27FC236}">
                <a16:creationId xmlns:a16="http://schemas.microsoft.com/office/drawing/2014/main" id="{CE9A895B-AEFA-E49B-FD7E-60474C384B90}"/>
              </a:ext>
            </a:extLst>
          </p:cNvPr>
          <p:cNvGrpSpPr/>
          <p:nvPr/>
        </p:nvGrpSpPr>
        <p:grpSpPr>
          <a:xfrm>
            <a:off x="-89959" y="4741991"/>
            <a:ext cx="4917403" cy="1022807"/>
            <a:chOff x="-738890" y="4610212"/>
            <a:chExt cx="4917403" cy="646809"/>
          </a:xfrm>
          <a:solidFill>
            <a:schemeClr val="accent2">
              <a:lumMod val="75000"/>
            </a:schemeClr>
          </a:solidFill>
        </p:grpSpPr>
        <p:sp>
          <p:nvSpPr>
            <p:cNvPr id="35" name="Rectángulo redondeado">
              <a:extLst>
                <a:ext uri="{FF2B5EF4-FFF2-40B4-BE49-F238E27FC236}">
                  <a16:creationId xmlns:a16="http://schemas.microsoft.com/office/drawing/2014/main" id="{FD85FD16-ED00-2EB8-1AE3-627192C8A337}"/>
                </a:ext>
              </a:extLst>
            </p:cNvPr>
            <p:cNvSpPr/>
            <p:nvPr/>
          </p:nvSpPr>
          <p:spPr>
            <a:xfrm>
              <a:off x="-738890" y="4610212"/>
              <a:ext cx="4917403" cy="277744"/>
            </a:xfrm>
            <a:prstGeom prst="roundRect">
              <a:avLst>
                <a:gd name="adj" fmla="val 50000"/>
              </a:avLst>
            </a:prstGeom>
            <a:grpFill/>
            <a:ln w="12700" cap="flat">
              <a:noFill/>
              <a:miter lim="400000"/>
            </a:ln>
            <a:effectLst/>
          </p:spPr>
          <p:txBody>
            <a:bodyPr wrap="square" lIns="0" tIns="45718" rIns="0" bIns="45718" numCol="1" anchor="ctr">
              <a:noAutofit/>
            </a:bodyPr>
            <a:lstStyle/>
            <a:p>
              <a:pPr marL="1347788" marR="0" lvl="0" indent="0" algn="l" defTabSz="914400" rtl="0" eaLnBrk="1" fontAlgn="auto" latinLnBrk="0" hangingPunct="0">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srgbClr val="FFFFFF"/>
                  </a:solidFill>
                  <a:effectLst/>
                  <a:uLnTx/>
                  <a:uFillTx/>
                  <a:latin typeface="Ubuntu" panose="020B0504030602030204" pitchFamily="34" charset="0"/>
                  <a:ea typeface="+mn-ea"/>
                </a:rPr>
                <a:t>Area Managers</a:t>
              </a:r>
              <a:endParaRPr kumimoji="0" lang="en-AU" sz="1200" b="0" i="0" u="none" strike="noStrike" kern="0" cap="none" spc="0" normalizeH="0" baseline="0" noProof="0" dirty="0">
                <a:ln>
                  <a:noFill/>
                </a:ln>
                <a:solidFill>
                  <a:srgbClr val="FFFFFF"/>
                </a:solidFill>
                <a:effectLst/>
                <a:uLnTx/>
                <a:uFillTx/>
                <a:latin typeface="Ubuntu" panose="020B0504030602030204" pitchFamily="34" charset="0"/>
                <a:ea typeface="+mn-ea"/>
                <a:cs typeface="Helvetica"/>
                <a:sym typeface="Ubuntu"/>
              </a:endParaRPr>
            </a:p>
          </p:txBody>
        </p:sp>
        <p:sp>
          <p:nvSpPr>
            <p:cNvPr id="36" name="Rectángulo redondeado">
              <a:extLst>
                <a:ext uri="{FF2B5EF4-FFF2-40B4-BE49-F238E27FC236}">
                  <a16:creationId xmlns:a16="http://schemas.microsoft.com/office/drawing/2014/main" id="{75341C1C-C5F2-C1F7-4CFD-C57B088150A7}"/>
                </a:ext>
              </a:extLst>
            </p:cNvPr>
            <p:cNvSpPr/>
            <p:nvPr/>
          </p:nvSpPr>
          <p:spPr>
            <a:xfrm>
              <a:off x="-738890" y="4979277"/>
              <a:ext cx="4917403" cy="277744"/>
            </a:xfrm>
            <a:prstGeom prst="roundRect">
              <a:avLst>
                <a:gd name="adj" fmla="val 50000"/>
              </a:avLst>
            </a:prstGeom>
            <a:grpFill/>
            <a:ln w="12700" cap="flat">
              <a:noFill/>
              <a:miter lim="400000"/>
            </a:ln>
            <a:effectLst/>
          </p:spPr>
          <p:txBody>
            <a:bodyPr wrap="square" lIns="0" tIns="45718" rIns="0" bIns="45718" numCol="1" anchor="ctr">
              <a:noAutofit/>
            </a:bodyPr>
            <a:lstStyle/>
            <a:p>
              <a:pPr marL="1347788" marR="0" lvl="0" indent="0" algn="l" defTabSz="914400" rtl="0" eaLnBrk="1" fontAlgn="auto" latinLnBrk="0" hangingPunct="0">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srgbClr val="FFFFFF"/>
                  </a:solidFill>
                  <a:effectLst/>
                  <a:uLnTx/>
                  <a:uFillTx/>
                  <a:latin typeface="Ubuntu" panose="020B0504030602030204" pitchFamily="34" charset="0"/>
                  <a:ea typeface="+mn-ea"/>
                </a:rPr>
                <a:t>Different profiles of the areas</a:t>
              </a:r>
              <a:endParaRPr kumimoji="0" lang="en-AU" sz="1200" b="0" i="0" u="none" strike="noStrike" kern="0" cap="none" spc="0" normalizeH="0" baseline="0" noProof="0">
                <a:ln>
                  <a:noFill/>
                </a:ln>
                <a:solidFill>
                  <a:srgbClr val="FFFFFF"/>
                </a:solidFill>
                <a:effectLst/>
                <a:uLnTx/>
                <a:uFillTx/>
                <a:latin typeface="Ubuntu" panose="020B0504030602030204" pitchFamily="34" charset="0"/>
                <a:ea typeface="+mn-ea"/>
                <a:cs typeface="Helvetica"/>
                <a:sym typeface="Ubuntu"/>
              </a:endParaRPr>
            </a:p>
          </p:txBody>
        </p:sp>
      </p:grpSp>
      <p:sp>
        <p:nvSpPr>
          <p:cNvPr id="37" name="TextBox 36">
            <a:extLst>
              <a:ext uri="{FF2B5EF4-FFF2-40B4-BE49-F238E27FC236}">
                <a16:creationId xmlns:a16="http://schemas.microsoft.com/office/drawing/2014/main" id="{7A62610A-9F90-6D4C-2270-C62247E41304}"/>
              </a:ext>
            </a:extLst>
          </p:cNvPr>
          <p:cNvSpPr txBox="1"/>
          <p:nvPr/>
        </p:nvSpPr>
        <p:spPr>
          <a:xfrm>
            <a:off x="587583" y="3974261"/>
            <a:ext cx="916465" cy="430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100" b="1" i="0" u="none" strike="noStrike" kern="1200" cap="none" spc="0" normalizeH="0" baseline="0" noProof="0">
                <a:ln>
                  <a:noFill/>
                </a:ln>
                <a:solidFill>
                  <a:srgbClr val="300B42"/>
                </a:solidFill>
                <a:effectLst/>
                <a:uLnTx/>
                <a:uFillTx/>
                <a:latin typeface="Ubuntu" panose="020B0504030602030204" pitchFamily="34" charset="0"/>
                <a:ea typeface="+mn-ea"/>
                <a:cs typeface="+mn-cs"/>
                <a:sym typeface="Helvetica"/>
              </a:rPr>
              <a:t>Area 1:</a:t>
            </a:r>
          </a:p>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100" b="1" i="0" u="none" strike="noStrike" kern="1200" cap="none" spc="0" normalizeH="0" baseline="0" noProof="0">
                <a:ln>
                  <a:noFill/>
                </a:ln>
                <a:solidFill>
                  <a:srgbClr val="300B42"/>
                </a:solidFill>
                <a:effectLst/>
                <a:uLnTx/>
                <a:uFillTx/>
                <a:latin typeface="Ubuntu" panose="020B0504030602030204" pitchFamily="34" charset="0"/>
                <a:ea typeface="+mn-ea"/>
                <a:cs typeface="+mn-cs"/>
                <a:sym typeface="Helvetica"/>
              </a:rPr>
              <a:t>Planning</a:t>
            </a:r>
          </a:p>
        </p:txBody>
      </p:sp>
      <p:sp>
        <p:nvSpPr>
          <p:cNvPr id="39" name="TextBox 38">
            <a:extLst>
              <a:ext uri="{FF2B5EF4-FFF2-40B4-BE49-F238E27FC236}">
                <a16:creationId xmlns:a16="http://schemas.microsoft.com/office/drawing/2014/main" id="{E86D3483-E8C6-C817-5392-00DAB8686999}"/>
              </a:ext>
            </a:extLst>
          </p:cNvPr>
          <p:cNvSpPr txBox="1"/>
          <p:nvPr/>
        </p:nvSpPr>
        <p:spPr>
          <a:xfrm>
            <a:off x="1717040" y="3969628"/>
            <a:ext cx="998487" cy="6001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srgbClr val="300B42"/>
                </a:solidFill>
                <a:effectLst/>
                <a:uLnTx/>
                <a:uFillTx/>
                <a:latin typeface="Ubuntu" panose="020B0504030602030204" pitchFamily="34" charset="0"/>
                <a:ea typeface="+mn-ea"/>
                <a:cs typeface="+mn-cs"/>
                <a:sym typeface="Helvetica"/>
              </a:rPr>
              <a:t>Area 2:</a:t>
            </a:r>
          </a:p>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srgbClr val="300B42"/>
                </a:solidFill>
                <a:effectLst/>
                <a:uLnTx/>
                <a:uFillTx/>
                <a:latin typeface="Ubuntu" panose="020B0504030602030204" pitchFamily="34" charset="0"/>
                <a:ea typeface="+mn-ea"/>
                <a:cs typeface="+mn-cs"/>
                <a:sym typeface="Helvetica"/>
              </a:rPr>
              <a:t>Finance / Performance</a:t>
            </a:r>
          </a:p>
        </p:txBody>
      </p:sp>
      <p:sp>
        <p:nvSpPr>
          <p:cNvPr id="40" name="TextBox 39">
            <a:extLst>
              <a:ext uri="{FF2B5EF4-FFF2-40B4-BE49-F238E27FC236}">
                <a16:creationId xmlns:a16="http://schemas.microsoft.com/office/drawing/2014/main" id="{E4A427DB-9040-94B7-5AFE-9FF045CDC4AE}"/>
              </a:ext>
            </a:extLst>
          </p:cNvPr>
          <p:cNvSpPr txBox="1"/>
          <p:nvPr/>
        </p:nvSpPr>
        <p:spPr>
          <a:xfrm>
            <a:off x="2894529" y="3969628"/>
            <a:ext cx="916465" cy="6001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srgbClr val="300B42"/>
                </a:solidFill>
                <a:effectLst/>
                <a:uLnTx/>
                <a:uFillTx/>
                <a:latin typeface="Ubuntu" panose="020B0504030602030204" pitchFamily="34" charset="0"/>
                <a:ea typeface="+mn-ea"/>
                <a:cs typeface="+mn-cs"/>
                <a:sym typeface="Helvetica"/>
              </a:rPr>
              <a:t>Area 3</a:t>
            </a:r>
            <a:endParaRPr lang="en-AU" sz="1100" b="1" dirty="0">
              <a:solidFill>
                <a:srgbClr val="300B42"/>
              </a:solidFill>
              <a:latin typeface="Ubuntu" panose="020B0504030602030204" pitchFamily="34" charset="0"/>
              <a:sym typeface="Helvetica"/>
            </a:endParaRPr>
          </a:p>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srgbClr val="300B42"/>
                </a:solidFill>
                <a:effectLst/>
                <a:uLnTx/>
                <a:uFillTx/>
                <a:latin typeface="Ubuntu" panose="020B0504030602030204" pitchFamily="34" charset="0"/>
                <a:ea typeface="+mn-ea"/>
                <a:cs typeface="+mn-cs"/>
                <a:sym typeface="Helvetica"/>
              </a:rPr>
              <a:t>Commercial</a:t>
            </a:r>
          </a:p>
          <a:p>
            <a:pPr marL="0" marR="0" lvl="0" indent="0" algn="ctr" defTabSz="914400" rtl="0" eaLnBrk="1" fontAlgn="auto" latinLnBrk="0" hangingPunct="0">
              <a:lnSpc>
                <a:spcPct val="100000"/>
              </a:lnSpc>
              <a:spcBef>
                <a:spcPts val="0"/>
              </a:spcBef>
              <a:spcAft>
                <a:spcPts val="0"/>
              </a:spcAft>
              <a:buClrTx/>
              <a:buSzTx/>
              <a:buFontTx/>
              <a:buNone/>
              <a:tabLst/>
              <a:defRPr/>
            </a:pPr>
            <a:r>
              <a:rPr lang="en-AU" sz="1100" b="1" dirty="0">
                <a:solidFill>
                  <a:srgbClr val="300B42"/>
                </a:solidFill>
                <a:latin typeface="Ubuntu" panose="020B0504030602030204" pitchFamily="34" charset="0"/>
                <a:sym typeface="Helvetica"/>
              </a:rPr>
              <a:t>(Product)</a:t>
            </a:r>
            <a:endParaRPr kumimoji="0" lang="en-AU" sz="1100" b="1" i="0" u="none" strike="noStrike" kern="1200" cap="none" spc="0" normalizeH="0" baseline="0" noProof="0" dirty="0">
              <a:ln>
                <a:noFill/>
              </a:ln>
              <a:solidFill>
                <a:srgbClr val="300B42"/>
              </a:solidFill>
              <a:effectLst/>
              <a:uLnTx/>
              <a:uFillTx/>
              <a:latin typeface="Ubuntu" panose="020B0504030602030204" pitchFamily="34" charset="0"/>
              <a:ea typeface="+mn-ea"/>
              <a:cs typeface="+mn-cs"/>
              <a:sym typeface="Helvetica"/>
            </a:endParaRPr>
          </a:p>
        </p:txBody>
      </p:sp>
      <p:sp>
        <p:nvSpPr>
          <p:cNvPr id="41" name="Rectangle 40">
            <a:extLst>
              <a:ext uri="{FF2B5EF4-FFF2-40B4-BE49-F238E27FC236}">
                <a16:creationId xmlns:a16="http://schemas.microsoft.com/office/drawing/2014/main" id="{DF152F01-E5C4-285E-88B6-D36EC481B592}"/>
              </a:ext>
            </a:extLst>
          </p:cNvPr>
          <p:cNvSpPr/>
          <p:nvPr/>
        </p:nvSpPr>
        <p:spPr>
          <a:xfrm>
            <a:off x="1487494" y="2215904"/>
            <a:ext cx="1295547" cy="276999"/>
          </a:xfrm>
          <a:prstGeom prst="rect">
            <a:avLst/>
          </a:prstGeom>
        </p:spPr>
        <p:txBody>
          <a:bodyPr wrap="none">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200" b="0" i="0" u="none" strike="noStrike" kern="0" cap="none" spc="0" normalizeH="0" baseline="0" noProof="0">
                <a:ln>
                  <a:noFill/>
                </a:ln>
                <a:solidFill>
                  <a:srgbClr val="FFFFFF"/>
                </a:solidFill>
                <a:effectLst/>
                <a:uLnTx/>
                <a:uFillTx/>
                <a:latin typeface="Ubuntu" panose="020B0504030602030204" pitchFamily="34" charset="0"/>
                <a:ea typeface="+mn-ea"/>
                <a:cs typeface="Helvetica"/>
                <a:sym typeface="Ubuntu"/>
              </a:rPr>
              <a:t>Project Sponsor</a:t>
            </a:r>
          </a:p>
        </p:txBody>
      </p:sp>
      <p:sp>
        <p:nvSpPr>
          <p:cNvPr id="42" name="Rectángulo redondeado">
            <a:extLst>
              <a:ext uri="{FF2B5EF4-FFF2-40B4-BE49-F238E27FC236}">
                <a16:creationId xmlns:a16="http://schemas.microsoft.com/office/drawing/2014/main" id="{CFAB5314-B210-61A1-22D8-56170FAB809A}"/>
              </a:ext>
            </a:extLst>
          </p:cNvPr>
          <p:cNvSpPr/>
          <p:nvPr/>
        </p:nvSpPr>
        <p:spPr>
          <a:xfrm>
            <a:off x="4383088" y="2147569"/>
            <a:ext cx="681185" cy="399117"/>
          </a:xfrm>
          <a:prstGeom prst="roundRect">
            <a:avLst>
              <a:gd name="adj" fmla="val 50000"/>
            </a:avLst>
          </a:prstGeom>
          <a:solidFill>
            <a:schemeClr val="bg1"/>
          </a:solidFill>
          <a:ln w="12700">
            <a:miter lim="400000"/>
          </a:ln>
        </p:spPr>
        <p:txBody>
          <a:bodyPr lIns="4680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rPr>
              <a:t>Ad hoc</a:t>
            </a:r>
          </a:p>
        </p:txBody>
      </p:sp>
      <p:sp>
        <p:nvSpPr>
          <p:cNvPr id="43" name="Rectángulo redondeado">
            <a:extLst>
              <a:ext uri="{FF2B5EF4-FFF2-40B4-BE49-F238E27FC236}">
                <a16:creationId xmlns:a16="http://schemas.microsoft.com/office/drawing/2014/main" id="{5A4B1ADB-76DD-DC6E-6E28-28C40BF9B80A}"/>
              </a:ext>
            </a:extLst>
          </p:cNvPr>
          <p:cNvSpPr/>
          <p:nvPr/>
        </p:nvSpPr>
        <p:spPr>
          <a:xfrm>
            <a:off x="3647728" y="3218940"/>
            <a:ext cx="681185" cy="399117"/>
          </a:xfrm>
          <a:prstGeom prst="roundRect">
            <a:avLst>
              <a:gd name="adj" fmla="val 50000"/>
            </a:avLst>
          </a:prstGeom>
          <a:solidFill>
            <a:schemeClr val="bg1"/>
          </a:solidFill>
          <a:ln w="12700">
            <a:miter lim="400000"/>
          </a:ln>
        </p:spPr>
        <p:txBody>
          <a:bodyPr lIns="4680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050" kern="0" noProof="0">
                <a:solidFill>
                  <a:srgbClr val="2B174E"/>
                </a:solidFill>
                <a:latin typeface="Ubuntu" panose="020B0504030602030204" pitchFamily="34" charset="0"/>
                <a:sym typeface="Ubuntu"/>
              </a:rPr>
              <a:t>4</a:t>
            </a:r>
            <a:r>
              <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rPr>
              <a:t>0%</a:t>
            </a:r>
          </a:p>
        </p:txBody>
      </p:sp>
      <p:sp>
        <p:nvSpPr>
          <p:cNvPr id="44" name="Rectángulo redondeado">
            <a:extLst>
              <a:ext uri="{FF2B5EF4-FFF2-40B4-BE49-F238E27FC236}">
                <a16:creationId xmlns:a16="http://schemas.microsoft.com/office/drawing/2014/main" id="{26930E12-7DDC-9B7E-8DD4-2396FEF26E8C}"/>
              </a:ext>
            </a:extLst>
          </p:cNvPr>
          <p:cNvSpPr/>
          <p:nvPr/>
        </p:nvSpPr>
        <p:spPr>
          <a:xfrm>
            <a:off x="3869850" y="4806498"/>
            <a:ext cx="681185" cy="329849"/>
          </a:xfrm>
          <a:prstGeom prst="roundRect">
            <a:avLst>
              <a:gd name="adj" fmla="val 50000"/>
            </a:avLst>
          </a:prstGeom>
          <a:solidFill>
            <a:schemeClr val="bg1"/>
          </a:solidFill>
          <a:ln w="12700">
            <a:miter lim="400000"/>
          </a:ln>
        </p:spPr>
        <p:txBody>
          <a:bodyPr lIns="0" tIns="45718" rIns="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050" b="0" i="0" u="none" strike="noStrike" kern="1200" cap="none" spc="0" normalizeH="0" baseline="0" noProof="0">
                <a:ln>
                  <a:noFill/>
                </a:ln>
                <a:solidFill>
                  <a:srgbClr val="2B174E"/>
                </a:solidFill>
                <a:effectLst/>
                <a:uLnTx/>
                <a:uFillTx/>
                <a:latin typeface="Ubuntu" panose="020B0504030602030204" pitchFamily="34" charset="0"/>
                <a:sym typeface="Ubuntu"/>
              </a:rPr>
              <a:t>~20%</a:t>
            </a:r>
            <a:endPar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endParaRPr>
          </a:p>
        </p:txBody>
      </p:sp>
      <p:sp>
        <p:nvSpPr>
          <p:cNvPr id="45" name="Rectángulo redondeado">
            <a:extLst>
              <a:ext uri="{FF2B5EF4-FFF2-40B4-BE49-F238E27FC236}">
                <a16:creationId xmlns:a16="http://schemas.microsoft.com/office/drawing/2014/main" id="{2097B0E4-3C1A-FB8E-9D51-EC45606731E9}"/>
              </a:ext>
            </a:extLst>
          </p:cNvPr>
          <p:cNvSpPr/>
          <p:nvPr/>
        </p:nvSpPr>
        <p:spPr>
          <a:xfrm>
            <a:off x="3868684" y="5390105"/>
            <a:ext cx="681185" cy="329849"/>
          </a:xfrm>
          <a:prstGeom prst="roundRect">
            <a:avLst>
              <a:gd name="adj" fmla="val 50000"/>
            </a:avLst>
          </a:prstGeom>
          <a:solidFill>
            <a:schemeClr val="bg1"/>
          </a:solidFill>
          <a:ln w="12700">
            <a:miter lim="400000"/>
          </a:ln>
        </p:spPr>
        <p:txBody>
          <a:bodyPr lIns="0" tIns="45718" rIns="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050" b="0" i="0" u="none" strike="noStrike" kern="1200" cap="none" spc="0" normalizeH="0" baseline="0" noProof="0">
                <a:ln>
                  <a:noFill/>
                </a:ln>
                <a:solidFill>
                  <a:srgbClr val="2B174E"/>
                </a:solidFill>
                <a:effectLst/>
                <a:uLnTx/>
                <a:uFillTx/>
                <a:latin typeface="Ubuntu" panose="020B0504030602030204" pitchFamily="34" charset="0"/>
                <a:sym typeface="Ubuntu"/>
              </a:rPr>
              <a:t>Ad hoc</a:t>
            </a:r>
            <a:endPar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endParaRPr>
          </a:p>
        </p:txBody>
      </p:sp>
      <p:sp>
        <p:nvSpPr>
          <p:cNvPr id="17" name="Rectángulo redondeado">
            <a:extLst>
              <a:ext uri="{FF2B5EF4-FFF2-40B4-BE49-F238E27FC236}">
                <a16:creationId xmlns:a16="http://schemas.microsoft.com/office/drawing/2014/main" id="{A54A2A80-2C9F-580A-EBFC-8FBADAEB9121}"/>
              </a:ext>
            </a:extLst>
          </p:cNvPr>
          <p:cNvSpPr/>
          <p:nvPr/>
        </p:nvSpPr>
        <p:spPr>
          <a:xfrm>
            <a:off x="9686952" y="5396556"/>
            <a:ext cx="3536188" cy="642054"/>
          </a:xfrm>
          <a:prstGeom prst="roundRect">
            <a:avLst>
              <a:gd name="adj" fmla="val 50000"/>
            </a:avLst>
          </a:prstGeom>
          <a:solidFill>
            <a:srgbClr val="E8E5E2"/>
          </a:solidFill>
          <a:ln w="12700">
            <a:miter lim="400000"/>
          </a:ln>
        </p:spPr>
        <p:txBody>
          <a:bodyPr lIns="684000" tIns="45718" rIns="45718" bIns="45718" anchor="ctr"/>
          <a:lstStyle/>
          <a:p>
            <a:pPr marL="0" marR="0" lvl="0" indent="0" algn="l"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200" kern="0" noProof="0">
                <a:solidFill>
                  <a:schemeClr val="tx2"/>
                </a:solidFill>
                <a:latin typeface="Ubuntu" panose="020B0504030602030204" pitchFamily="34" charset="0"/>
                <a:sym typeface="Ubuntu"/>
              </a:rPr>
              <a:t>RELEX </a:t>
            </a:r>
            <a:r>
              <a:rPr lang="en-AU" sz="1200" kern="0">
                <a:solidFill>
                  <a:schemeClr val="tx2"/>
                </a:solidFill>
                <a:latin typeface="Ubuntu" panose="020B0504030602030204" pitchFamily="34" charset="0"/>
                <a:sym typeface="Ubuntu"/>
              </a:rPr>
              <a:t>workflow </a:t>
            </a:r>
            <a:br>
              <a:rPr lang="en-AU" sz="1200" kern="0">
                <a:solidFill>
                  <a:schemeClr val="tx2"/>
                </a:solidFill>
                <a:latin typeface="Ubuntu" panose="020B0504030602030204" pitchFamily="34" charset="0"/>
                <a:sym typeface="Ubuntu"/>
              </a:rPr>
            </a:br>
            <a:r>
              <a:rPr lang="en-AU" sz="1200" kern="0">
                <a:solidFill>
                  <a:schemeClr val="tx2"/>
                </a:solidFill>
                <a:latin typeface="Ubuntu" panose="020B0504030602030204" pitchFamily="34" charset="0"/>
                <a:sym typeface="Ubuntu"/>
              </a:rPr>
              <a:t>standard </a:t>
            </a:r>
            <a:br>
              <a:rPr lang="en-AU" sz="1200" kern="0">
                <a:solidFill>
                  <a:schemeClr val="tx2"/>
                </a:solidFill>
                <a:latin typeface="Ubuntu" panose="020B0504030602030204" pitchFamily="34" charset="0"/>
                <a:sym typeface="Ubuntu"/>
              </a:rPr>
            </a:br>
            <a:r>
              <a:rPr lang="en-AU" sz="1200" kern="0" noProof="0">
                <a:solidFill>
                  <a:schemeClr val="tx2"/>
                </a:solidFill>
                <a:latin typeface="Ubuntu" panose="020B0504030602030204" pitchFamily="34" charset="0"/>
                <a:sym typeface="Ubuntu"/>
              </a:rPr>
              <a:t>processes experts*</a:t>
            </a:r>
            <a:endParaRPr kumimoji="0" lang="en-AU" sz="1200" b="0" i="0" u="none" strike="noStrike" kern="0" cap="none" spc="0" normalizeH="0" baseline="0" noProof="0">
              <a:ln>
                <a:noFill/>
              </a:ln>
              <a:solidFill>
                <a:schemeClr val="tx2"/>
              </a:solidFill>
              <a:effectLst/>
              <a:uLnTx/>
              <a:uFillTx/>
              <a:latin typeface="Ubuntu" panose="020B0504030602030204" pitchFamily="34" charset="0"/>
              <a:sym typeface="Ubuntu"/>
            </a:endParaRPr>
          </a:p>
        </p:txBody>
      </p:sp>
      <p:sp>
        <p:nvSpPr>
          <p:cNvPr id="19" name="Rectángulo redondeado">
            <a:extLst>
              <a:ext uri="{FF2B5EF4-FFF2-40B4-BE49-F238E27FC236}">
                <a16:creationId xmlns:a16="http://schemas.microsoft.com/office/drawing/2014/main" id="{312CD55F-1EB4-4464-8033-26AD045C00AC}"/>
              </a:ext>
            </a:extLst>
          </p:cNvPr>
          <p:cNvSpPr/>
          <p:nvPr/>
        </p:nvSpPr>
        <p:spPr>
          <a:xfrm>
            <a:off x="9743378" y="5477115"/>
            <a:ext cx="619259" cy="482386"/>
          </a:xfrm>
          <a:prstGeom prst="roundRect">
            <a:avLst>
              <a:gd name="adj" fmla="val 50000"/>
            </a:avLst>
          </a:prstGeom>
          <a:solidFill>
            <a:schemeClr val="bg1"/>
          </a:solidFill>
          <a:ln w="12700">
            <a:miter lim="400000"/>
          </a:ln>
        </p:spPr>
        <p:txBody>
          <a:bodyPr lIns="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rPr>
              <a:t>Ad hoc</a:t>
            </a:r>
          </a:p>
        </p:txBody>
      </p:sp>
      <p:sp>
        <p:nvSpPr>
          <p:cNvPr id="27" name="Rectangle 26">
            <a:extLst>
              <a:ext uri="{FF2B5EF4-FFF2-40B4-BE49-F238E27FC236}">
                <a16:creationId xmlns:a16="http://schemas.microsoft.com/office/drawing/2014/main" id="{F8562CE6-4379-32C5-7472-86E8D925225A}"/>
              </a:ext>
            </a:extLst>
          </p:cNvPr>
          <p:cNvSpPr/>
          <p:nvPr/>
        </p:nvSpPr>
        <p:spPr>
          <a:xfrm>
            <a:off x="9394304" y="6094444"/>
            <a:ext cx="2741552" cy="207296"/>
          </a:xfrm>
          <a:prstGeom prst="rect">
            <a:avLst/>
          </a:prstGeom>
          <a:noFill/>
          <a:ln w="9525" cap="flat" cmpd="sng" algn="ctr">
            <a:noFill/>
            <a:prstDash val="solid"/>
            <a:miter lim="800000"/>
          </a:ln>
          <a:effectLst/>
        </p:spPr>
        <p:txBody>
          <a:bodyPr lIns="0" tIns="0" rIns="0" bIns="0" rtlCol="0" anchor="ctr"/>
          <a:lstStyle/>
          <a:p>
            <a:pPr>
              <a:defRPr/>
            </a:pPr>
            <a:r>
              <a:rPr lang="en-AU" sz="1200" i="1" kern="0" noProof="0" dirty="0">
                <a:solidFill>
                  <a:schemeClr val="bg1"/>
                </a:solidFill>
                <a:latin typeface="+mj-lt"/>
              </a:rPr>
              <a:t>*Fees not included in the economic proposal</a:t>
            </a:r>
          </a:p>
        </p:txBody>
      </p:sp>
      <p:sp>
        <p:nvSpPr>
          <p:cNvPr id="13" name="TextBox 12">
            <a:extLst>
              <a:ext uri="{FF2B5EF4-FFF2-40B4-BE49-F238E27FC236}">
                <a16:creationId xmlns:a16="http://schemas.microsoft.com/office/drawing/2014/main" id="{6AB17193-50F6-AA99-A71C-D4C99264A4A5}"/>
              </a:ext>
            </a:extLst>
          </p:cNvPr>
          <p:cNvSpPr txBox="1"/>
          <p:nvPr/>
        </p:nvSpPr>
        <p:spPr>
          <a:xfrm>
            <a:off x="3940152" y="3977646"/>
            <a:ext cx="916465" cy="430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srgbClr val="300B42"/>
                </a:solidFill>
                <a:effectLst/>
                <a:uLnTx/>
                <a:uFillTx/>
                <a:latin typeface="Ubuntu" panose="020B0504030602030204" pitchFamily="34" charset="0"/>
                <a:ea typeface="+mn-ea"/>
                <a:cs typeface="+mn-cs"/>
                <a:sym typeface="Helvetica"/>
              </a:rPr>
              <a:t>Area 4</a:t>
            </a:r>
            <a:endParaRPr lang="en-AU" sz="1100" b="1" dirty="0">
              <a:solidFill>
                <a:srgbClr val="300B42"/>
              </a:solidFill>
              <a:latin typeface="Ubuntu" panose="020B0504030602030204" pitchFamily="34" charset="0"/>
              <a:sym typeface="Helvetica"/>
            </a:endParaRPr>
          </a:p>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srgbClr val="300B42"/>
                </a:solidFill>
                <a:effectLst/>
                <a:uLnTx/>
                <a:uFillTx/>
                <a:latin typeface="Ubuntu" panose="020B0504030602030204" pitchFamily="34" charset="0"/>
                <a:ea typeface="+mn-ea"/>
                <a:cs typeface="+mn-cs"/>
                <a:sym typeface="Helvetica"/>
              </a:rPr>
              <a:t>…</a:t>
            </a:r>
          </a:p>
        </p:txBody>
      </p:sp>
      <p:sp>
        <p:nvSpPr>
          <p:cNvPr id="52" name="Rectángulo redondeado">
            <a:extLst>
              <a:ext uri="{FF2B5EF4-FFF2-40B4-BE49-F238E27FC236}">
                <a16:creationId xmlns:a16="http://schemas.microsoft.com/office/drawing/2014/main" id="{0E30FA8F-DC97-B549-866C-A62660A314DD}"/>
              </a:ext>
            </a:extLst>
          </p:cNvPr>
          <p:cNvSpPr/>
          <p:nvPr/>
        </p:nvSpPr>
        <p:spPr>
          <a:xfrm>
            <a:off x="9428298" y="3123215"/>
            <a:ext cx="2020914" cy="531225"/>
          </a:xfrm>
          <a:prstGeom prst="roundRect">
            <a:avLst>
              <a:gd name="adj" fmla="val 50000"/>
            </a:avLst>
          </a:prstGeom>
          <a:solidFill>
            <a:srgbClr val="4FA8D6"/>
          </a:solidFill>
          <a:ln w="12700">
            <a:miter lim="400000"/>
          </a:ln>
        </p:spPr>
        <p:txBody>
          <a:bodyPr lIns="0" tIns="45718" rIns="0" bIns="45718" anchor="ctr"/>
          <a:lstStyle/>
          <a:p>
            <a:pPr marL="533400" lvl="0" algn="ctr" hangingPunct="0">
              <a:defRPr>
                <a:latin typeface="Ubuntu"/>
                <a:ea typeface="Ubuntu"/>
                <a:cs typeface="Ubuntu"/>
                <a:sym typeface="Ubuntu"/>
              </a:defRPr>
            </a:pPr>
            <a:r>
              <a:rPr lang="en-AU" sz="1200" kern="0" dirty="0">
                <a:solidFill>
                  <a:srgbClr val="FFFFFF"/>
                </a:solidFill>
                <a:latin typeface="Ubuntu" panose="020B0504030602030204" pitchFamily="34" charset="0"/>
                <a:sym typeface="Ubuntu"/>
              </a:rPr>
              <a:t>Project </a:t>
            </a:r>
            <a:br>
              <a:rPr lang="en-AU" sz="1200" kern="0" dirty="0">
                <a:solidFill>
                  <a:srgbClr val="FFFFFF"/>
                </a:solidFill>
                <a:latin typeface="Ubuntu" panose="020B0504030602030204" pitchFamily="34" charset="0"/>
                <a:sym typeface="Ubuntu"/>
              </a:rPr>
            </a:br>
            <a:r>
              <a:rPr lang="en-AU" sz="1200" kern="0" dirty="0">
                <a:solidFill>
                  <a:srgbClr val="FFFFFF"/>
                </a:solidFill>
                <a:latin typeface="Ubuntu" panose="020B0504030602030204" pitchFamily="34" charset="0"/>
                <a:sym typeface="Ubuntu"/>
              </a:rPr>
              <a:t>Manager </a:t>
            </a:r>
            <a:br>
              <a:rPr lang="en-AU" sz="1200" kern="0" dirty="0">
                <a:solidFill>
                  <a:srgbClr val="FFFFFF"/>
                </a:solidFill>
                <a:latin typeface="Ubuntu" panose="020B0504030602030204" pitchFamily="34" charset="0"/>
                <a:sym typeface="Ubuntu"/>
              </a:rPr>
            </a:br>
            <a:r>
              <a:rPr lang="en-AU" sz="1200" kern="0" dirty="0">
                <a:solidFill>
                  <a:srgbClr val="FFFFFF"/>
                </a:solidFill>
                <a:latin typeface="Ubuntu" panose="020B0504030602030204" pitchFamily="34" charset="0"/>
                <a:sym typeface="Ubuntu"/>
              </a:rPr>
              <a:t>(Local PMO)</a:t>
            </a:r>
          </a:p>
        </p:txBody>
      </p:sp>
      <p:sp>
        <p:nvSpPr>
          <p:cNvPr id="53" name="Rectángulo redondeado">
            <a:extLst>
              <a:ext uri="{FF2B5EF4-FFF2-40B4-BE49-F238E27FC236}">
                <a16:creationId xmlns:a16="http://schemas.microsoft.com/office/drawing/2014/main" id="{A773C91A-69C5-2F42-0689-2CCFB334992A}"/>
              </a:ext>
            </a:extLst>
          </p:cNvPr>
          <p:cNvSpPr/>
          <p:nvPr/>
        </p:nvSpPr>
        <p:spPr>
          <a:xfrm>
            <a:off x="9526662" y="3194085"/>
            <a:ext cx="681185" cy="399117"/>
          </a:xfrm>
          <a:prstGeom prst="roundRect">
            <a:avLst>
              <a:gd name="adj" fmla="val 50000"/>
            </a:avLst>
          </a:prstGeom>
          <a:solidFill>
            <a:schemeClr val="bg1"/>
          </a:solidFill>
          <a:ln w="12700">
            <a:miter lim="400000"/>
          </a:ln>
        </p:spPr>
        <p:txBody>
          <a:bodyPr lIns="4680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050" kern="0" dirty="0">
                <a:solidFill>
                  <a:srgbClr val="2B174E"/>
                </a:solidFill>
                <a:latin typeface="Ubuntu" panose="020B0504030602030204" pitchFamily="34" charset="0"/>
                <a:sym typeface="Ubuntu"/>
              </a:rPr>
              <a:t>50</a:t>
            </a:r>
            <a:r>
              <a:rPr kumimoji="0" lang="en-AU" sz="1050" b="0" i="0" u="none" strike="noStrike" kern="0" cap="none" spc="0" normalizeH="0" baseline="0" noProof="0" dirty="0">
                <a:ln>
                  <a:noFill/>
                </a:ln>
                <a:solidFill>
                  <a:srgbClr val="2B174E"/>
                </a:solidFill>
                <a:effectLst/>
                <a:uLnTx/>
                <a:uFillTx/>
                <a:latin typeface="Ubuntu" panose="020B0504030602030204" pitchFamily="34" charset="0"/>
                <a:sym typeface="Ubuntu"/>
              </a:rPr>
              <a:t>%</a:t>
            </a:r>
          </a:p>
        </p:txBody>
      </p:sp>
      <p:cxnSp>
        <p:nvCxnSpPr>
          <p:cNvPr id="46" name="Connector: Elbow 45">
            <a:extLst>
              <a:ext uri="{FF2B5EF4-FFF2-40B4-BE49-F238E27FC236}">
                <a16:creationId xmlns:a16="http://schemas.microsoft.com/office/drawing/2014/main" id="{FE433C01-DFA9-E0DC-184D-291273B45D38}"/>
              </a:ext>
            </a:extLst>
          </p:cNvPr>
          <p:cNvCxnSpPr>
            <a:stCxn id="7" idx="2"/>
            <a:endCxn id="20" idx="0"/>
          </p:cNvCxnSpPr>
          <p:nvPr/>
        </p:nvCxnSpPr>
        <p:spPr>
          <a:xfrm rot="5400000">
            <a:off x="8565750" y="2427799"/>
            <a:ext cx="519405" cy="883207"/>
          </a:xfrm>
          <a:prstGeom prst="bentConnector3">
            <a:avLst/>
          </a:prstGeom>
          <a:noFill/>
          <a:ln w="3175" cap="flat">
            <a:solidFill>
              <a:schemeClr val="accent2"/>
            </a:solidFill>
            <a:prstDash val="sysDash"/>
            <a:round/>
            <a:tailEnd type="none"/>
          </a:ln>
          <a:effectLst/>
          <a:sp3d/>
        </p:spPr>
        <p:style>
          <a:lnRef idx="0">
            <a:scrgbClr r="0" g="0" b="0"/>
          </a:lnRef>
          <a:fillRef idx="0">
            <a:scrgbClr r="0" g="0" b="0"/>
          </a:fillRef>
          <a:effectRef idx="0">
            <a:scrgbClr r="0" g="0" b="0"/>
          </a:effectRef>
          <a:fontRef idx="none"/>
        </p:style>
      </p:cxnSp>
      <p:cxnSp>
        <p:nvCxnSpPr>
          <p:cNvPr id="47" name="Connector: Elbow 46">
            <a:extLst>
              <a:ext uri="{FF2B5EF4-FFF2-40B4-BE49-F238E27FC236}">
                <a16:creationId xmlns:a16="http://schemas.microsoft.com/office/drawing/2014/main" id="{86DD4CB0-1BA2-A76F-9B2B-666644CA4159}"/>
              </a:ext>
            </a:extLst>
          </p:cNvPr>
          <p:cNvCxnSpPr>
            <a:cxnSpLocks/>
            <a:stCxn id="7" idx="2"/>
            <a:endCxn id="52" idx="0"/>
          </p:cNvCxnSpPr>
          <p:nvPr/>
        </p:nvCxnSpPr>
        <p:spPr>
          <a:xfrm rot="16200000" flipH="1">
            <a:off x="9596148" y="2280607"/>
            <a:ext cx="513515" cy="1171700"/>
          </a:xfrm>
          <a:prstGeom prst="bentConnector3">
            <a:avLst>
              <a:gd name="adj1" fmla="val 50000"/>
            </a:avLst>
          </a:prstGeom>
          <a:noFill/>
          <a:ln w="3175" cap="flat">
            <a:solidFill>
              <a:schemeClr val="accent2"/>
            </a:solidFill>
            <a:prstDash val="sysDash"/>
            <a:round/>
            <a:tailEnd type="non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948262260"/>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59E7073-ECED-C6BD-ECA8-BE40F079F924}"/>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5F73ECC7-1508-0593-4AB6-EF3E5926E66D}"/>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452799E7-0546-1DCA-74DF-49A96986CE51}"/>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PROPOSED GOVERNANCE MODEL</a:t>
            </a:r>
            <a:r>
              <a:rPr lang="en-AU" sz="2000" kern="0" cap="all">
                <a:solidFill>
                  <a:schemeClr val="bg1"/>
                </a:solidFill>
              </a:rPr>
              <a:t> DURING FIRST 16 WEEKS: PHASES 1 TO 5</a:t>
            </a:r>
          </a:p>
        </p:txBody>
      </p:sp>
      <p:grpSp>
        <p:nvGrpSpPr>
          <p:cNvPr id="2073" name="Group 2072">
            <a:extLst>
              <a:ext uri="{FF2B5EF4-FFF2-40B4-BE49-F238E27FC236}">
                <a16:creationId xmlns:a16="http://schemas.microsoft.com/office/drawing/2014/main" id="{AC60F277-1321-BE02-428E-BD29FBC0BB0E}"/>
              </a:ext>
            </a:extLst>
          </p:cNvPr>
          <p:cNvGrpSpPr/>
          <p:nvPr/>
        </p:nvGrpSpPr>
        <p:grpSpPr>
          <a:xfrm>
            <a:off x="-658207" y="1234369"/>
            <a:ext cx="13508414" cy="4389263"/>
            <a:chOff x="-575161" y="1529074"/>
            <a:chExt cx="13508414" cy="4389263"/>
          </a:xfrm>
        </p:grpSpPr>
        <p:cxnSp>
          <p:nvCxnSpPr>
            <p:cNvPr id="5" name="Straight Connector 4">
              <a:extLst>
                <a:ext uri="{FF2B5EF4-FFF2-40B4-BE49-F238E27FC236}">
                  <a16:creationId xmlns:a16="http://schemas.microsoft.com/office/drawing/2014/main" id="{9D832E7F-C317-F908-F6CC-9274E544A8AB}"/>
                </a:ext>
              </a:extLst>
            </p:cNvPr>
            <p:cNvCxnSpPr>
              <a:cxnSpLocks/>
            </p:cNvCxnSpPr>
            <p:nvPr/>
          </p:nvCxnSpPr>
          <p:spPr>
            <a:xfrm>
              <a:off x="-530747" y="1705475"/>
              <a:ext cx="13464000" cy="0"/>
            </a:xfrm>
            <a:prstGeom prst="line">
              <a:avLst/>
            </a:prstGeom>
            <a:ln w="9525">
              <a:solidFill>
                <a:srgbClr val="FFFFFF">
                  <a:lumMod val="50000"/>
                </a:srgbClr>
              </a:solidFill>
              <a:prstDash val="sysDot"/>
            </a:ln>
          </p:spPr>
        </p:cxnSp>
        <p:cxnSp>
          <p:nvCxnSpPr>
            <p:cNvPr id="9" name="Straight Connector 8">
              <a:extLst>
                <a:ext uri="{FF2B5EF4-FFF2-40B4-BE49-F238E27FC236}">
                  <a16:creationId xmlns:a16="http://schemas.microsoft.com/office/drawing/2014/main" id="{453F5214-2057-F12B-BA63-02276FD55D2A}"/>
                </a:ext>
              </a:extLst>
            </p:cNvPr>
            <p:cNvCxnSpPr>
              <a:cxnSpLocks/>
            </p:cNvCxnSpPr>
            <p:nvPr/>
          </p:nvCxnSpPr>
          <p:spPr>
            <a:xfrm>
              <a:off x="4511172" y="1706337"/>
              <a:ext cx="0" cy="4212000"/>
            </a:xfrm>
            <a:prstGeom prst="line">
              <a:avLst/>
            </a:prstGeom>
            <a:ln w="9525">
              <a:solidFill>
                <a:srgbClr val="FFFFFF">
                  <a:lumMod val="50000"/>
                </a:srgbClr>
              </a:solidFill>
              <a:prstDash val="sysDot"/>
            </a:ln>
          </p:spPr>
        </p:cxnSp>
        <p:sp>
          <p:nvSpPr>
            <p:cNvPr id="48" name="Flowchart: Terminator 47">
              <a:extLst>
                <a:ext uri="{FF2B5EF4-FFF2-40B4-BE49-F238E27FC236}">
                  <a16:creationId xmlns:a16="http://schemas.microsoft.com/office/drawing/2014/main" id="{36EDE994-EC1E-92B0-E176-D3962FD8BE97}"/>
                </a:ext>
              </a:extLst>
            </p:cNvPr>
            <p:cNvSpPr/>
            <p:nvPr/>
          </p:nvSpPr>
          <p:spPr>
            <a:xfrm>
              <a:off x="-575161" y="2127237"/>
              <a:ext cx="2996118" cy="828000"/>
            </a:xfrm>
            <a:prstGeom prst="flowChartTerminator">
              <a:avLst/>
            </a:prstGeom>
            <a:solidFill>
              <a:schemeClr val="accent2">
                <a:lumMod val="75000"/>
              </a:schemeClr>
            </a:solidFill>
            <a:ln w="12700" cap="flat" cmpd="sng" algn="ctr">
              <a:noFill/>
              <a:prstDash val="solid"/>
              <a:miter lim="800000"/>
            </a:ln>
            <a:effectLst/>
          </p:spPr>
          <p:txBody>
            <a:bodyPr lIns="0" tIns="0" rIns="0" bIns="0" rtlCol="0" anchor="ctr"/>
            <a:lstStyle/>
            <a:p>
              <a:pPr marL="901700" marR="0" lvl="0"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mj-lt"/>
                  <a:ea typeface="+mn-ea"/>
                  <a:cs typeface="+mn-cs"/>
                </a:rPr>
                <a:t>Steering committee</a:t>
              </a:r>
            </a:p>
          </p:txBody>
        </p:sp>
        <p:cxnSp>
          <p:nvCxnSpPr>
            <p:cNvPr id="53" name="Straight Connector 52">
              <a:extLst>
                <a:ext uri="{FF2B5EF4-FFF2-40B4-BE49-F238E27FC236}">
                  <a16:creationId xmlns:a16="http://schemas.microsoft.com/office/drawing/2014/main" id="{F6081B35-9EA2-6696-2F36-0D4EBD7491BD}"/>
                </a:ext>
              </a:extLst>
            </p:cNvPr>
            <p:cNvCxnSpPr>
              <a:cxnSpLocks/>
            </p:cNvCxnSpPr>
            <p:nvPr/>
          </p:nvCxnSpPr>
          <p:spPr>
            <a:xfrm>
              <a:off x="2855640" y="4519320"/>
              <a:ext cx="8893048" cy="0"/>
            </a:xfrm>
            <a:prstGeom prst="line">
              <a:avLst/>
            </a:prstGeom>
            <a:ln w="9525">
              <a:solidFill>
                <a:srgbClr val="FFFFFF">
                  <a:lumMod val="50000"/>
                </a:srgbClr>
              </a:solidFill>
              <a:prstDash val="sysDot"/>
            </a:ln>
          </p:spPr>
        </p:cxnSp>
        <p:cxnSp>
          <p:nvCxnSpPr>
            <p:cNvPr id="54" name="Straight Connector 53">
              <a:extLst>
                <a:ext uri="{FF2B5EF4-FFF2-40B4-BE49-F238E27FC236}">
                  <a16:creationId xmlns:a16="http://schemas.microsoft.com/office/drawing/2014/main" id="{D130971C-2D66-2B10-3D83-1D3848624F7F}"/>
                </a:ext>
              </a:extLst>
            </p:cNvPr>
            <p:cNvCxnSpPr>
              <a:cxnSpLocks/>
            </p:cNvCxnSpPr>
            <p:nvPr/>
          </p:nvCxnSpPr>
          <p:spPr>
            <a:xfrm>
              <a:off x="2855640" y="3200598"/>
              <a:ext cx="8893048" cy="0"/>
            </a:xfrm>
            <a:prstGeom prst="line">
              <a:avLst/>
            </a:prstGeom>
            <a:ln w="9525">
              <a:solidFill>
                <a:srgbClr val="FFFFFF">
                  <a:lumMod val="50000"/>
                </a:srgbClr>
              </a:solidFill>
              <a:prstDash val="sysDot"/>
            </a:ln>
          </p:spPr>
        </p:cxnSp>
        <p:sp>
          <p:nvSpPr>
            <p:cNvPr id="55" name="Flowchart: Terminator 54">
              <a:extLst>
                <a:ext uri="{FF2B5EF4-FFF2-40B4-BE49-F238E27FC236}">
                  <a16:creationId xmlns:a16="http://schemas.microsoft.com/office/drawing/2014/main" id="{207E1847-F287-EB57-3345-D48790580B82}"/>
                </a:ext>
              </a:extLst>
            </p:cNvPr>
            <p:cNvSpPr/>
            <p:nvPr/>
          </p:nvSpPr>
          <p:spPr>
            <a:xfrm>
              <a:off x="-575161" y="3445959"/>
              <a:ext cx="2996118" cy="828000"/>
            </a:xfrm>
            <a:prstGeom prst="flowChartTerminator">
              <a:avLst/>
            </a:prstGeom>
            <a:solidFill>
              <a:schemeClr val="accent1"/>
            </a:solidFill>
            <a:ln w="12700" cap="flat" cmpd="sng" algn="ctr">
              <a:noFill/>
              <a:prstDash val="solid"/>
              <a:miter lim="800000"/>
            </a:ln>
            <a:effectLst/>
          </p:spPr>
          <p:txBody>
            <a:bodyPr lIns="0" tIns="0" rIns="0" bIns="0" rtlCol="0" anchor="ctr"/>
            <a:lstStyle/>
            <a:p>
              <a:pPr marL="901700" marR="0" lvl="0"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mj-lt"/>
                  <a:ea typeface="+mn-ea"/>
                  <a:cs typeface="+mn-cs"/>
                </a:rPr>
                <a:t>Tactical committee</a:t>
              </a:r>
            </a:p>
          </p:txBody>
        </p:sp>
        <p:cxnSp>
          <p:nvCxnSpPr>
            <p:cNvPr id="2051" name="Straight Connector 2050">
              <a:extLst>
                <a:ext uri="{FF2B5EF4-FFF2-40B4-BE49-F238E27FC236}">
                  <a16:creationId xmlns:a16="http://schemas.microsoft.com/office/drawing/2014/main" id="{F1F94FA6-A473-F5CB-88D6-A88A26340E40}"/>
                </a:ext>
              </a:extLst>
            </p:cNvPr>
            <p:cNvCxnSpPr>
              <a:cxnSpLocks/>
            </p:cNvCxnSpPr>
            <p:nvPr/>
          </p:nvCxnSpPr>
          <p:spPr>
            <a:xfrm>
              <a:off x="7969809" y="1706337"/>
              <a:ext cx="0" cy="4212000"/>
            </a:xfrm>
            <a:prstGeom prst="line">
              <a:avLst/>
            </a:prstGeom>
            <a:ln w="9525">
              <a:solidFill>
                <a:srgbClr val="FFFFFF">
                  <a:lumMod val="50000"/>
                </a:srgbClr>
              </a:solidFill>
              <a:prstDash val="sysDot"/>
            </a:ln>
          </p:spPr>
        </p:cxnSp>
        <p:sp>
          <p:nvSpPr>
            <p:cNvPr id="2052" name="Flowchart: Terminator 2051">
              <a:extLst>
                <a:ext uri="{FF2B5EF4-FFF2-40B4-BE49-F238E27FC236}">
                  <a16:creationId xmlns:a16="http://schemas.microsoft.com/office/drawing/2014/main" id="{FF57F320-BA76-FA8F-E621-D10EB3AFC965}"/>
                </a:ext>
              </a:extLst>
            </p:cNvPr>
            <p:cNvSpPr/>
            <p:nvPr/>
          </p:nvSpPr>
          <p:spPr>
            <a:xfrm>
              <a:off x="-571351" y="4764679"/>
              <a:ext cx="2996118" cy="828000"/>
            </a:xfrm>
            <a:prstGeom prst="flowChartTerminator">
              <a:avLst/>
            </a:prstGeom>
            <a:solidFill>
              <a:schemeClr val="accent1">
                <a:lumMod val="40000"/>
                <a:lumOff val="60000"/>
              </a:schemeClr>
            </a:solidFill>
            <a:ln w="12700" cap="flat" cmpd="sng" algn="ctr">
              <a:noFill/>
              <a:prstDash val="solid"/>
              <a:miter lim="800000"/>
            </a:ln>
            <a:effectLst/>
          </p:spPr>
          <p:txBody>
            <a:bodyPr lIns="0" tIns="0" rIns="0" bIns="0" rtlCol="0" anchor="ctr"/>
            <a:lstStyle/>
            <a:p>
              <a:pPr marL="901700" marR="0" lvl="0"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srgbClr val="FFFFFF"/>
                  </a:solidFill>
                  <a:effectLst/>
                  <a:uLnTx/>
                  <a:uFillTx/>
                  <a:latin typeface="+mj-lt"/>
                  <a:ea typeface="+mn-ea"/>
                  <a:cs typeface="+mn-cs"/>
                </a:rPr>
                <a:t>Working sessions</a:t>
              </a:r>
            </a:p>
          </p:txBody>
        </p:sp>
        <p:grpSp>
          <p:nvGrpSpPr>
            <p:cNvPr id="2069" name="Group 2068">
              <a:extLst>
                <a:ext uri="{FF2B5EF4-FFF2-40B4-BE49-F238E27FC236}">
                  <a16:creationId xmlns:a16="http://schemas.microsoft.com/office/drawing/2014/main" id="{8E20DAB8-FA06-2E04-8F1A-E6AD6CD4E155}"/>
                </a:ext>
              </a:extLst>
            </p:cNvPr>
            <p:cNvGrpSpPr/>
            <p:nvPr/>
          </p:nvGrpSpPr>
          <p:grpSpPr>
            <a:xfrm>
              <a:off x="8114688" y="1529074"/>
              <a:ext cx="3630075" cy="4207757"/>
              <a:chOff x="8114688" y="1529074"/>
              <a:chExt cx="3630075" cy="4207757"/>
            </a:xfrm>
          </p:grpSpPr>
          <p:sp>
            <p:nvSpPr>
              <p:cNvPr id="50" name="Rectangle 49">
                <a:extLst>
                  <a:ext uri="{FF2B5EF4-FFF2-40B4-BE49-F238E27FC236}">
                    <a16:creationId xmlns:a16="http://schemas.microsoft.com/office/drawing/2014/main" id="{EB637F0E-37C5-FC68-C99E-7D7D0E016090}"/>
                  </a:ext>
                </a:extLst>
              </p:cNvPr>
              <p:cNvSpPr/>
              <p:nvPr/>
            </p:nvSpPr>
            <p:spPr>
              <a:xfrm>
                <a:off x="8114688" y="2091237"/>
                <a:ext cx="3630075" cy="900000"/>
              </a:xfrm>
              <a:prstGeom prst="rect">
                <a:avLst/>
              </a:prstGeom>
              <a:noFill/>
              <a:ln w="9525" cap="flat" cmpd="sng" algn="ctr">
                <a:noFill/>
                <a:prstDash val="solid"/>
                <a:miter lim="800000"/>
              </a:ln>
              <a:effectLst/>
            </p:spPr>
            <p:txBody>
              <a:bodyPr lIns="0" tIns="0" rIns="0" bIns="0" rtlCol="0" anchor="ctr"/>
              <a:lstStyle/>
              <a:p>
                <a:pPr marL="182563" indent="-76200">
                  <a:buClr>
                    <a:srgbClr val="0B6C8A"/>
                  </a:buClr>
                  <a:buFont typeface="Wingdings" panose="05000000000000000000" pitchFamily="2" charset="2"/>
                  <a:buChar char="§"/>
                </a:pPr>
                <a:r>
                  <a:rPr lang="en-AU" sz="1200" kern="0" noProof="0">
                    <a:solidFill>
                      <a:srgbClr val="FFFFFF"/>
                    </a:solidFill>
                    <a:latin typeface="+mj-lt"/>
                  </a:rPr>
                  <a:t>Review overall project status and key outcomes</a:t>
                </a:r>
              </a:p>
              <a:p>
                <a:pPr marL="182563" indent="-76200">
                  <a:buClr>
                    <a:srgbClr val="0B6C8A"/>
                  </a:buClr>
                  <a:buFont typeface="Wingdings" panose="05000000000000000000" pitchFamily="2" charset="2"/>
                  <a:buChar char="§"/>
                </a:pPr>
                <a:r>
                  <a:rPr lang="en-AU" sz="1200" kern="0">
                    <a:solidFill>
                      <a:srgbClr val="FFFFFF"/>
                    </a:solidFill>
                    <a:latin typeface="+mj-lt"/>
                  </a:rPr>
                  <a:t>Validate strategic decisions and key design principles</a:t>
                </a:r>
              </a:p>
              <a:p>
                <a:pPr marL="182563" indent="-76200">
                  <a:buClr>
                    <a:srgbClr val="0B6C8A"/>
                  </a:buClr>
                  <a:buFont typeface="Wingdings" panose="05000000000000000000" pitchFamily="2" charset="2"/>
                  <a:buChar char="§"/>
                </a:pPr>
                <a:r>
                  <a:rPr lang="en-AU" sz="1200" kern="0" noProof="0">
                    <a:solidFill>
                      <a:srgbClr val="FFFFFF"/>
                    </a:solidFill>
                    <a:latin typeface="+mj-lt"/>
                  </a:rPr>
                  <a:t>Resolve major escalations and cross-functional trade offs</a:t>
                </a:r>
              </a:p>
              <a:p>
                <a:pPr marL="182563" indent="-76200">
                  <a:buClr>
                    <a:srgbClr val="0B6C8A"/>
                  </a:buClr>
                  <a:buFont typeface="Wingdings" panose="05000000000000000000" pitchFamily="2" charset="2"/>
                  <a:buChar char="§"/>
                </a:pPr>
                <a:r>
                  <a:rPr lang="en-AU" sz="1200" kern="0">
                    <a:solidFill>
                      <a:srgbClr val="FFFFFF"/>
                    </a:solidFill>
                    <a:latin typeface="+mj-lt"/>
                  </a:rPr>
                  <a:t>Confirm alignment with business objectives at the end of each phase</a:t>
                </a:r>
                <a:endParaRPr lang="en-AU" sz="1200" kern="0" noProof="0">
                  <a:solidFill>
                    <a:srgbClr val="FFFFFF"/>
                  </a:solidFill>
                  <a:latin typeface="+mj-lt"/>
                </a:endParaRPr>
              </a:p>
            </p:txBody>
          </p:sp>
          <p:sp>
            <p:nvSpPr>
              <p:cNvPr id="56" name="Rectangle 55">
                <a:extLst>
                  <a:ext uri="{FF2B5EF4-FFF2-40B4-BE49-F238E27FC236}">
                    <a16:creationId xmlns:a16="http://schemas.microsoft.com/office/drawing/2014/main" id="{38806E47-8829-DFEE-50B3-DBC31AFE3CAC}"/>
                  </a:ext>
                </a:extLst>
              </p:cNvPr>
              <p:cNvSpPr/>
              <p:nvPr/>
            </p:nvSpPr>
            <p:spPr>
              <a:xfrm>
                <a:off x="8114688" y="3409959"/>
                <a:ext cx="3630075" cy="900000"/>
              </a:xfrm>
              <a:prstGeom prst="rect">
                <a:avLst/>
              </a:prstGeom>
              <a:noFill/>
              <a:ln w="9525" cap="flat" cmpd="sng" algn="ctr">
                <a:noFill/>
                <a:prstDash val="solid"/>
                <a:miter lim="800000"/>
              </a:ln>
              <a:effectLst/>
            </p:spPr>
            <p:txBody>
              <a:bodyPr lIns="0" tIns="0" rIns="0" bIns="0" rtlCol="0" anchor="ctr"/>
              <a:lstStyle/>
              <a:p>
                <a:pPr marL="182563" indent="-76200">
                  <a:buClr>
                    <a:srgbClr val="0B6C8A"/>
                  </a:buClr>
                  <a:buFont typeface="Wingdings" panose="05000000000000000000" pitchFamily="2" charset="2"/>
                  <a:buChar char="§"/>
                </a:pPr>
                <a:r>
                  <a:rPr lang="en-AU" sz="1200" kern="0">
                    <a:solidFill>
                      <a:srgbClr val="FFFFFF"/>
                    </a:solidFill>
                    <a:latin typeface="+mj-lt"/>
                  </a:rPr>
                  <a:t>Validate interim findings and design decisions</a:t>
                </a:r>
              </a:p>
              <a:p>
                <a:pPr marL="182563" indent="-76200">
                  <a:buClr>
                    <a:srgbClr val="0B6C8A"/>
                  </a:buClr>
                  <a:buFont typeface="Wingdings" panose="05000000000000000000" pitchFamily="2" charset="2"/>
                  <a:buChar char="§"/>
                </a:pPr>
                <a:r>
                  <a:rPr lang="en-AU" sz="1200" kern="0">
                    <a:solidFill>
                      <a:srgbClr val="FFFFFF"/>
                    </a:solidFill>
                    <a:latin typeface="+mj-lt"/>
                  </a:rPr>
                  <a:t>Align on priorities, dependencies and upcoming activities</a:t>
                </a:r>
              </a:p>
              <a:p>
                <a:pPr marL="182563" indent="-76200">
                  <a:buClr>
                    <a:srgbClr val="0B6C8A"/>
                  </a:buClr>
                  <a:buFont typeface="Wingdings" panose="05000000000000000000" pitchFamily="2" charset="2"/>
                  <a:buChar char="§"/>
                </a:pPr>
                <a:r>
                  <a:rPr lang="en-AU" sz="1200" kern="0">
                    <a:solidFill>
                      <a:srgbClr val="FFFFFF"/>
                    </a:solidFill>
                    <a:latin typeface="+mj-lt"/>
                  </a:rPr>
                  <a:t>Address risks, blockers and required tactical decisions/actions</a:t>
                </a:r>
              </a:p>
            </p:txBody>
          </p:sp>
          <p:sp>
            <p:nvSpPr>
              <p:cNvPr id="61" name="Rectángulo redondeado">
                <a:extLst>
                  <a:ext uri="{FF2B5EF4-FFF2-40B4-BE49-F238E27FC236}">
                    <a16:creationId xmlns:a16="http://schemas.microsoft.com/office/drawing/2014/main" id="{F8C784D8-2CD8-C6C1-3567-C3667BB1B3C6}"/>
                  </a:ext>
                </a:extLst>
              </p:cNvPr>
              <p:cNvSpPr/>
              <p:nvPr/>
            </p:nvSpPr>
            <p:spPr>
              <a:xfrm>
                <a:off x="8590425" y="1529074"/>
                <a:ext cx="2678600" cy="352802"/>
              </a:xfrm>
              <a:prstGeom prst="roundRect">
                <a:avLst>
                  <a:gd name="adj" fmla="val 50000"/>
                </a:avLst>
              </a:prstGeom>
              <a:solidFill>
                <a:sysClr val="window" lastClr="FFFFFF"/>
              </a:solidFill>
              <a:ln w="12700" cap="flat">
                <a:noFill/>
                <a:miter lim="400000"/>
              </a:ln>
              <a:effectLst/>
            </p:spPr>
            <p:txBody>
              <a:bodyPr wrap="square" lIns="50800" tIns="50800" rIns="50800" bIns="50800" numCol="1" anchor="ctr">
                <a:noAutofit/>
              </a:bodyPr>
              <a:lstStyle/>
              <a:p>
                <a:pPr algn="ctr" defTabSz="825500"/>
                <a:r>
                  <a:rPr lang="en-AU" sz="1200" b="1" kern="0" noProof="0">
                    <a:solidFill>
                      <a:srgbClr val="12ABDB"/>
                    </a:solidFill>
                    <a:latin typeface="+mj-lt"/>
                    <a:sym typeface="Ubuntu"/>
                  </a:rPr>
                  <a:t>OBJECTIVES OF THE SESSION</a:t>
                </a:r>
              </a:p>
            </p:txBody>
          </p:sp>
          <p:sp>
            <p:nvSpPr>
              <p:cNvPr id="2053" name="Rectangle 2052">
                <a:extLst>
                  <a:ext uri="{FF2B5EF4-FFF2-40B4-BE49-F238E27FC236}">
                    <a16:creationId xmlns:a16="http://schemas.microsoft.com/office/drawing/2014/main" id="{7EFAF9BA-931D-4B3B-913D-34E93A11D448}"/>
                  </a:ext>
                </a:extLst>
              </p:cNvPr>
              <p:cNvSpPr/>
              <p:nvPr/>
            </p:nvSpPr>
            <p:spPr>
              <a:xfrm>
                <a:off x="8114688" y="4836831"/>
                <a:ext cx="3630075" cy="900000"/>
              </a:xfrm>
              <a:prstGeom prst="rect">
                <a:avLst/>
              </a:prstGeom>
              <a:noFill/>
              <a:ln w="9525" cap="flat" cmpd="sng" algn="ctr">
                <a:noFill/>
                <a:prstDash val="solid"/>
                <a:miter lim="800000"/>
              </a:ln>
              <a:effectLst/>
            </p:spPr>
            <p:txBody>
              <a:bodyPr lIns="0" tIns="0" rIns="0" bIns="0" rtlCol="0" anchor="ctr"/>
              <a:lstStyle/>
              <a:p>
                <a:pPr marL="182563" indent="-76200">
                  <a:buClr>
                    <a:srgbClr val="0B6C8A"/>
                  </a:buClr>
                  <a:buFont typeface="Wingdings" panose="05000000000000000000" pitchFamily="2" charset="2"/>
                  <a:buChar char="§"/>
                </a:pPr>
                <a:r>
                  <a:rPr lang="en-AU" sz="1200" kern="0">
                    <a:solidFill>
                      <a:srgbClr val="FFFFFF"/>
                    </a:solidFill>
                    <a:latin typeface="+mj-lt"/>
                  </a:rPr>
                  <a:t>Gather detailed inputs on current processes, ways of working and pain points</a:t>
                </a:r>
              </a:p>
              <a:p>
                <a:pPr marL="182563" indent="-76200">
                  <a:buClr>
                    <a:srgbClr val="0B6C8A"/>
                  </a:buClr>
                  <a:buFont typeface="Wingdings" panose="05000000000000000000" pitchFamily="2" charset="2"/>
                  <a:buChar char="§"/>
                </a:pPr>
                <a:r>
                  <a:rPr lang="en-AU" sz="1200" kern="0">
                    <a:solidFill>
                      <a:srgbClr val="FFFFFF"/>
                    </a:solidFill>
                    <a:latin typeface="+mj-lt"/>
                  </a:rPr>
                  <a:t>Capture business requirements, constraints and operational realities</a:t>
                </a:r>
              </a:p>
              <a:p>
                <a:pPr marL="182563" indent="-76200">
                  <a:buClr>
                    <a:srgbClr val="0B6C8A"/>
                  </a:buClr>
                  <a:buFont typeface="Wingdings" panose="05000000000000000000" pitchFamily="2" charset="2"/>
                  <a:buChar char="§"/>
                </a:pPr>
                <a:r>
                  <a:rPr lang="en-AU" sz="1200" kern="0">
                    <a:solidFill>
                      <a:srgbClr val="FFFFFF"/>
                    </a:solidFill>
                    <a:latin typeface="+mj-lt"/>
                  </a:rPr>
                  <a:t>Build a shared understanding of current-state practices and future needs</a:t>
                </a:r>
              </a:p>
              <a:p>
                <a:pPr marL="182563" indent="-76200">
                  <a:buClr>
                    <a:srgbClr val="0B6C8A"/>
                  </a:buClr>
                  <a:buFont typeface="Wingdings" panose="05000000000000000000" pitchFamily="2" charset="2"/>
                  <a:buChar char="§"/>
                </a:pPr>
                <a:r>
                  <a:rPr lang="en-AU" sz="1200" kern="0">
                    <a:solidFill>
                      <a:srgbClr val="FFFFFF"/>
                    </a:solidFill>
                    <a:latin typeface="+mj-lt"/>
                  </a:rPr>
                  <a:t>…</a:t>
                </a:r>
              </a:p>
            </p:txBody>
          </p:sp>
        </p:grpSp>
        <p:grpSp>
          <p:nvGrpSpPr>
            <p:cNvPr id="2072" name="Group 2071">
              <a:extLst>
                <a:ext uri="{FF2B5EF4-FFF2-40B4-BE49-F238E27FC236}">
                  <a16:creationId xmlns:a16="http://schemas.microsoft.com/office/drawing/2014/main" id="{49A8F3B7-3C7E-6C3D-8DE6-A7317D64FF0F}"/>
                </a:ext>
              </a:extLst>
            </p:cNvPr>
            <p:cNvGrpSpPr/>
            <p:nvPr/>
          </p:nvGrpSpPr>
          <p:grpSpPr>
            <a:xfrm>
              <a:off x="2703093" y="1529074"/>
              <a:ext cx="1663200" cy="3829605"/>
              <a:chOff x="2703093" y="1529074"/>
              <a:chExt cx="1663200" cy="3829605"/>
            </a:xfrm>
          </p:grpSpPr>
          <p:sp>
            <p:nvSpPr>
              <p:cNvPr id="51" name="Rectangle 50">
                <a:extLst>
                  <a:ext uri="{FF2B5EF4-FFF2-40B4-BE49-F238E27FC236}">
                    <a16:creationId xmlns:a16="http://schemas.microsoft.com/office/drawing/2014/main" id="{08D6DF0B-FC81-6620-CA91-264C0755A077}"/>
                  </a:ext>
                </a:extLst>
              </p:cNvPr>
              <p:cNvSpPr/>
              <p:nvPr/>
            </p:nvSpPr>
            <p:spPr>
              <a:xfrm>
                <a:off x="2994693" y="2361237"/>
                <a:ext cx="1080000" cy="360000"/>
              </a:xfrm>
              <a:prstGeom prst="rect">
                <a:avLst/>
              </a:prstGeom>
              <a:noFill/>
              <a:ln w="9525" cap="flat" cmpd="sng" algn="ctr">
                <a:noFill/>
                <a:prstDash val="solid"/>
                <a:miter lim="800000"/>
              </a:ln>
              <a:effectLst/>
            </p:spPr>
            <p:txBody>
              <a:bodyPr lIns="0" tIns="0" rIns="0" bIns="0" rtlCol="0" anchor="ctr"/>
              <a:lstStyle/>
              <a:p>
                <a:pPr algn="ctr">
                  <a:defRPr/>
                </a:pPr>
                <a:r>
                  <a:rPr lang="en-AU" sz="1200" b="1" kern="0" noProof="0">
                    <a:solidFill>
                      <a:srgbClr val="FFFFFF"/>
                    </a:solidFill>
                    <a:latin typeface="+mj-lt"/>
                  </a:rPr>
                  <a:t>Monthly</a:t>
                </a:r>
              </a:p>
            </p:txBody>
          </p:sp>
          <p:sp>
            <p:nvSpPr>
              <p:cNvPr id="57" name="Rectangle 56">
                <a:extLst>
                  <a:ext uri="{FF2B5EF4-FFF2-40B4-BE49-F238E27FC236}">
                    <a16:creationId xmlns:a16="http://schemas.microsoft.com/office/drawing/2014/main" id="{01E4A889-88FD-5898-6714-FA94D30B5E0F}"/>
                  </a:ext>
                </a:extLst>
              </p:cNvPr>
              <p:cNvSpPr/>
              <p:nvPr/>
            </p:nvSpPr>
            <p:spPr>
              <a:xfrm>
                <a:off x="2994693" y="3679959"/>
                <a:ext cx="1080000" cy="360000"/>
              </a:xfrm>
              <a:prstGeom prst="rect">
                <a:avLst/>
              </a:prstGeom>
              <a:noFill/>
              <a:ln w="9525" cap="flat" cmpd="sng" algn="ctr">
                <a:noFill/>
                <a:prstDash val="solid"/>
                <a:miter lim="800000"/>
              </a:ln>
              <a:effectLst/>
            </p:spPr>
            <p:txBody>
              <a:bodyPr lIns="0" tIns="0" rIns="0" bIns="0" rtlCol="0" anchor="ctr"/>
              <a:lstStyle/>
              <a:p>
                <a:pPr algn="ctr">
                  <a:defRPr/>
                </a:pPr>
                <a:r>
                  <a:rPr lang="en-AU" sz="1200" b="1" kern="0" noProof="0">
                    <a:solidFill>
                      <a:srgbClr val="FFFFFF"/>
                    </a:solidFill>
                    <a:latin typeface="+mj-lt"/>
                  </a:rPr>
                  <a:t>Weekly</a:t>
                </a:r>
              </a:p>
            </p:txBody>
          </p:sp>
          <p:sp>
            <p:nvSpPr>
              <p:cNvPr id="2048" name="Rectángulo redondeado">
                <a:extLst>
                  <a:ext uri="{FF2B5EF4-FFF2-40B4-BE49-F238E27FC236}">
                    <a16:creationId xmlns:a16="http://schemas.microsoft.com/office/drawing/2014/main" id="{18D40048-E7A7-AF25-179B-8E0496400FD5}"/>
                  </a:ext>
                </a:extLst>
              </p:cNvPr>
              <p:cNvSpPr/>
              <p:nvPr/>
            </p:nvSpPr>
            <p:spPr>
              <a:xfrm>
                <a:off x="2703093" y="1529074"/>
                <a:ext cx="1663200" cy="352802"/>
              </a:xfrm>
              <a:prstGeom prst="roundRect">
                <a:avLst>
                  <a:gd name="adj" fmla="val 50000"/>
                </a:avLst>
              </a:prstGeom>
              <a:solidFill>
                <a:sysClr val="window" lastClr="FFFFFF"/>
              </a:solidFill>
              <a:ln w="12700" cap="flat">
                <a:noFill/>
                <a:miter lim="400000"/>
              </a:ln>
              <a:effectLst/>
            </p:spPr>
            <p:txBody>
              <a:bodyPr wrap="square" lIns="50800" tIns="50800" rIns="50800" bIns="50800" numCol="1" anchor="ctr">
                <a:noAutofit/>
              </a:bodyPr>
              <a:lstStyle/>
              <a:p>
                <a:pPr marL="0" marR="0" lvl="0" indent="0" algn="ctr" defTabSz="825500" eaLnBrk="1" fontAlgn="auto" latinLnBrk="0" hangingPunct="1">
                  <a:lnSpc>
                    <a:spcPct val="100000"/>
                  </a:lnSpc>
                  <a:spcBef>
                    <a:spcPts val="0"/>
                  </a:spcBef>
                  <a:spcAft>
                    <a:spcPts val="0"/>
                  </a:spcAft>
                  <a:buClrTx/>
                  <a:buSzTx/>
                  <a:buFontTx/>
                  <a:buNone/>
                  <a:tabLst/>
                  <a:defRPr sz="4800">
                    <a:solidFill>
                      <a:srgbClr val="000000"/>
                    </a:solidFill>
                    <a:latin typeface="Ubuntu"/>
                    <a:ea typeface="Ubuntu"/>
                    <a:cs typeface="Ubuntu"/>
                    <a:sym typeface="Ubuntu"/>
                  </a:defRPr>
                </a:pPr>
                <a:r>
                  <a:rPr kumimoji="0" lang="en-AU" sz="1200" b="1" i="0" u="none" strike="noStrike" kern="0" cap="none" spc="0" normalizeH="0" baseline="0" noProof="0">
                    <a:ln>
                      <a:noFill/>
                    </a:ln>
                    <a:solidFill>
                      <a:srgbClr val="12ABDB"/>
                    </a:solidFill>
                    <a:effectLst/>
                    <a:uLnTx/>
                    <a:uFillTx/>
                    <a:latin typeface="+mj-lt"/>
                    <a:ea typeface="Ubuntu"/>
                    <a:cs typeface="Ubuntu"/>
                    <a:sym typeface="Ubuntu"/>
                  </a:rPr>
                  <a:t>CADENCE</a:t>
                </a:r>
              </a:p>
            </p:txBody>
          </p:sp>
          <p:sp>
            <p:nvSpPr>
              <p:cNvPr id="2054" name="Rectangle 2053">
                <a:extLst>
                  <a:ext uri="{FF2B5EF4-FFF2-40B4-BE49-F238E27FC236}">
                    <a16:creationId xmlns:a16="http://schemas.microsoft.com/office/drawing/2014/main" id="{FD4C87FD-91C2-B64F-D2E6-4731EDE9CF45}"/>
                  </a:ext>
                </a:extLst>
              </p:cNvPr>
              <p:cNvSpPr/>
              <p:nvPr/>
            </p:nvSpPr>
            <p:spPr>
              <a:xfrm>
                <a:off x="2994693" y="4998679"/>
                <a:ext cx="1080000" cy="360000"/>
              </a:xfrm>
              <a:prstGeom prst="rect">
                <a:avLst/>
              </a:prstGeom>
              <a:noFill/>
              <a:ln w="9525" cap="flat" cmpd="sng" algn="ctr">
                <a:noFill/>
                <a:prstDash val="solid"/>
                <a:miter lim="800000"/>
              </a:ln>
              <a:effectLst/>
            </p:spPr>
            <p:txBody>
              <a:bodyPr lIns="0" tIns="0" rIns="0" bIns="0" rtlCol="0" anchor="ctr"/>
              <a:lstStyle/>
              <a:p>
                <a:pPr algn="ctr">
                  <a:defRPr/>
                </a:pPr>
                <a:r>
                  <a:rPr lang="en-AU" sz="1200" b="1" kern="0" noProof="0">
                    <a:solidFill>
                      <a:srgbClr val="FFFFFF"/>
                    </a:solidFill>
                    <a:latin typeface="+mj-lt"/>
                  </a:rPr>
                  <a:t>Ad-hoc</a:t>
                </a:r>
              </a:p>
            </p:txBody>
          </p:sp>
        </p:grpSp>
        <p:grpSp>
          <p:nvGrpSpPr>
            <p:cNvPr id="2070" name="Group 2069">
              <a:extLst>
                <a:ext uri="{FF2B5EF4-FFF2-40B4-BE49-F238E27FC236}">
                  <a16:creationId xmlns:a16="http://schemas.microsoft.com/office/drawing/2014/main" id="{7A74D180-55B9-19DF-B773-4A5C8B67276F}"/>
                </a:ext>
              </a:extLst>
            </p:cNvPr>
            <p:cNvGrpSpPr/>
            <p:nvPr/>
          </p:nvGrpSpPr>
          <p:grpSpPr>
            <a:xfrm>
              <a:off x="6312930" y="1529074"/>
              <a:ext cx="1512000" cy="4099605"/>
              <a:chOff x="6264866" y="1529074"/>
              <a:chExt cx="1512000" cy="4099605"/>
            </a:xfrm>
          </p:grpSpPr>
          <p:grpSp>
            <p:nvGrpSpPr>
              <p:cNvPr id="2068" name="Group 2067">
                <a:extLst>
                  <a:ext uri="{FF2B5EF4-FFF2-40B4-BE49-F238E27FC236}">
                    <a16:creationId xmlns:a16="http://schemas.microsoft.com/office/drawing/2014/main" id="{77DB25BC-02A0-C0D5-8B01-CA770C2F921B}"/>
                  </a:ext>
                </a:extLst>
              </p:cNvPr>
              <p:cNvGrpSpPr/>
              <p:nvPr/>
            </p:nvGrpSpPr>
            <p:grpSpPr>
              <a:xfrm>
                <a:off x="6264866" y="1529074"/>
                <a:ext cx="1512000" cy="352802"/>
                <a:chOff x="6339342" y="1529074"/>
                <a:chExt cx="1512000" cy="352802"/>
              </a:xfrm>
            </p:grpSpPr>
            <p:grpSp>
              <p:nvGrpSpPr>
                <p:cNvPr id="13" name="Rectángulo redondeado">
                  <a:extLst>
                    <a:ext uri="{FF2B5EF4-FFF2-40B4-BE49-F238E27FC236}">
                      <a16:creationId xmlns:a16="http://schemas.microsoft.com/office/drawing/2014/main" id="{4981B5C0-E6EA-581C-478F-C1C2A151AF89}"/>
                    </a:ext>
                  </a:extLst>
                </p:cNvPr>
                <p:cNvGrpSpPr/>
                <p:nvPr/>
              </p:nvGrpSpPr>
              <p:grpSpPr>
                <a:xfrm>
                  <a:off x="6339342" y="1529074"/>
                  <a:ext cx="1512000" cy="352802"/>
                  <a:chOff x="0" y="0"/>
                  <a:chExt cx="2376003" cy="705602"/>
                </a:xfrm>
                <a:solidFill>
                  <a:sysClr val="window" lastClr="FFFFFF"/>
                </a:solidFill>
              </p:grpSpPr>
              <p:sp>
                <p:nvSpPr>
                  <p:cNvPr id="17" name="Rectángulo redondeado">
                    <a:extLst>
                      <a:ext uri="{FF2B5EF4-FFF2-40B4-BE49-F238E27FC236}">
                        <a16:creationId xmlns:a16="http://schemas.microsoft.com/office/drawing/2014/main" id="{F10E69B0-B15E-5DDE-CFE5-7AA6D4F296B2}"/>
                      </a:ext>
                    </a:extLst>
                  </p:cNvPr>
                  <p:cNvSpPr/>
                  <p:nvPr/>
                </p:nvSpPr>
                <p:spPr>
                  <a:xfrm>
                    <a:off x="0" y="0"/>
                    <a:ext cx="2376003" cy="705602"/>
                  </a:xfrm>
                  <a:prstGeom prst="roundRect">
                    <a:avLst>
                      <a:gd name="adj" fmla="val 50000"/>
                    </a:avLst>
                  </a:prstGeom>
                  <a:grpFill/>
                  <a:ln w="12700" cap="flat">
                    <a:noFill/>
                    <a:miter lim="400000"/>
                  </a:ln>
                  <a:effectLst/>
                </p:spPr>
                <p:txBody>
                  <a:bodyPr wrap="square" lIns="50800" tIns="50800" rIns="50800" bIns="50800" numCol="1" anchor="ctr">
                    <a:noAutofit/>
                  </a:bodyPr>
                  <a:lstStyle/>
                  <a:p>
                    <a:pPr defTabSz="825500">
                      <a:defRPr sz="4800">
                        <a:solidFill>
                          <a:srgbClr val="000000"/>
                        </a:solidFill>
                        <a:latin typeface="Ubuntu"/>
                        <a:ea typeface="Ubuntu"/>
                        <a:cs typeface="Ubuntu"/>
                        <a:sym typeface="Ubuntu"/>
                      </a:defRPr>
                    </a:pPr>
                    <a:endParaRPr lang="en-AU" sz="1200" kern="0" noProof="0">
                      <a:solidFill>
                        <a:srgbClr val="000000"/>
                      </a:solidFill>
                      <a:latin typeface="+mj-lt"/>
                      <a:ea typeface="Ubuntu"/>
                      <a:cs typeface="Ubuntu"/>
                      <a:sym typeface="Ubuntu"/>
                    </a:endParaRPr>
                  </a:p>
                </p:txBody>
              </p:sp>
              <p:sp>
                <p:nvSpPr>
                  <p:cNvPr id="19" name="Frecuencia">
                    <a:extLst>
                      <a:ext uri="{FF2B5EF4-FFF2-40B4-BE49-F238E27FC236}">
                        <a16:creationId xmlns:a16="http://schemas.microsoft.com/office/drawing/2014/main" id="{D8B01727-5DD8-B47A-1D34-C7C9861DCF9F}"/>
                      </a:ext>
                    </a:extLst>
                  </p:cNvPr>
                  <p:cNvSpPr txBox="1"/>
                  <p:nvPr/>
                </p:nvSpPr>
                <p:spPr>
                  <a:xfrm>
                    <a:off x="103332" y="65544"/>
                    <a:ext cx="2169340" cy="574514"/>
                  </a:xfrm>
                  <a:prstGeom prst="rect">
                    <a:avLst/>
                  </a:prstGeom>
                  <a:grp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lvl1pPr defTabSz="825500">
                      <a:defRPr sz="2800" b="1">
                        <a:solidFill>
                          <a:srgbClr val="57CF80"/>
                        </a:solidFill>
                        <a:latin typeface="Ubuntu"/>
                        <a:ea typeface="Ubuntu"/>
                        <a:cs typeface="Ubuntu"/>
                        <a:sym typeface="Ubuntu"/>
                      </a:defRPr>
                    </a:lvl1pPr>
                  </a:lstStyle>
                  <a:p>
                    <a:pPr algn="ctr">
                      <a:defRPr/>
                    </a:pPr>
                    <a:endParaRPr lang="en-AU" sz="1200" kern="0" noProof="0">
                      <a:solidFill>
                        <a:srgbClr val="12ABDB"/>
                      </a:solidFill>
                      <a:latin typeface="+mj-lt"/>
                    </a:endParaRPr>
                  </a:p>
                </p:txBody>
              </p:sp>
            </p:grpSp>
            <p:pic>
              <p:nvPicPr>
                <p:cNvPr id="27" name="Picture 35">
                  <a:extLst>
                    <a:ext uri="{FF2B5EF4-FFF2-40B4-BE49-F238E27FC236}">
                      <a16:creationId xmlns:a16="http://schemas.microsoft.com/office/drawing/2014/main" id="{8DBEB773-DB7D-A7C6-538A-45E9550EC3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2838" y="1573329"/>
                  <a:ext cx="1185009" cy="264292"/>
                </a:xfrm>
                <a:prstGeom prst="rect">
                  <a:avLst/>
                </a:prstGeom>
              </p:spPr>
            </p:pic>
          </p:grpSp>
          <p:sp>
            <p:nvSpPr>
              <p:cNvPr id="49" name="Rectangle 48">
                <a:extLst>
                  <a:ext uri="{FF2B5EF4-FFF2-40B4-BE49-F238E27FC236}">
                    <a16:creationId xmlns:a16="http://schemas.microsoft.com/office/drawing/2014/main" id="{C01D6EB9-8BE0-F1BF-3F86-9E6DC1911EB7}"/>
                  </a:ext>
                </a:extLst>
              </p:cNvPr>
              <p:cNvSpPr/>
              <p:nvPr/>
            </p:nvSpPr>
            <p:spPr>
              <a:xfrm>
                <a:off x="6264866" y="2091237"/>
                <a:ext cx="1512000" cy="900000"/>
              </a:xfrm>
              <a:prstGeom prst="rect">
                <a:avLst/>
              </a:prstGeom>
              <a:noFill/>
              <a:ln w="9525" cap="flat" cmpd="sng" algn="ctr">
                <a:noFill/>
                <a:prstDash val="solid"/>
                <a:miter lim="800000"/>
              </a:ln>
              <a:effectLst/>
            </p:spPr>
            <p:txBody>
              <a:bodyPr lIns="0" tIns="0" rIns="0" bIns="0" rtlCol="0" anchor="ctr"/>
              <a:lstStyle/>
              <a:p>
                <a:pPr marL="182563" indent="-76200">
                  <a:buClr>
                    <a:srgbClr val="0B6C8A"/>
                  </a:buClr>
                  <a:buFont typeface="Wingdings" panose="05000000000000000000" pitchFamily="2" charset="2"/>
                  <a:buChar char="§"/>
                </a:pPr>
                <a:r>
                  <a:rPr lang="en-AU" sz="1200" kern="0" noProof="0">
                    <a:solidFill>
                      <a:srgbClr val="FFFFFF"/>
                    </a:solidFill>
                    <a:latin typeface="+mj-lt"/>
                  </a:rPr>
                  <a:t>Project director</a:t>
                </a:r>
              </a:p>
              <a:p>
                <a:pPr marL="182563" indent="-76200">
                  <a:buClr>
                    <a:srgbClr val="0B6C8A"/>
                  </a:buClr>
                  <a:buFont typeface="Wingdings" panose="05000000000000000000" pitchFamily="2" charset="2"/>
                  <a:buChar char="§"/>
                </a:pPr>
                <a:r>
                  <a:rPr lang="en-AU" sz="1200" kern="0" noProof="0">
                    <a:solidFill>
                      <a:srgbClr val="FFFFFF"/>
                    </a:solidFill>
                    <a:latin typeface="+mj-lt"/>
                  </a:rPr>
                  <a:t>Project manager</a:t>
                </a:r>
              </a:p>
              <a:p>
                <a:pPr marL="182563" indent="-76200">
                  <a:buClr>
                    <a:srgbClr val="0B6C8A"/>
                  </a:buClr>
                  <a:buFont typeface="Wingdings" panose="05000000000000000000" pitchFamily="2" charset="2"/>
                  <a:buChar char="§"/>
                </a:pPr>
                <a:r>
                  <a:rPr lang="en-AU" sz="1200" kern="0" noProof="0">
                    <a:solidFill>
                      <a:srgbClr val="FFFFFF"/>
                    </a:solidFill>
                    <a:latin typeface="+mj-lt"/>
                  </a:rPr>
                  <a:t>PMO (Local)</a:t>
                </a:r>
              </a:p>
            </p:txBody>
          </p:sp>
          <p:sp>
            <p:nvSpPr>
              <p:cNvPr id="58" name="Rectangle 57">
                <a:extLst>
                  <a:ext uri="{FF2B5EF4-FFF2-40B4-BE49-F238E27FC236}">
                    <a16:creationId xmlns:a16="http://schemas.microsoft.com/office/drawing/2014/main" id="{BEF4F118-EEA2-2E07-D7FA-77C7B624B7C6}"/>
                  </a:ext>
                </a:extLst>
              </p:cNvPr>
              <p:cNvSpPr/>
              <p:nvPr/>
            </p:nvSpPr>
            <p:spPr>
              <a:xfrm>
                <a:off x="6264866" y="3409959"/>
                <a:ext cx="1512000" cy="900000"/>
              </a:xfrm>
              <a:prstGeom prst="rect">
                <a:avLst/>
              </a:prstGeom>
              <a:noFill/>
              <a:ln w="9525" cap="flat" cmpd="sng" algn="ctr">
                <a:noFill/>
                <a:prstDash val="solid"/>
                <a:miter lim="800000"/>
              </a:ln>
              <a:effectLst/>
            </p:spPr>
            <p:txBody>
              <a:bodyPr lIns="0" tIns="0" rIns="0" bIns="0" rtlCol="0" anchor="ctr"/>
              <a:lstStyle/>
              <a:p>
                <a:pPr marL="182563" indent="-76200">
                  <a:buClr>
                    <a:srgbClr val="0B6C8A"/>
                  </a:buClr>
                  <a:buFont typeface="Wingdings" panose="05000000000000000000" pitchFamily="2" charset="2"/>
                  <a:buChar char="§"/>
                </a:pPr>
                <a:r>
                  <a:rPr lang="en-AU" sz="1200" kern="0" noProof="0">
                    <a:solidFill>
                      <a:srgbClr val="FFFFFF"/>
                    </a:solidFill>
                    <a:latin typeface="+mj-lt"/>
                  </a:rPr>
                  <a:t>Project manager</a:t>
                </a:r>
              </a:p>
              <a:p>
                <a:pPr marL="182563" indent="-76200">
                  <a:buClr>
                    <a:srgbClr val="0B6C8A"/>
                  </a:buClr>
                  <a:buFont typeface="Wingdings" panose="05000000000000000000" pitchFamily="2" charset="2"/>
                  <a:buChar char="§"/>
                </a:pPr>
                <a:r>
                  <a:rPr lang="en-AU" sz="1200" kern="0">
                    <a:solidFill>
                      <a:srgbClr val="FFFFFF"/>
                    </a:solidFill>
                    <a:latin typeface="+mj-lt"/>
                  </a:rPr>
                  <a:t>PMO (Local)</a:t>
                </a:r>
                <a:endParaRPr lang="en-AU" sz="1200" kern="0" noProof="0">
                  <a:solidFill>
                    <a:srgbClr val="FFFFFF"/>
                  </a:solidFill>
                  <a:latin typeface="+mj-lt"/>
                </a:endParaRPr>
              </a:p>
              <a:p>
                <a:pPr marL="182563" indent="-76200">
                  <a:buClr>
                    <a:srgbClr val="0B6C8A"/>
                  </a:buClr>
                  <a:buFont typeface="Wingdings" panose="05000000000000000000" pitchFamily="2" charset="2"/>
                  <a:buChar char="§"/>
                </a:pPr>
                <a:r>
                  <a:rPr lang="en-AU" sz="1200" kern="0" noProof="0">
                    <a:solidFill>
                      <a:srgbClr val="FFFFFF"/>
                    </a:solidFill>
                    <a:latin typeface="+mj-lt"/>
                  </a:rPr>
                  <a:t>Consultants</a:t>
                </a:r>
              </a:p>
              <a:p>
                <a:pPr marL="182563" indent="-76200">
                  <a:buClr>
                    <a:srgbClr val="0B6C8A"/>
                  </a:buClr>
                  <a:buFont typeface="Wingdings" panose="05000000000000000000" pitchFamily="2" charset="2"/>
                  <a:buChar char="§"/>
                </a:pPr>
                <a:r>
                  <a:rPr lang="en-AU" sz="1200" kern="0" noProof="0">
                    <a:solidFill>
                      <a:srgbClr val="FFFFFF"/>
                    </a:solidFill>
                    <a:latin typeface="+mj-lt"/>
                  </a:rPr>
                  <a:t>Business Partner</a:t>
                </a:r>
              </a:p>
            </p:txBody>
          </p:sp>
          <p:sp>
            <p:nvSpPr>
              <p:cNvPr id="2055" name="Rectangle 2054">
                <a:extLst>
                  <a:ext uri="{FF2B5EF4-FFF2-40B4-BE49-F238E27FC236}">
                    <a16:creationId xmlns:a16="http://schemas.microsoft.com/office/drawing/2014/main" id="{6DAFC0E0-BD10-94F2-109D-1A03ADE4F5BC}"/>
                  </a:ext>
                </a:extLst>
              </p:cNvPr>
              <p:cNvSpPr/>
              <p:nvPr/>
            </p:nvSpPr>
            <p:spPr>
              <a:xfrm>
                <a:off x="6264866" y="4728679"/>
                <a:ext cx="1512000" cy="900000"/>
              </a:xfrm>
              <a:prstGeom prst="rect">
                <a:avLst/>
              </a:prstGeom>
              <a:noFill/>
              <a:ln w="9525" cap="flat" cmpd="sng" algn="ctr">
                <a:noFill/>
                <a:prstDash val="solid"/>
                <a:miter lim="800000"/>
              </a:ln>
              <a:effectLst/>
            </p:spPr>
            <p:txBody>
              <a:bodyPr lIns="0" tIns="0" rIns="0" bIns="0" rtlCol="0" anchor="ctr"/>
              <a:lstStyle/>
              <a:p>
                <a:pPr marL="182563" indent="-76200">
                  <a:buClr>
                    <a:srgbClr val="0B6C8A"/>
                  </a:buClr>
                  <a:buFont typeface="Wingdings" panose="05000000000000000000" pitchFamily="2" charset="2"/>
                  <a:buChar char="§"/>
                </a:pPr>
                <a:r>
                  <a:rPr lang="en-AU" sz="1200" kern="0" noProof="0">
                    <a:solidFill>
                      <a:srgbClr val="FFFFFF"/>
                    </a:solidFill>
                    <a:latin typeface="+mj-lt"/>
                  </a:rPr>
                  <a:t>Project manage</a:t>
                </a:r>
                <a:r>
                  <a:rPr lang="en-AU" sz="1200" kern="0">
                    <a:solidFill>
                      <a:srgbClr val="FFFFFF"/>
                    </a:solidFill>
                    <a:latin typeface="+mj-lt"/>
                  </a:rPr>
                  <a:t>r</a:t>
                </a:r>
              </a:p>
              <a:p>
                <a:pPr marL="182563" indent="-76200">
                  <a:buClr>
                    <a:srgbClr val="0B6C8A"/>
                  </a:buClr>
                  <a:buFont typeface="Wingdings" panose="05000000000000000000" pitchFamily="2" charset="2"/>
                  <a:buChar char="§"/>
                </a:pPr>
                <a:r>
                  <a:rPr lang="en-AU" sz="1200" kern="0" noProof="0">
                    <a:solidFill>
                      <a:srgbClr val="FFFFFF"/>
                    </a:solidFill>
                    <a:latin typeface="+mj-lt"/>
                  </a:rPr>
                  <a:t>Consultants</a:t>
                </a:r>
              </a:p>
              <a:p>
                <a:pPr marL="182563" indent="-76200">
                  <a:buClr>
                    <a:srgbClr val="0B6C8A"/>
                  </a:buClr>
                  <a:buFont typeface="Wingdings" panose="05000000000000000000" pitchFamily="2" charset="2"/>
                  <a:buChar char="§"/>
                </a:pPr>
                <a:r>
                  <a:rPr lang="en-AU" sz="1200" kern="0">
                    <a:solidFill>
                      <a:srgbClr val="FFFFFF"/>
                    </a:solidFill>
                    <a:latin typeface="+mj-lt"/>
                  </a:rPr>
                  <a:t>Business Partner</a:t>
                </a:r>
                <a:endParaRPr lang="en-AU" sz="1200" kern="0" noProof="0">
                  <a:solidFill>
                    <a:srgbClr val="FFFFFF"/>
                  </a:solidFill>
                  <a:latin typeface="+mj-lt"/>
                </a:endParaRPr>
              </a:p>
            </p:txBody>
          </p:sp>
        </p:grpSp>
        <p:grpSp>
          <p:nvGrpSpPr>
            <p:cNvPr id="2071" name="Group 2070">
              <a:extLst>
                <a:ext uri="{FF2B5EF4-FFF2-40B4-BE49-F238E27FC236}">
                  <a16:creationId xmlns:a16="http://schemas.microsoft.com/office/drawing/2014/main" id="{87B77DE5-7EF8-88FE-5E3B-128AAAD2BADD}"/>
                </a:ext>
              </a:extLst>
            </p:cNvPr>
            <p:cNvGrpSpPr/>
            <p:nvPr/>
          </p:nvGrpSpPr>
          <p:grpSpPr>
            <a:xfrm>
              <a:off x="4656051" y="1529074"/>
              <a:ext cx="1512000" cy="4099605"/>
              <a:chOff x="4507919" y="1529074"/>
              <a:chExt cx="1512000" cy="4099605"/>
            </a:xfrm>
          </p:grpSpPr>
          <p:sp>
            <p:nvSpPr>
              <p:cNvPr id="52" name="Rectangle 51">
                <a:extLst>
                  <a:ext uri="{FF2B5EF4-FFF2-40B4-BE49-F238E27FC236}">
                    <a16:creationId xmlns:a16="http://schemas.microsoft.com/office/drawing/2014/main" id="{B998C2B8-1D40-6354-4559-7C8B45936CEB}"/>
                  </a:ext>
                </a:extLst>
              </p:cNvPr>
              <p:cNvSpPr/>
              <p:nvPr/>
            </p:nvSpPr>
            <p:spPr>
              <a:xfrm>
                <a:off x="4507919" y="2091237"/>
                <a:ext cx="1512000" cy="900000"/>
              </a:xfrm>
              <a:prstGeom prst="rect">
                <a:avLst/>
              </a:prstGeom>
              <a:noFill/>
              <a:ln w="9525" cap="flat" cmpd="sng" algn="ctr">
                <a:noFill/>
                <a:prstDash val="solid"/>
                <a:miter lim="800000"/>
              </a:ln>
              <a:effectLst/>
            </p:spPr>
            <p:txBody>
              <a:bodyPr lIns="0" tIns="0" rIns="0" bIns="0" rtlCol="0" anchor="ctr"/>
              <a:lstStyle/>
              <a:p>
                <a:pPr marL="182563" indent="-76200">
                  <a:buClr>
                    <a:srgbClr val="0B6C8A"/>
                  </a:buClr>
                  <a:buFont typeface="Wingdings" panose="05000000000000000000" pitchFamily="2" charset="2"/>
                  <a:buChar char="§"/>
                </a:pPr>
                <a:r>
                  <a:rPr lang="en-AU" sz="1200" kern="0" noProof="0">
                    <a:solidFill>
                      <a:srgbClr val="FFFFFF"/>
                    </a:solidFill>
                    <a:latin typeface="+mj-lt"/>
                  </a:rPr>
                  <a:t>Project sponsor</a:t>
                </a:r>
              </a:p>
              <a:p>
                <a:pPr marL="182563" indent="-76200">
                  <a:buClr>
                    <a:srgbClr val="0B6C8A"/>
                  </a:buClr>
                  <a:buFont typeface="Wingdings" panose="05000000000000000000" pitchFamily="2" charset="2"/>
                  <a:buChar char="§"/>
                </a:pPr>
                <a:r>
                  <a:rPr lang="en-AU" sz="1200" kern="0" noProof="0">
                    <a:solidFill>
                      <a:srgbClr val="FFFFFF"/>
                    </a:solidFill>
                    <a:latin typeface="+mj-lt"/>
                  </a:rPr>
                  <a:t>Project manager</a:t>
                </a:r>
              </a:p>
            </p:txBody>
          </p:sp>
          <p:sp>
            <p:nvSpPr>
              <p:cNvPr id="59" name="Rectangle 58">
                <a:extLst>
                  <a:ext uri="{FF2B5EF4-FFF2-40B4-BE49-F238E27FC236}">
                    <a16:creationId xmlns:a16="http://schemas.microsoft.com/office/drawing/2014/main" id="{BEE22CA1-2279-71E0-4B50-20BD35C2FD9B}"/>
                  </a:ext>
                </a:extLst>
              </p:cNvPr>
              <p:cNvSpPr/>
              <p:nvPr/>
            </p:nvSpPr>
            <p:spPr>
              <a:xfrm>
                <a:off x="4507919" y="3409959"/>
                <a:ext cx="1512000" cy="900000"/>
              </a:xfrm>
              <a:prstGeom prst="rect">
                <a:avLst/>
              </a:prstGeom>
              <a:noFill/>
              <a:ln w="9525" cap="flat" cmpd="sng" algn="ctr">
                <a:noFill/>
                <a:prstDash val="solid"/>
                <a:miter lim="800000"/>
              </a:ln>
              <a:effectLst/>
            </p:spPr>
            <p:txBody>
              <a:bodyPr lIns="0" tIns="0" rIns="0" bIns="0" rtlCol="0" anchor="ctr"/>
              <a:lstStyle/>
              <a:p>
                <a:pPr marL="182563" indent="-76200">
                  <a:buClr>
                    <a:srgbClr val="0B6C8A"/>
                  </a:buClr>
                  <a:buFont typeface="Wingdings" panose="05000000000000000000" pitchFamily="2" charset="2"/>
                  <a:buChar char="§"/>
                </a:pPr>
                <a:r>
                  <a:rPr lang="en-AU" sz="1200" kern="0" noProof="0">
                    <a:solidFill>
                      <a:srgbClr val="FFFFFF"/>
                    </a:solidFill>
                    <a:latin typeface="+mj-lt"/>
                  </a:rPr>
                  <a:t>Project manager</a:t>
                </a:r>
              </a:p>
              <a:p>
                <a:pPr marL="182563" indent="-76200">
                  <a:buClr>
                    <a:srgbClr val="0B6C8A"/>
                  </a:buClr>
                  <a:buFont typeface="Wingdings" panose="05000000000000000000" pitchFamily="2" charset="2"/>
                  <a:buChar char="§"/>
                </a:pPr>
                <a:r>
                  <a:rPr lang="en-AU" sz="1200" kern="0" noProof="0">
                    <a:solidFill>
                      <a:srgbClr val="FFFFFF"/>
                    </a:solidFill>
                    <a:latin typeface="+mj-lt"/>
                  </a:rPr>
                  <a:t>Area managers</a:t>
                </a:r>
              </a:p>
            </p:txBody>
          </p:sp>
          <p:sp>
            <p:nvSpPr>
              <p:cNvPr id="2056" name="Rectangle 2055">
                <a:extLst>
                  <a:ext uri="{FF2B5EF4-FFF2-40B4-BE49-F238E27FC236}">
                    <a16:creationId xmlns:a16="http://schemas.microsoft.com/office/drawing/2014/main" id="{CDA43905-0D68-CE8C-794A-0E53DF872A4F}"/>
                  </a:ext>
                </a:extLst>
              </p:cNvPr>
              <p:cNvSpPr/>
              <p:nvPr/>
            </p:nvSpPr>
            <p:spPr>
              <a:xfrm>
                <a:off x="4507919" y="4728679"/>
                <a:ext cx="1512000" cy="900000"/>
              </a:xfrm>
              <a:prstGeom prst="rect">
                <a:avLst/>
              </a:prstGeom>
              <a:noFill/>
              <a:ln w="9525" cap="flat" cmpd="sng" algn="ctr">
                <a:noFill/>
                <a:prstDash val="solid"/>
                <a:miter lim="800000"/>
              </a:ln>
              <a:effectLst/>
            </p:spPr>
            <p:txBody>
              <a:bodyPr lIns="0" tIns="0" rIns="0" bIns="0" rtlCol="0" anchor="ctr"/>
              <a:lstStyle/>
              <a:p>
                <a:pPr marL="182563" indent="-76200">
                  <a:buClr>
                    <a:srgbClr val="0B6C8A"/>
                  </a:buClr>
                  <a:buFont typeface="Wingdings" panose="05000000000000000000" pitchFamily="2" charset="2"/>
                  <a:buChar char="§"/>
                </a:pPr>
                <a:r>
                  <a:rPr lang="en-AU" sz="1200" kern="0" noProof="0">
                    <a:solidFill>
                      <a:srgbClr val="FFFFFF"/>
                    </a:solidFill>
                    <a:latin typeface="+mj-lt"/>
                  </a:rPr>
                  <a:t>Area managers</a:t>
                </a:r>
              </a:p>
              <a:p>
                <a:pPr marL="182563" indent="-76200">
                  <a:buClr>
                    <a:srgbClr val="0B6C8A"/>
                  </a:buClr>
                  <a:buFont typeface="Wingdings" panose="05000000000000000000" pitchFamily="2" charset="2"/>
                  <a:buChar char="§"/>
                </a:pPr>
                <a:r>
                  <a:rPr lang="en-AU" sz="1200" kern="0" noProof="0">
                    <a:solidFill>
                      <a:srgbClr val="FFFFFF"/>
                    </a:solidFill>
                    <a:latin typeface="+mj-lt"/>
                  </a:rPr>
                  <a:t>Profiles needed by session</a:t>
                </a:r>
              </a:p>
            </p:txBody>
          </p:sp>
          <p:grpSp>
            <p:nvGrpSpPr>
              <p:cNvPr id="38" name="Rectángulo redondeado">
                <a:extLst>
                  <a:ext uri="{FF2B5EF4-FFF2-40B4-BE49-F238E27FC236}">
                    <a16:creationId xmlns:a16="http://schemas.microsoft.com/office/drawing/2014/main" id="{F462FC74-EBBE-F760-ACC6-CBF7FCACE74E}"/>
                  </a:ext>
                </a:extLst>
              </p:cNvPr>
              <p:cNvGrpSpPr/>
              <p:nvPr/>
            </p:nvGrpSpPr>
            <p:grpSpPr>
              <a:xfrm>
                <a:off x="4507919" y="1529074"/>
                <a:ext cx="1512000" cy="352802"/>
                <a:chOff x="0" y="0"/>
                <a:chExt cx="2376003" cy="705602"/>
              </a:xfrm>
              <a:solidFill>
                <a:sysClr val="window" lastClr="FFFFFF"/>
              </a:solidFill>
            </p:grpSpPr>
            <p:sp>
              <p:nvSpPr>
                <p:cNvPr id="46" name="Rectángulo redondeado">
                  <a:extLst>
                    <a:ext uri="{FF2B5EF4-FFF2-40B4-BE49-F238E27FC236}">
                      <a16:creationId xmlns:a16="http://schemas.microsoft.com/office/drawing/2014/main" id="{0FED5B63-6C03-EBC7-C47D-A31A7E6C5779}"/>
                    </a:ext>
                  </a:extLst>
                </p:cNvPr>
                <p:cNvSpPr/>
                <p:nvPr/>
              </p:nvSpPr>
              <p:spPr>
                <a:xfrm>
                  <a:off x="0" y="0"/>
                  <a:ext cx="2376003" cy="705602"/>
                </a:xfrm>
                <a:prstGeom prst="roundRect">
                  <a:avLst>
                    <a:gd name="adj" fmla="val 50000"/>
                  </a:avLst>
                </a:prstGeom>
                <a:grpFill/>
                <a:ln w="12700" cap="flat">
                  <a:noFill/>
                  <a:miter lim="400000"/>
                </a:ln>
                <a:effectLst/>
              </p:spPr>
              <p:txBody>
                <a:bodyPr wrap="square" lIns="50800" tIns="50800" rIns="50800" bIns="50800" numCol="1" anchor="ctr">
                  <a:noAutofit/>
                </a:bodyPr>
                <a:lstStyle/>
                <a:p>
                  <a:pPr defTabSz="825500">
                    <a:defRPr sz="4800">
                      <a:solidFill>
                        <a:srgbClr val="000000"/>
                      </a:solidFill>
                      <a:latin typeface="Ubuntu"/>
                      <a:ea typeface="Ubuntu"/>
                      <a:cs typeface="Ubuntu"/>
                      <a:sym typeface="Ubuntu"/>
                    </a:defRPr>
                  </a:pPr>
                  <a:endParaRPr lang="en-AU" sz="1200" kern="0" noProof="0">
                    <a:solidFill>
                      <a:srgbClr val="000000"/>
                    </a:solidFill>
                    <a:latin typeface="+mj-lt"/>
                    <a:ea typeface="Ubuntu"/>
                    <a:cs typeface="Ubuntu"/>
                    <a:sym typeface="Ubuntu"/>
                  </a:endParaRPr>
                </a:p>
              </p:txBody>
            </p:sp>
            <p:sp>
              <p:nvSpPr>
                <p:cNvPr id="47" name="Frecuencia">
                  <a:extLst>
                    <a:ext uri="{FF2B5EF4-FFF2-40B4-BE49-F238E27FC236}">
                      <a16:creationId xmlns:a16="http://schemas.microsoft.com/office/drawing/2014/main" id="{FF65A97D-1C5D-501F-24CD-34D867275036}"/>
                    </a:ext>
                  </a:extLst>
                </p:cNvPr>
                <p:cNvSpPr txBox="1"/>
                <p:nvPr/>
              </p:nvSpPr>
              <p:spPr>
                <a:xfrm>
                  <a:off x="103332" y="65544"/>
                  <a:ext cx="2169340" cy="574514"/>
                </a:xfrm>
                <a:prstGeom prst="rect">
                  <a:avLst/>
                </a:prstGeom>
                <a:grp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lvl1pPr defTabSz="825500">
                    <a:defRPr sz="2800" b="1">
                      <a:solidFill>
                        <a:srgbClr val="57CF80"/>
                      </a:solidFill>
                      <a:latin typeface="Ubuntu"/>
                      <a:ea typeface="Ubuntu"/>
                      <a:cs typeface="Ubuntu"/>
                      <a:sym typeface="Ubuntu"/>
                    </a:defRPr>
                  </a:lvl1pPr>
                </a:lstStyle>
                <a:p>
                  <a:pPr algn="ctr">
                    <a:defRPr/>
                  </a:pPr>
                  <a:endParaRPr lang="en-AU" sz="1200" kern="0" noProof="0">
                    <a:solidFill>
                      <a:srgbClr val="12ABDB"/>
                    </a:solidFill>
                    <a:latin typeface="+mj-lt"/>
                  </a:endParaRPr>
                </a:p>
              </p:txBody>
            </p:sp>
          </p:grpSp>
        </p:grpSp>
      </p:grpSp>
      <p:grpSp>
        <p:nvGrpSpPr>
          <p:cNvPr id="10" name="Group 9">
            <a:extLst>
              <a:ext uri="{FF2B5EF4-FFF2-40B4-BE49-F238E27FC236}">
                <a16:creationId xmlns:a16="http://schemas.microsoft.com/office/drawing/2014/main" id="{D4BAA22F-2700-BA61-ACCC-CB6B5D2A776F}"/>
              </a:ext>
            </a:extLst>
          </p:cNvPr>
          <p:cNvGrpSpPr/>
          <p:nvPr/>
        </p:nvGrpSpPr>
        <p:grpSpPr>
          <a:xfrm>
            <a:off x="9572812" y="5442126"/>
            <a:ext cx="1140907" cy="211203"/>
            <a:chOff x="10033832" y="964729"/>
            <a:chExt cx="1140907" cy="211203"/>
          </a:xfrm>
        </p:grpSpPr>
        <p:sp>
          <p:nvSpPr>
            <p:cNvPr id="11" name="TextBox 10">
              <a:extLst>
                <a:ext uri="{FF2B5EF4-FFF2-40B4-BE49-F238E27FC236}">
                  <a16:creationId xmlns:a16="http://schemas.microsoft.com/office/drawing/2014/main" id="{F366B71F-2340-4922-EFCA-C064ADE488AE}"/>
                </a:ext>
              </a:extLst>
            </p:cNvPr>
            <p:cNvSpPr txBox="1"/>
            <p:nvPr/>
          </p:nvSpPr>
          <p:spPr>
            <a:xfrm>
              <a:off x="10033833" y="964729"/>
              <a:ext cx="1140906" cy="211203"/>
            </a:xfrm>
            <a:prstGeom prst="rect">
              <a:avLst/>
            </a:prstGeom>
            <a:noFill/>
            <a:ln>
              <a:noFill/>
            </a:ln>
          </p:spPr>
          <p:txBody>
            <a:bodyPr wrap="square" lIns="0" tIns="36000" rIns="0" bIns="36000" rtlCol="0">
              <a:spAutoFit/>
            </a:bodyPr>
            <a:lstStyle/>
            <a:p>
              <a:pPr marL="0" marR="0" lvl="0" indent="0" algn="ctr" defTabSz="457166"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dirty="0">
                  <a:ln>
                    <a:noFill/>
                  </a:ln>
                  <a:solidFill>
                    <a:schemeClr val="bg1"/>
                  </a:solidFill>
                  <a:effectLst/>
                  <a:uLnTx/>
                  <a:uFillTx/>
                  <a:latin typeface="Ubuntu" panose="020B0504030602030204" pitchFamily="34" charset="0"/>
                  <a:ea typeface="+mn-ea"/>
                  <a:cs typeface="+mn-cs"/>
                </a:rPr>
                <a:t>Non-exhaustive</a:t>
              </a:r>
            </a:p>
          </p:txBody>
        </p:sp>
        <p:cxnSp>
          <p:nvCxnSpPr>
            <p:cNvPr id="12" name="Straight Connector 11">
              <a:extLst>
                <a:ext uri="{FF2B5EF4-FFF2-40B4-BE49-F238E27FC236}">
                  <a16:creationId xmlns:a16="http://schemas.microsoft.com/office/drawing/2014/main" id="{D6239F59-2D6C-878E-2B4B-9458B8F31978}"/>
                </a:ext>
              </a:extLst>
            </p:cNvPr>
            <p:cNvCxnSpPr>
              <a:cxnSpLocks/>
            </p:cNvCxnSpPr>
            <p:nvPr/>
          </p:nvCxnSpPr>
          <p:spPr>
            <a:xfrm>
              <a:off x="10033832" y="981017"/>
              <a:ext cx="104400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0FD8C72-8AD4-5837-15B7-034BA30F618B}"/>
                </a:ext>
              </a:extLst>
            </p:cNvPr>
            <p:cNvCxnSpPr>
              <a:cxnSpLocks/>
            </p:cNvCxnSpPr>
            <p:nvPr/>
          </p:nvCxnSpPr>
          <p:spPr>
            <a:xfrm>
              <a:off x="10033832" y="1159643"/>
              <a:ext cx="104400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6506448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FC3242D-B4DE-219F-AA64-75DA6136E46F}"/>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F0E64E6B-DE99-DD6B-AB8C-F5367471D57A}"/>
              </a:ext>
            </a:extLst>
          </p:cNvPr>
          <p:cNvSpPr>
            <a:spLocks noGrp="1"/>
          </p:cNvSpPr>
          <p:nvPr>
            <p:ph type="title"/>
          </p:nvPr>
        </p:nvSpPr>
        <p:spPr/>
        <p:txBody>
          <a:bodyPr wrap="square" lIns="0" tIns="0" rIns="0" bIns="0">
            <a:spAutoFit/>
          </a:bodyPr>
          <a:lstStyle/>
          <a:p>
            <a:r>
              <a:rPr lang="en-AU" sz="2000" kern="1200" cap="all" spc="200" noProof="0">
                <a:solidFill>
                  <a:srgbClr val="FFFFFF"/>
                </a:solidFill>
                <a:latin typeface="+mn-lt"/>
              </a:rPr>
              <a:t> </a:t>
            </a:r>
          </a:p>
        </p:txBody>
      </p:sp>
      <p:sp>
        <p:nvSpPr>
          <p:cNvPr id="2" name="Text Placeholder 2">
            <a:extLst>
              <a:ext uri="{FF2B5EF4-FFF2-40B4-BE49-F238E27FC236}">
                <a16:creationId xmlns:a16="http://schemas.microsoft.com/office/drawing/2014/main" id="{D6206B14-A86A-4AED-E33B-4A5115BA0870}"/>
              </a:ext>
            </a:extLst>
          </p:cNvPr>
          <p:cNvSpPr txBox="1">
            <a:spLocks/>
          </p:cNvSpPr>
          <p:nvPr/>
        </p:nvSpPr>
        <p:spPr>
          <a:xfrm>
            <a:off x="381000" y="304800"/>
            <a:ext cx="10972800" cy="615553"/>
          </a:xfrm>
          <a:prstGeom prst="rect">
            <a:avLst/>
          </a:prstGeom>
        </p:spPr>
        <p:txBody>
          <a:bodyPr anchor="ctr"/>
          <a:lst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a:lstStyle>
          <a:p>
            <a:r>
              <a:rPr lang="en-AU" sz="2000" kern="0" cap="all" noProof="0">
                <a:solidFill>
                  <a:schemeClr val="bg1"/>
                </a:solidFill>
              </a:rPr>
              <a:t>PROPOSED TEAM AND ECONOMICS DURING DEPLOYMENT PHASE: NON-BINDING</a:t>
            </a:r>
          </a:p>
        </p:txBody>
      </p:sp>
      <p:sp>
        <p:nvSpPr>
          <p:cNvPr id="9" name="Rectángulo redondeado">
            <a:extLst>
              <a:ext uri="{FF2B5EF4-FFF2-40B4-BE49-F238E27FC236}">
                <a16:creationId xmlns:a16="http://schemas.microsoft.com/office/drawing/2014/main" id="{CEAF39F3-9544-B933-E84D-DB04AA2CBADA}"/>
              </a:ext>
            </a:extLst>
          </p:cNvPr>
          <p:cNvSpPr/>
          <p:nvPr/>
        </p:nvSpPr>
        <p:spPr>
          <a:xfrm>
            <a:off x="-200552" y="1100704"/>
            <a:ext cx="12593105" cy="1197996"/>
          </a:xfrm>
          <a:prstGeom prst="roundRect">
            <a:avLst>
              <a:gd name="adj" fmla="val 47529"/>
            </a:avLst>
          </a:prstGeom>
          <a:solidFill>
            <a:srgbClr val="12ABDB"/>
          </a:solidFill>
          <a:ln w="12700">
            <a:miter lim="400000"/>
          </a:ln>
        </p:spPr>
        <p:txBody>
          <a:bodyPr lIns="720000" tIns="45718" rIns="540000" bIns="45718" anchor="ctr"/>
          <a:lstStyle/>
          <a:p>
            <a:pPr marL="0" marR="0" lvl="0" indent="0" defTabSz="914400" rtl="0" eaLnBrk="1" fontAlgn="auto" latinLnBrk="0" hangingPunct="0">
              <a:lnSpc>
                <a:spcPct val="100000"/>
              </a:lnSpc>
              <a:spcBef>
                <a:spcPts val="0"/>
              </a:spcBef>
              <a:spcAft>
                <a:spcPts val="0"/>
              </a:spcAft>
              <a:buClrTx/>
              <a:buSzTx/>
              <a:buFontTx/>
              <a:buNone/>
              <a:tabLst/>
              <a:defRPr/>
            </a:pPr>
            <a:r>
              <a:rPr kumimoji="0" lang="en-AU" sz="1400" b="1" u="none" strike="noStrike" kern="0" cap="none" spc="0" normalizeH="0" baseline="0" noProof="0" dirty="0">
                <a:ln>
                  <a:noFill/>
                </a:ln>
                <a:solidFill>
                  <a:srgbClr val="FFFFFF"/>
                </a:solidFill>
                <a:effectLst/>
                <a:uLnTx/>
                <a:uFillTx/>
                <a:latin typeface="+mj-lt"/>
                <a:ea typeface="Verdana"/>
                <a:cs typeface="Helvetica"/>
                <a:sym typeface="Helvetica"/>
              </a:rPr>
              <a:t>At this stage it is not possible to accurately size the deployment phase in terms of timeline and team, as this will depend on the insights, complexity and decisions derived from the previous phases.</a:t>
            </a:r>
          </a:p>
          <a:p>
            <a:pPr marL="0" marR="0" lvl="0" indent="0" defTabSz="914400" rtl="0" eaLnBrk="1" fontAlgn="auto" latinLnBrk="0" hangingPunct="0">
              <a:lnSpc>
                <a:spcPct val="100000"/>
              </a:lnSpc>
              <a:spcBef>
                <a:spcPts val="0"/>
              </a:spcBef>
              <a:spcAft>
                <a:spcPts val="0"/>
              </a:spcAft>
              <a:buClrTx/>
              <a:buSzTx/>
              <a:buFontTx/>
              <a:buNone/>
              <a:tabLst/>
              <a:defRPr/>
            </a:pPr>
            <a:br>
              <a:rPr kumimoji="0" lang="en-AU" sz="1400" b="1" u="none" strike="noStrike" kern="0" cap="none" spc="0" normalizeH="0" baseline="0" noProof="0" dirty="0">
                <a:ln>
                  <a:noFill/>
                </a:ln>
                <a:solidFill>
                  <a:srgbClr val="FFFFFF"/>
                </a:solidFill>
                <a:effectLst/>
                <a:uLnTx/>
                <a:uFillTx/>
                <a:latin typeface="+mj-lt"/>
                <a:ea typeface="Verdana"/>
                <a:cs typeface="Helvetica"/>
                <a:sym typeface="Helvetica"/>
              </a:rPr>
            </a:br>
            <a:r>
              <a:rPr kumimoji="0" lang="en-AU" sz="1400" b="1" u="none" strike="noStrike" kern="0" cap="none" spc="0" normalizeH="0" baseline="0" noProof="0" dirty="0">
                <a:ln>
                  <a:noFill/>
                </a:ln>
                <a:solidFill>
                  <a:srgbClr val="FFFFFF"/>
                </a:solidFill>
                <a:effectLst/>
                <a:uLnTx/>
                <a:uFillTx/>
                <a:latin typeface="+mj-lt"/>
                <a:ea typeface="Verdana"/>
                <a:cs typeface="Helvetica"/>
                <a:sym typeface="Helvetica"/>
              </a:rPr>
              <a:t>Nevertheless, based on our experience in similar transformations, we provide an </a:t>
            </a:r>
            <a:r>
              <a:rPr lang="en-AU" sz="1400" b="1" kern="0" dirty="0">
                <a:solidFill>
                  <a:srgbClr val="FFFFFF"/>
                </a:solidFill>
                <a:latin typeface="+mj-lt"/>
                <a:ea typeface="Verdana"/>
                <a:cs typeface="Helvetica"/>
                <a:sym typeface="Helvetica"/>
              </a:rPr>
              <a:t>initial non-binding estimate of three months for the required profiles as outlined below:</a:t>
            </a:r>
          </a:p>
        </p:txBody>
      </p:sp>
      <p:sp>
        <p:nvSpPr>
          <p:cNvPr id="13" name="Rectángulo redondeado">
            <a:extLst>
              <a:ext uri="{FF2B5EF4-FFF2-40B4-BE49-F238E27FC236}">
                <a16:creationId xmlns:a16="http://schemas.microsoft.com/office/drawing/2014/main" id="{2DBCA598-11FE-EB3F-813B-2F0822327E01}"/>
              </a:ext>
            </a:extLst>
          </p:cNvPr>
          <p:cNvSpPr/>
          <p:nvPr/>
        </p:nvSpPr>
        <p:spPr>
          <a:xfrm>
            <a:off x="-200552" y="2798713"/>
            <a:ext cx="6654537" cy="846187"/>
          </a:xfrm>
          <a:prstGeom prst="roundRect">
            <a:avLst>
              <a:gd name="adj" fmla="val 50000"/>
            </a:avLst>
          </a:prstGeom>
          <a:solidFill>
            <a:srgbClr val="FFFFFF"/>
          </a:solidFill>
          <a:ln w="12700">
            <a:miter lim="400000"/>
          </a:ln>
        </p:spPr>
        <p:txBody>
          <a:bodyPr lIns="45718" tIns="45718" rIns="45718" bIns="45718" anchor="ctr"/>
          <a:lstStyle/>
          <a:p>
            <a:pPr marL="0" marR="0" lvl="0" indent="0" algn="l"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endParaRPr kumimoji="0" lang="en-AU" sz="1600" b="0" i="0" u="none" strike="noStrike" kern="0" cap="none" spc="0" normalizeH="0" baseline="0" noProof="0">
              <a:ln>
                <a:noFill/>
              </a:ln>
              <a:solidFill>
                <a:srgbClr val="000000"/>
              </a:solidFill>
              <a:effectLst/>
              <a:uLnTx/>
              <a:uFillTx/>
              <a:latin typeface="Ubuntu"/>
              <a:sym typeface="Ubuntu"/>
            </a:endParaRPr>
          </a:p>
        </p:txBody>
      </p:sp>
      <p:pic>
        <p:nvPicPr>
          <p:cNvPr id="46" name="Picture 45">
            <a:extLst>
              <a:ext uri="{FF2B5EF4-FFF2-40B4-BE49-F238E27FC236}">
                <a16:creationId xmlns:a16="http://schemas.microsoft.com/office/drawing/2014/main" id="{DAB5E7FA-A19F-3DF2-7FD2-D0EF21B7BFFA}"/>
              </a:ext>
            </a:extLst>
          </p:cNvPr>
          <p:cNvPicPr>
            <a:picLocks noChangeAspect="1"/>
          </p:cNvPicPr>
          <p:nvPr/>
        </p:nvPicPr>
        <p:blipFill>
          <a:blip r:embed="rId4" cstate="email">
            <a:extLst>
              <a:ext uri="{28A0092B-C50C-407E-A947-70E740481C1C}">
                <a14:useLocalDpi xmlns:a14="http://schemas.microsoft.com/office/drawing/2010/main"/>
              </a:ext>
            </a:extLst>
          </a:blip>
          <a:srcRect r="34275"/>
          <a:stretch>
            <a:fillRect/>
          </a:stretch>
        </p:blipFill>
        <p:spPr>
          <a:xfrm>
            <a:off x="1105517" y="2824041"/>
            <a:ext cx="2132983" cy="909754"/>
          </a:xfrm>
          <a:prstGeom prst="rect">
            <a:avLst/>
          </a:prstGeom>
        </p:spPr>
      </p:pic>
      <p:sp>
        <p:nvSpPr>
          <p:cNvPr id="63" name="Rectángulo redondeado">
            <a:extLst>
              <a:ext uri="{FF2B5EF4-FFF2-40B4-BE49-F238E27FC236}">
                <a16:creationId xmlns:a16="http://schemas.microsoft.com/office/drawing/2014/main" id="{92836B31-45D2-D943-D4B1-8D88B2DFEAE3}"/>
              </a:ext>
            </a:extLst>
          </p:cNvPr>
          <p:cNvSpPr/>
          <p:nvPr/>
        </p:nvSpPr>
        <p:spPr>
          <a:xfrm>
            <a:off x="381000" y="3245783"/>
            <a:ext cx="681185" cy="399117"/>
          </a:xfrm>
          <a:prstGeom prst="roundRect">
            <a:avLst>
              <a:gd name="adj" fmla="val 50000"/>
            </a:avLst>
          </a:prstGeom>
          <a:noFill/>
          <a:ln w="12700">
            <a:miter lim="400000"/>
          </a:ln>
        </p:spPr>
        <p:txBody>
          <a:bodyPr lIns="4680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endPar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endParaRPr>
          </a:p>
        </p:txBody>
      </p:sp>
      <p:cxnSp>
        <p:nvCxnSpPr>
          <p:cNvPr id="64" name="Connector: Elbow 63">
            <a:extLst>
              <a:ext uri="{FF2B5EF4-FFF2-40B4-BE49-F238E27FC236}">
                <a16:creationId xmlns:a16="http://schemas.microsoft.com/office/drawing/2014/main" id="{831222A1-7858-F6B4-EB24-B0C49A06B00E}"/>
              </a:ext>
            </a:extLst>
          </p:cNvPr>
          <p:cNvCxnSpPr>
            <a:cxnSpLocks/>
            <a:stCxn id="63" idx="2"/>
          </p:cNvCxnSpPr>
          <p:nvPr/>
        </p:nvCxnSpPr>
        <p:spPr>
          <a:xfrm rot="16200000" flipH="1">
            <a:off x="638692" y="3727801"/>
            <a:ext cx="549726" cy="383924"/>
          </a:xfrm>
          <a:prstGeom prst="bentConnector2">
            <a:avLst/>
          </a:prstGeom>
          <a:noFill/>
          <a:ln w="3175" cap="flat">
            <a:solidFill>
              <a:schemeClr val="accent2"/>
            </a:solidFill>
            <a:prstDash val="sysDash"/>
            <a:round/>
            <a:tailEnd type="none"/>
          </a:ln>
          <a:effectLst/>
          <a:sp3d/>
        </p:spPr>
        <p:style>
          <a:lnRef idx="0">
            <a:scrgbClr r="0" g="0" b="0"/>
          </a:lnRef>
          <a:fillRef idx="0">
            <a:scrgbClr r="0" g="0" b="0"/>
          </a:fillRef>
          <a:effectRef idx="0">
            <a:scrgbClr r="0" g="0" b="0"/>
          </a:effectRef>
          <a:fontRef idx="none"/>
        </p:style>
      </p:cxnSp>
      <p:sp>
        <p:nvSpPr>
          <p:cNvPr id="72" name="Rectángulo redondeado">
            <a:extLst>
              <a:ext uri="{FF2B5EF4-FFF2-40B4-BE49-F238E27FC236}">
                <a16:creationId xmlns:a16="http://schemas.microsoft.com/office/drawing/2014/main" id="{119730E9-2C31-8489-0B0A-77F938E1C57F}"/>
              </a:ext>
            </a:extLst>
          </p:cNvPr>
          <p:cNvSpPr/>
          <p:nvPr/>
        </p:nvSpPr>
        <p:spPr>
          <a:xfrm>
            <a:off x="8327735" y="3929013"/>
            <a:ext cx="3142672" cy="2023863"/>
          </a:xfrm>
          <a:prstGeom prst="roundRect">
            <a:avLst>
              <a:gd name="adj" fmla="val 16742"/>
            </a:avLst>
          </a:prstGeom>
          <a:solidFill>
            <a:schemeClr val="bg1">
              <a:lumMod val="85000"/>
            </a:schemeClr>
          </a:solidFill>
          <a:ln w="12700">
            <a:miter lim="400000"/>
          </a:ln>
        </p:spPr>
        <p:txBody>
          <a:bodyPr lIns="0" tIns="45718" rIns="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200" i="1" kern="0">
                <a:latin typeface="Ubuntu" panose="020B0504030602030204" pitchFamily="34" charset="0"/>
                <a:sym typeface="Ubuntu"/>
              </a:rPr>
              <a:t>Once the deployment plan has been defined, we will revisit and confirm the </a:t>
            </a:r>
            <a:r>
              <a:rPr lang="en-AU" sz="1200" b="1" i="1" kern="0">
                <a:latin typeface="Ubuntu" panose="020B0504030602030204" pitchFamily="34" charset="0"/>
                <a:sym typeface="Ubuntu"/>
              </a:rPr>
              <a:t>final team set up</a:t>
            </a:r>
            <a:r>
              <a:rPr lang="en-AU" sz="1200" i="1" kern="0">
                <a:latin typeface="Ubuntu" panose="020B0504030602030204" pitchFamily="34" charset="0"/>
                <a:sym typeface="Ubuntu"/>
              </a:rPr>
              <a:t>, </a:t>
            </a:r>
            <a:r>
              <a:rPr lang="en-AU" sz="1200" b="1" i="1" kern="0">
                <a:latin typeface="Ubuntu" panose="020B0504030602030204" pitchFamily="34" charset="0"/>
                <a:sym typeface="Ubuntu"/>
              </a:rPr>
              <a:t>duration</a:t>
            </a:r>
            <a:r>
              <a:rPr lang="en-AU" sz="1200" i="1" kern="0">
                <a:latin typeface="Ubuntu" panose="020B0504030602030204" pitchFamily="34" charset="0"/>
                <a:sym typeface="Ubuntu"/>
              </a:rPr>
              <a:t> and </a:t>
            </a:r>
            <a:r>
              <a:rPr lang="en-AU" sz="1200" b="1" i="1" kern="0">
                <a:latin typeface="Ubuntu" panose="020B0504030602030204" pitchFamily="34" charset="0"/>
                <a:sym typeface="Ubuntu"/>
              </a:rPr>
              <a:t>associated fees</a:t>
            </a:r>
            <a:r>
              <a:rPr lang="en-AU" sz="1200" i="1" kern="0">
                <a:latin typeface="Ubuntu" panose="020B0504030602030204" pitchFamily="34" charset="0"/>
                <a:sym typeface="Ubuntu"/>
              </a:rPr>
              <a:t>, ensuring full alignment with the agreed scope and objectives</a:t>
            </a:r>
            <a:endParaRPr kumimoji="0" lang="en-AU" sz="1200" b="0" i="1" u="none" strike="noStrike" kern="0" cap="none" spc="0" normalizeH="0" baseline="0" noProof="0">
              <a:ln>
                <a:noFill/>
              </a:ln>
              <a:effectLst/>
              <a:uLnTx/>
              <a:uFillTx/>
              <a:latin typeface="Ubuntu" panose="020B0504030602030204" pitchFamily="34" charset="0"/>
              <a:sym typeface="Ubuntu"/>
            </a:endParaRPr>
          </a:p>
        </p:txBody>
      </p:sp>
      <p:sp>
        <p:nvSpPr>
          <p:cNvPr id="7" name="Rectángulo redondeado">
            <a:extLst>
              <a:ext uri="{FF2B5EF4-FFF2-40B4-BE49-F238E27FC236}">
                <a16:creationId xmlns:a16="http://schemas.microsoft.com/office/drawing/2014/main" id="{7D3B2E56-AF57-70FA-7A94-69686644B418}"/>
              </a:ext>
            </a:extLst>
          </p:cNvPr>
          <p:cNvSpPr/>
          <p:nvPr/>
        </p:nvSpPr>
        <p:spPr>
          <a:xfrm>
            <a:off x="1105517" y="3929013"/>
            <a:ext cx="3787329" cy="531225"/>
          </a:xfrm>
          <a:prstGeom prst="roundRect">
            <a:avLst>
              <a:gd name="adj" fmla="val 50000"/>
            </a:avLst>
          </a:prstGeom>
          <a:solidFill>
            <a:srgbClr val="4FA8D6"/>
          </a:solidFill>
          <a:ln w="12700">
            <a:miter lim="400000"/>
          </a:ln>
        </p:spPr>
        <p:txBody>
          <a:bodyPr lIns="0" tIns="45718" rIns="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t>Project Director</a:t>
            </a:r>
          </a:p>
        </p:txBody>
      </p:sp>
      <p:sp>
        <p:nvSpPr>
          <p:cNvPr id="8" name="Rectángulo redondeado">
            <a:extLst>
              <a:ext uri="{FF2B5EF4-FFF2-40B4-BE49-F238E27FC236}">
                <a16:creationId xmlns:a16="http://schemas.microsoft.com/office/drawing/2014/main" id="{F1CC7FC0-1A97-A462-D40B-CF895FF9ABBB}"/>
              </a:ext>
            </a:extLst>
          </p:cNvPr>
          <p:cNvSpPr/>
          <p:nvPr/>
        </p:nvSpPr>
        <p:spPr>
          <a:xfrm>
            <a:off x="1163166" y="3996451"/>
            <a:ext cx="681185" cy="399117"/>
          </a:xfrm>
          <a:prstGeom prst="roundRect">
            <a:avLst>
              <a:gd name="adj" fmla="val 50000"/>
            </a:avLst>
          </a:prstGeom>
          <a:solidFill>
            <a:schemeClr val="bg1"/>
          </a:solidFill>
          <a:ln w="12700">
            <a:miter lim="400000"/>
          </a:ln>
        </p:spPr>
        <p:txBody>
          <a:bodyPr lIns="4680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lang="en-AU" sz="1050" kern="0">
                <a:solidFill>
                  <a:srgbClr val="2B174E"/>
                </a:solidFill>
                <a:latin typeface="Ubuntu" panose="020B0504030602030204" pitchFamily="34" charset="0"/>
                <a:sym typeface="Ubuntu"/>
              </a:rPr>
              <a:t>1</a:t>
            </a:r>
            <a:r>
              <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rPr>
              <a:t>0%</a:t>
            </a:r>
          </a:p>
        </p:txBody>
      </p:sp>
      <p:sp>
        <p:nvSpPr>
          <p:cNvPr id="10" name="Rectángulo redondeado">
            <a:extLst>
              <a:ext uri="{FF2B5EF4-FFF2-40B4-BE49-F238E27FC236}">
                <a16:creationId xmlns:a16="http://schemas.microsoft.com/office/drawing/2014/main" id="{53468AB6-91DD-119C-C221-AA397496DC4C}"/>
              </a:ext>
            </a:extLst>
          </p:cNvPr>
          <p:cNvSpPr/>
          <p:nvPr/>
        </p:nvSpPr>
        <p:spPr>
          <a:xfrm>
            <a:off x="2666656" y="5113483"/>
            <a:ext cx="3787329" cy="531225"/>
          </a:xfrm>
          <a:prstGeom prst="roundRect">
            <a:avLst>
              <a:gd name="adj" fmla="val 50000"/>
            </a:avLst>
          </a:prstGeom>
          <a:solidFill>
            <a:srgbClr val="4FA8D6"/>
          </a:solidFill>
          <a:ln w="12700">
            <a:miter lim="400000"/>
          </a:ln>
        </p:spPr>
        <p:txBody>
          <a:bodyPr lIns="0" tIns="45718" rIns="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t>Senior Consultant</a:t>
            </a:r>
          </a:p>
        </p:txBody>
      </p:sp>
      <p:sp>
        <p:nvSpPr>
          <p:cNvPr id="11" name="Rectángulo redondeado">
            <a:extLst>
              <a:ext uri="{FF2B5EF4-FFF2-40B4-BE49-F238E27FC236}">
                <a16:creationId xmlns:a16="http://schemas.microsoft.com/office/drawing/2014/main" id="{A0AFA23B-7002-4F5B-FBFB-5F52973E1BB6}"/>
              </a:ext>
            </a:extLst>
          </p:cNvPr>
          <p:cNvSpPr/>
          <p:nvPr/>
        </p:nvSpPr>
        <p:spPr>
          <a:xfrm>
            <a:off x="2724305" y="5180921"/>
            <a:ext cx="681185" cy="399117"/>
          </a:xfrm>
          <a:prstGeom prst="roundRect">
            <a:avLst>
              <a:gd name="adj" fmla="val 50000"/>
            </a:avLst>
          </a:prstGeom>
          <a:solidFill>
            <a:schemeClr val="bg1"/>
          </a:solidFill>
          <a:ln w="12700">
            <a:miter lim="400000"/>
          </a:ln>
        </p:spPr>
        <p:txBody>
          <a:bodyPr lIns="4680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rPr>
              <a:t>100%</a:t>
            </a:r>
          </a:p>
        </p:txBody>
      </p:sp>
      <p:sp>
        <p:nvSpPr>
          <p:cNvPr id="12" name="Rectángulo redondeado">
            <a:extLst>
              <a:ext uri="{FF2B5EF4-FFF2-40B4-BE49-F238E27FC236}">
                <a16:creationId xmlns:a16="http://schemas.microsoft.com/office/drawing/2014/main" id="{E589263A-E45D-4301-AE6D-E6ADB8E2D445}"/>
              </a:ext>
            </a:extLst>
          </p:cNvPr>
          <p:cNvSpPr/>
          <p:nvPr/>
        </p:nvSpPr>
        <p:spPr>
          <a:xfrm>
            <a:off x="2666656" y="5704025"/>
            <a:ext cx="3787329" cy="531225"/>
          </a:xfrm>
          <a:prstGeom prst="roundRect">
            <a:avLst>
              <a:gd name="adj" fmla="val 50000"/>
            </a:avLst>
          </a:prstGeom>
          <a:solidFill>
            <a:srgbClr val="4FA8D6"/>
          </a:solidFill>
          <a:ln w="12700">
            <a:miter lim="400000"/>
          </a:ln>
        </p:spPr>
        <p:txBody>
          <a:bodyPr lIns="0" tIns="45718" rIns="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t>Consultant</a:t>
            </a:r>
          </a:p>
        </p:txBody>
      </p:sp>
      <p:sp>
        <p:nvSpPr>
          <p:cNvPr id="14" name="Rectángulo redondeado">
            <a:extLst>
              <a:ext uri="{FF2B5EF4-FFF2-40B4-BE49-F238E27FC236}">
                <a16:creationId xmlns:a16="http://schemas.microsoft.com/office/drawing/2014/main" id="{9D0A8539-7857-5EF7-D0D8-C236F323E88A}"/>
              </a:ext>
            </a:extLst>
          </p:cNvPr>
          <p:cNvSpPr/>
          <p:nvPr/>
        </p:nvSpPr>
        <p:spPr>
          <a:xfrm>
            <a:off x="2724305" y="5771463"/>
            <a:ext cx="681185" cy="399117"/>
          </a:xfrm>
          <a:prstGeom prst="roundRect">
            <a:avLst>
              <a:gd name="adj" fmla="val 50000"/>
            </a:avLst>
          </a:prstGeom>
          <a:solidFill>
            <a:schemeClr val="bg1"/>
          </a:solidFill>
          <a:ln w="12700">
            <a:miter lim="400000"/>
          </a:ln>
        </p:spPr>
        <p:txBody>
          <a:bodyPr lIns="4680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rPr>
              <a:t>100%</a:t>
            </a:r>
          </a:p>
        </p:txBody>
      </p:sp>
      <p:cxnSp>
        <p:nvCxnSpPr>
          <p:cNvPr id="15" name="Connector: Elbow 14">
            <a:extLst>
              <a:ext uri="{FF2B5EF4-FFF2-40B4-BE49-F238E27FC236}">
                <a16:creationId xmlns:a16="http://schemas.microsoft.com/office/drawing/2014/main" id="{9E3AAECB-4714-477B-821E-0C555A326CEA}"/>
              </a:ext>
            </a:extLst>
          </p:cNvPr>
          <p:cNvCxnSpPr>
            <a:cxnSpLocks/>
            <a:stCxn id="8" idx="2"/>
            <a:endCxn id="12" idx="1"/>
          </p:cNvCxnSpPr>
          <p:nvPr/>
        </p:nvCxnSpPr>
        <p:spPr>
          <a:xfrm rot="16200000" flipH="1">
            <a:off x="1298172" y="4601154"/>
            <a:ext cx="1574070" cy="1162897"/>
          </a:xfrm>
          <a:prstGeom prst="bentConnector2">
            <a:avLst/>
          </a:prstGeom>
          <a:noFill/>
          <a:ln w="3175" cap="flat">
            <a:solidFill>
              <a:schemeClr val="accent2"/>
            </a:solidFill>
            <a:prstDash val="sysDash"/>
            <a:round/>
            <a:tailEnd type="none"/>
          </a:ln>
          <a:effectLst/>
          <a:sp3d/>
        </p:spPr>
        <p:style>
          <a:lnRef idx="0">
            <a:scrgbClr r="0" g="0" b="0"/>
          </a:lnRef>
          <a:fillRef idx="0">
            <a:scrgbClr r="0" g="0" b="0"/>
          </a:fillRef>
          <a:effectRef idx="0">
            <a:scrgbClr r="0" g="0" b="0"/>
          </a:effectRef>
          <a:fontRef idx="none"/>
        </p:style>
      </p:cxnSp>
      <p:cxnSp>
        <p:nvCxnSpPr>
          <p:cNvPr id="16" name="Connector: Elbow 15">
            <a:extLst>
              <a:ext uri="{FF2B5EF4-FFF2-40B4-BE49-F238E27FC236}">
                <a16:creationId xmlns:a16="http://schemas.microsoft.com/office/drawing/2014/main" id="{6E9A0065-64CB-3AED-FF6D-67F7FB6FD799}"/>
              </a:ext>
            </a:extLst>
          </p:cNvPr>
          <p:cNvCxnSpPr>
            <a:cxnSpLocks/>
            <a:stCxn id="8" idx="2"/>
            <a:endCxn id="10" idx="1"/>
          </p:cNvCxnSpPr>
          <p:nvPr/>
        </p:nvCxnSpPr>
        <p:spPr>
          <a:xfrm rot="16200000" flipH="1">
            <a:off x="1593443" y="4305883"/>
            <a:ext cx="983528" cy="1162897"/>
          </a:xfrm>
          <a:prstGeom prst="bentConnector2">
            <a:avLst/>
          </a:prstGeom>
          <a:noFill/>
          <a:ln w="3175" cap="flat">
            <a:solidFill>
              <a:schemeClr val="accent2"/>
            </a:solidFill>
            <a:prstDash val="sysDash"/>
            <a:round/>
            <a:tailEnd type="none"/>
          </a:ln>
          <a:effectLst/>
          <a:sp3d/>
        </p:spPr>
        <p:style>
          <a:lnRef idx="0">
            <a:scrgbClr r="0" g="0" b="0"/>
          </a:lnRef>
          <a:fillRef idx="0">
            <a:scrgbClr r="0" g="0" b="0"/>
          </a:fillRef>
          <a:effectRef idx="0">
            <a:scrgbClr r="0" g="0" b="0"/>
          </a:effectRef>
          <a:fontRef idx="none"/>
        </p:style>
      </p:cxnSp>
      <p:sp>
        <p:nvSpPr>
          <p:cNvPr id="17" name="Rectángulo redondeado">
            <a:extLst>
              <a:ext uri="{FF2B5EF4-FFF2-40B4-BE49-F238E27FC236}">
                <a16:creationId xmlns:a16="http://schemas.microsoft.com/office/drawing/2014/main" id="{B435FBC9-F617-DCEF-A340-942B6AE20B19}"/>
              </a:ext>
            </a:extLst>
          </p:cNvPr>
          <p:cNvSpPr/>
          <p:nvPr/>
        </p:nvSpPr>
        <p:spPr>
          <a:xfrm>
            <a:off x="2666656" y="4542545"/>
            <a:ext cx="3787329" cy="531225"/>
          </a:xfrm>
          <a:prstGeom prst="roundRect">
            <a:avLst>
              <a:gd name="adj" fmla="val 50000"/>
            </a:avLst>
          </a:prstGeom>
          <a:solidFill>
            <a:srgbClr val="4FA8D6"/>
          </a:solidFill>
          <a:ln w="12700">
            <a:miter lim="400000"/>
          </a:ln>
        </p:spPr>
        <p:txBody>
          <a:bodyPr lIns="0" tIns="45718" rIns="0"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200" b="0" i="0" u="none" strike="noStrike" kern="0" cap="none" spc="0" normalizeH="0" baseline="0" noProof="0">
                <a:ln>
                  <a:noFill/>
                </a:ln>
                <a:solidFill>
                  <a:srgbClr val="FFFFFF"/>
                </a:solidFill>
                <a:effectLst/>
                <a:uLnTx/>
                <a:uFillTx/>
                <a:latin typeface="Ubuntu" panose="020B0504030602030204" pitchFamily="34" charset="0"/>
                <a:sym typeface="Ubuntu"/>
              </a:rPr>
              <a:t>Project Manager</a:t>
            </a:r>
          </a:p>
        </p:txBody>
      </p:sp>
      <p:sp>
        <p:nvSpPr>
          <p:cNvPr id="18" name="Rectángulo redondeado">
            <a:extLst>
              <a:ext uri="{FF2B5EF4-FFF2-40B4-BE49-F238E27FC236}">
                <a16:creationId xmlns:a16="http://schemas.microsoft.com/office/drawing/2014/main" id="{157A0618-8CAF-4DD7-2A70-109BF7339CD3}"/>
              </a:ext>
            </a:extLst>
          </p:cNvPr>
          <p:cNvSpPr/>
          <p:nvPr/>
        </p:nvSpPr>
        <p:spPr>
          <a:xfrm>
            <a:off x="2724305" y="4609983"/>
            <a:ext cx="681185" cy="399117"/>
          </a:xfrm>
          <a:prstGeom prst="roundRect">
            <a:avLst>
              <a:gd name="adj" fmla="val 50000"/>
            </a:avLst>
          </a:prstGeom>
          <a:solidFill>
            <a:schemeClr val="bg1"/>
          </a:solidFill>
          <a:ln w="12700">
            <a:miter lim="400000"/>
          </a:ln>
        </p:spPr>
        <p:txBody>
          <a:bodyPr lIns="46800" tIns="45718" rIns="45718" bIns="45718" anchor="ctr"/>
          <a:lstStyle/>
          <a:p>
            <a:pPr marL="0" marR="0" lvl="0" indent="0" algn="ctr" defTabSz="914400" rtl="0" eaLnBrk="1" fontAlgn="auto" latinLnBrk="0" hangingPunct="0">
              <a:lnSpc>
                <a:spcPct val="100000"/>
              </a:lnSpc>
              <a:spcBef>
                <a:spcPts val="0"/>
              </a:spcBef>
              <a:spcAft>
                <a:spcPts val="0"/>
              </a:spcAft>
              <a:buClrTx/>
              <a:buSzTx/>
              <a:buFontTx/>
              <a:buNone/>
              <a:tabLst/>
              <a:defRPr>
                <a:latin typeface="Ubuntu"/>
                <a:ea typeface="Ubuntu"/>
                <a:cs typeface="Ubuntu"/>
                <a:sym typeface="Ubuntu"/>
              </a:defRPr>
            </a:pPr>
            <a:r>
              <a:rPr kumimoji="0" lang="en-AU" sz="1050" b="0" i="0" u="none" strike="noStrike" kern="0" cap="none" spc="0" normalizeH="0" baseline="0" noProof="0">
                <a:ln>
                  <a:noFill/>
                </a:ln>
                <a:solidFill>
                  <a:srgbClr val="2B174E"/>
                </a:solidFill>
                <a:effectLst/>
                <a:uLnTx/>
                <a:uFillTx/>
                <a:latin typeface="Ubuntu" panose="020B0504030602030204" pitchFamily="34" charset="0"/>
                <a:sym typeface="Ubuntu"/>
              </a:rPr>
              <a:t>20%</a:t>
            </a:r>
          </a:p>
        </p:txBody>
      </p:sp>
    </p:spTree>
    <p:extLst>
      <p:ext uri="{BB962C8B-B14F-4D97-AF65-F5344CB8AC3E}">
        <p14:creationId xmlns:p14="http://schemas.microsoft.com/office/powerpoint/2010/main" val="200602099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3D93438-91EC-2187-A7FA-C510D2FC9178}"/>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F6DAA8B-F7F6-98E1-BDC9-FA03CACF9C42}"/>
              </a:ext>
            </a:extLst>
          </p:cNvPr>
          <p:cNvSpPr>
            <a:spLocks noGrp="1"/>
          </p:cNvSpPr>
          <p:nvPr>
            <p:ph type="title"/>
          </p:nvPr>
        </p:nvSpPr>
        <p:spPr/>
        <p:txBody>
          <a:bodyPr/>
          <a:lstStyle/>
          <a:p>
            <a:r>
              <a:rPr lang="en-AU" noProof="0"/>
              <a:t>Agenda</a:t>
            </a:r>
          </a:p>
        </p:txBody>
      </p:sp>
      <p:sp>
        <p:nvSpPr>
          <p:cNvPr id="4" name="Espace réservé du texte 3">
            <a:extLst>
              <a:ext uri="{FF2B5EF4-FFF2-40B4-BE49-F238E27FC236}">
                <a16:creationId xmlns:a16="http://schemas.microsoft.com/office/drawing/2014/main" id="{4274EB5F-A71D-3025-7475-DC416591520C}"/>
              </a:ext>
            </a:extLst>
          </p:cNvPr>
          <p:cNvSpPr>
            <a:spLocks noGrp="1"/>
          </p:cNvSpPr>
          <p:nvPr>
            <p:ph type="body" sz="quarter" idx="12"/>
          </p:nvPr>
        </p:nvSpPr>
        <p:spPr/>
        <p:txBody>
          <a:bodyPr/>
          <a:lstStyle/>
          <a:p>
            <a:r>
              <a:rPr lang="en-AU" noProof="0">
                <a:solidFill>
                  <a:schemeClr val="bg1">
                    <a:lumMod val="65000"/>
                  </a:schemeClr>
                </a:solidFill>
              </a:rPr>
              <a:t>Context and objectives</a:t>
            </a:r>
          </a:p>
          <a:p>
            <a:r>
              <a:rPr lang="en-AU" noProof="0">
                <a:solidFill>
                  <a:schemeClr val="bg1">
                    <a:lumMod val="65000"/>
                  </a:schemeClr>
                </a:solidFill>
              </a:rPr>
              <a:t>Why Capgemini</a:t>
            </a:r>
          </a:p>
          <a:p>
            <a:r>
              <a:rPr lang="en-AU" noProof="0">
                <a:solidFill>
                  <a:schemeClr val="bg1">
                    <a:lumMod val="65000"/>
                  </a:schemeClr>
                </a:solidFill>
              </a:rPr>
              <a:t>Our vision and methodology</a:t>
            </a:r>
          </a:p>
          <a:p>
            <a:r>
              <a:rPr lang="en-AU" noProof="0">
                <a:solidFill>
                  <a:schemeClr val="bg1">
                    <a:lumMod val="65000"/>
                  </a:schemeClr>
                </a:solidFill>
              </a:rPr>
              <a:t>Project plan</a:t>
            </a:r>
          </a:p>
          <a:p>
            <a:r>
              <a:rPr lang="en-AU" noProof="0">
                <a:solidFill>
                  <a:schemeClr val="bg1">
                    <a:lumMod val="65000"/>
                  </a:schemeClr>
                </a:solidFill>
              </a:rPr>
              <a:t>Proposed team and governance model</a:t>
            </a:r>
          </a:p>
          <a:p>
            <a:r>
              <a:rPr lang="en-AU" noProof="0">
                <a:solidFill>
                  <a:schemeClr val="bg1">
                    <a:lumMod val="65000"/>
                  </a:schemeClr>
                </a:solidFill>
              </a:rPr>
              <a:t>Economics</a:t>
            </a:r>
          </a:p>
          <a:p>
            <a:r>
              <a:rPr lang="en-AU" b="1" noProof="0"/>
              <a:t>Credentials</a:t>
            </a:r>
          </a:p>
          <a:p>
            <a:r>
              <a:rPr lang="en-AU">
                <a:solidFill>
                  <a:schemeClr val="bg1">
                    <a:lumMod val="65000"/>
                  </a:schemeClr>
                </a:solidFill>
              </a:rPr>
              <a:t>CVs</a:t>
            </a:r>
          </a:p>
        </p:txBody>
      </p:sp>
      <p:grpSp>
        <p:nvGrpSpPr>
          <p:cNvPr id="5" name="Group 12">
            <a:extLst>
              <a:ext uri="{FF2B5EF4-FFF2-40B4-BE49-F238E27FC236}">
                <a16:creationId xmlns:a16="http://schemas.microsoft.com/office/drawing/2014/main" id="{1D6E21F3-725D-B31A-1AA6-3F144BFAA691}"/>
              </a:ext>
              <a:ext uri="{C183D7F6-B498-43B3-948B-1728B52AA6E4}">
                <adec:decorative xmlns:adec="http://schemas.microsoft.com/office/drawing/2017/decorative" val="1"/>
              </a:ext>
            </a:extLst>
          </p:cNvPr>
          <p:cNvGrpSpPr/>
          <p:nvPr/>
        </p:nvGrpSpPr>
        <p:grpSpPr>
          <a:xfrm>
            <a:off x="407988" y="4391896"/>
            <a:ext cx="5399980" cy="432048"/>
            <a:chOff x="407988" y="1844824"/>
            <a:chExt cx="5399980" cy="432048"/>
          </a:xfrm>
        </p:grpSpPr>
        <p:cxnSp>
          <p:nvCxnSpPr>
            <p:cNvPr id="6" name="Straight Connector 9">
              <a:extLst>
                <a:ext uri="{FF2B5EF4-FFF2-40B4-BE49-F238E27FC236}">
                  <a16:creationId xmlns:a16="http://schemas.microsoft.com/office/drawing/2014/main" id="{E8DDC304-BD15-ED1D-8C84-D9DCB42B7900}"/>
                </a:ext>
              </a:extLst>
            </p:cNvPr>
            <p:cNvCxnSpPr>
              <a:cxnSpLocks/>
            </p:cNvCxnSpPr>
            <p:nvPr>
              <p:custDataLst>
                <p:tags r:id="rId2"/>
              </p:custDataLst>
            </p:nvPr>
          </p:nvCxnSpPr>
          <p:spPr>
            <a:xfrm>
              <a:off x="407988" y="2276872"/>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7" name="Straight Connector 11">
              <a:extLst>
                <a:ext uri="{FF2B5EF4-FFF2-40B4-BE49-F238E27FC236}">
                  <a16:creationId xmlns:a16="http://schemas.microsoft.com/office/drawing/2014/main" id="{0CFC90EC-7EF7-63C9-AC01-B48172DAE609}"/>
                </a:ext>
              </a:extLst>
            </p:cNvPr>
            <p:cNvCxnSpPr>
              <a:cxnSpLocks/>
            </p:cNvCxnSpPr>
            <p:nvPr>
              <p:custDataLst>
                <p:tags r:id="rId3"/>
              </p:custDataLst>
            </p:nvPr>
          </p:nvCxnSpPr>
          <p:spPr>
            <a:xfrm>
              <a:off x="407988" y="1844824"/>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pSp>
      <p:pic>
        <p:nvPicPr>
          <p:cNvPr id="14" name="Picture 13" descr="A fruit and vegetables in a grocery store&#10;&#10;AI-generated content may be incorrect.">
            <a:extLst>
              <a:ext uri="{FF2B5EF4-FFF2-40B4-BE49-F238E27FC236}">
                <a16:creationId xmlns:a16="http://schemas.microsoft.com/office/drawing/2014/main" id="{97DBC456-EE6A-3E26-CB04-D6E7345202DD}"/>
              </a:ext>
            </a:extLst>
          </p:cNvPr>
          <p:cNvPicPr>
            <a:picLocks noChangeAspect="1"/>
          </p:cNvPicPr>
          <p:nvPr/>
        </p:nvPicPr>
        <p:blipFill>
          <a:blip r:embed="rId5"/>
          <a:srcRect l="19443" r="59004"/>
          <a:stretch>
            <a:fillRect/>
          </a:stretch>
        </p:blipFill>
        <p:spPr>
          <a:xfrm>
            <a:off x="7032107" y="0"/>
            <a:ext cx="5159893" cy="6858000"/>
          </a:xfrm>
          <a:prstGeom prst="rect">
            <a:avLst/>
          </a:prstGeom>
        </p:spPr>
      </p:pic>
    </p:spTree>
    <p:extLst>
      <p:ext uri="{BB962C8B-B14F-4D97-AF65-F5344CB8AC3E}">
        <p14:creationId xmlns:p14="http://schemas.microsoft.com/office/powerpoint/2010/main" val="2373375840"/>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74826-5EFF-6607-FD18-92EB858FD218}"/>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8429E1B7-0104-7D2F-5272-76D77319C0F9}"/>
              </a:ext>
            </a:extLst>
          </p:cNvPr>
          <p:cNvSpPr/>
          <p:nvPr/>
        </p:nvSpPr>
        <p:spPr>
          <a:xfrm>
            <a:off x="4799856" y="1590991"/>
            <a:ext cx="7056784" cy="1533209"/>
          </a:xfrm>
          <a:prstGeom prst="roundRect">
            <a:avLst>
              <a:gd name="adj" fmla="val 73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600"/>
              </a:spcBef>
              <a:spcAft>
                <a:spcPts val="0"/>
              </a:spcAft>
              <a:buClr>
                <a:srgbClr val="0070C0"/>
              </a:buClr>
              <a:buSzTx/>
              <a:buFont typeface="Wingdings" panose="05000000000000000000" pitchFamily="2" charset="2"/>
              <a:buChar char="§"/>
              <a:tabLst/>
              <a:defRPr/>
            </a:pP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The </a:t>
            </a:r>
            <a:r>
              <a:rPr lang="en-AU" sz="900" noProof="0" dirty="0">
                <a:solidFill>
                  <a:schemeClr val="tx1"/>
                </a:solidFill>
              </a:rPr>
              <a:t>world-leading fast-moving consumer goods company with more than 400 brands with challenges to </a:t>
            </a:r>
            <a:r>
              <a:rPr lang="en-AU" sz="900" b="1" noProof="0" dirty="0">
                <a:solidFill>
                  <a:schemeClr val="tx1"/>
                </a:solidFill>
              </a:rPr>
              <a:t>unify its supply chain across brands and territories</a:t>
            </a:r>
          </a:p>
          <a:p>
            <a:pPr marL="171450" marR="0" lvl="0" indent="-171450" algn="l" defTabSz="914400" rtl="0" eaLnBrk="1" fontAlgn="auto" latinLnBrk="0" hangingPunct="1">
              <a:lnSpc>
                <a:spcPct val="100000"/>
              </a:lnSpc>
              <a:spcBef>
                <a:spcPts val="600"/>
              </a:spcBef>
              <a:spcAft>
                <a:spcPts val="0"/>
              </a:spcAft>
              <a:buClr>
                <a:srgbClr val="0070C0"/>
              </a:buClr>
              <a:buSzTx/>
              <a:buFont typeface="Wingdings" panose="05000000000000000000" pitchFamily="2" charset="2"/>
              <a:buChar char="§"/>
              <a:tabLst/>
              <a:defRPr/>
            </a:pPr>
            <a:r>
              <a:rPr lang="en-AU" sz="900" noProof="0" dirty="0">
                <a:solidFill>
                  <a:schemeClr val="tx1"/>
                </a:solidFill>
              </a:rPr>
              <a:t>The company has a </a:t>
            </a:r>
            <a:r>
              <a:rPr lang="en-AU" sz="900" b="1" noProof="0" dirty="0">
                <a:solidFill>
                  <a:schemeClr val="tx1"/>
                </a:solidFill>
              </a:rPr>
              <a:t>complex and miscellaneous process across regions</a:t>
            </a:r>
            <a:r>
              <a:rPr lang="en-AU" sz="900" noProof="0" dirty="0">
                <a:solidFill>
                  <a:schemeClr val="tx1"/>
                </a:solidFill>
              </a:rPr>
              <a:t>, </a:t>
            </a:r>
            <a:r>
              <a:rPr lang="en-AU" sz="900" b="1" noProof="0" dirty="0">
                <a:solidFill>
                  <a:schemeClr val="tx1"/>
                </a:solidFill>
              </a:rPr>
              <a:t>different RACIs and planning tools </a:t>
            </a:r>
            <a:r>
              <a:rPr lang="en-AU" sz="900" noProof="0" dirty="0">
                <a:solidFill>
                  <a:schemeClr val="tx1"/>
                </a:solidFill>
              </a:rPr>
              <a:t>reaching their limit in terms of performance and collaboration</a:t>
            </a:r>
          </a:p>
          <a:p>
            <a:pPr marL="171450" marR="0" lvl="0" indent="-171450" algn="l" defTabSz="914400" rtl="0" eaLnBrk="1" fontAlgn="auto" latinLnBrk="0" hangingPunct="1">
              <a:lnSpc>
                <a:spcPct val="100000"/>
              </a:lnSpc>
              <a:spcBef>
                <a:spcPts val="600"/>
              </a:spcBef>
              <a:spcAft>
                <a:spcPts val="0"/>
              </a:spcAft>
              <a:buClr>
                <a:srgbClr val="0070C0"/>
              </a:buClr>
              <a:buSzTx/>
              <a:buFont typeface="Wingdings" panose="05000000000000000000" pitchFamily="2" charset="2"/>
              <a:buChar char="§"/>
              <a:tabLst/>
              <a:defRPr/>
            </a:pPr>
            <a:r>
              <a:rPr lang="en-AU" sz="900" noProof="0" dirty="0">
                <a:solidFill>
                  <a:schemeClr val="tx1"/>
                </a:solidFill>
              </a:rPr>
              <a:t>The </a:t>
            </a:r>
            <a:r>
              <a:rPr lang="en-AU" sz="900" b="1" noProof="0" dirty="0">
                <a:solidFill>
                  <a:schemeClr val="tx1"/>
                </a:solidFill>
              </a:rPr>
              <a:t>main objective </a:t>
            </a:r>
            <a:r>
              <a:rPr lang="en-AU" sz="900" noProof="0" dirty="0">
                <a:solidFill>
                  <a:schemeClr val="tx1"/>
                </a:solidFill>
              </a:rPr>
              <a:t>of the project is to </a:t>
            </a:r>
            <a:r>
              <a:rPr lang="en-AU" sz="900" b="1" noProof="0" dirty="0">
                <a:solidFill>
                  <a:schemeClr val="tx1"/>
                </a:solidFill>
              </a:rPr>
              <a:t>standardize</a:t>
            </a:r>
            <a:r>
              <a:rPr lang="en-AU" sz="900" noProof="0" dirty="0">
                <a:solidFill>
                  <a:schemeClr val="tx1"/>
                </a:solidFill>
              </a:rPr>
              <a:t> processes and responsibilities among the different </a:t>
            </a:r>
            <a:r>
              <a:rPr lang="en-AU" sz="900" noProof="0" dirty="0" err="1">
                <a:solidFill>
                  <a:schemeClr val="tx1"/>
                </a:solidFill>
              </a:rPr>
              <a:t>LatAm</a:t>
            </a:r>
            <a:r>
              <a:rPr lang="en-AU" sz="900" noProof="0" dirty="0">
                <a:solidFill>
                  <a:schemeClr val="tx1"/>
                </a:solidFill>
              </a:rPr>
              <a:t> regions in order to </a:t>
            </a:r>
            <a:r>
              <a:rPr lang="en-AU" sz="900" b="1" noProof="0" dirty="0">
                <a:solidFill>
                  <a:schemeClr val="tx1"/>
                </a:solidFill>
              </a:rPr>
              <a:t>outsource planning activities </a:t>
            </a:r>
            <a:r>
              <a:rPr lang="en-AU" sz="900" noProof="0" dirty="0">
                <a:solidFill>
                  <a:schemeClr val="tx1"/>
                </a:solidFill>
              </a:rPr>
              <a:t>and divide responsibilities between the company and Capgemini</a:t>
            </a:r>
          </a:p>
        </p:txBody>
      </p:sp>
      <p:sp>
        <p:nvSpPr>
          <p:cNvPr id="8" name="Rectangle: Rounded Corners 7">
            <a:extLst>
              <a:ext uri="{FF2B5EF4-FFF2-40B4-BE49-F238E27FC236}">
                <a16:creationId xmlns:a16="http://schemas.microsoft.com/office/drawing/2014/main" id="{19133EC0-DA3C-0F08-A496-CBC4E17EA0A2}"/>
              </a:ext>
            </a:extLst>
          </p:cNvPr>
          <p:cNvSpPr/>
          <p:nvPr/>
        </p:nvSpPr>
        <p:spPr>
          <a:xfrm>
            <a:off x="4799856" y="3461632"/>
            <a:ext cx="7056784" cy="1109088"/>
          </a:xfrm>
          <a:prstGeom prst="roundRect">
            <a:avLst>
              <a:gd name="adj" fmla="val 604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Standardize complex processes </a:t>
            </a: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and manage various split of responsibilities and levels of process automation across regions</a:t>
            </a:r>
          </a:p>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Capgemini’s Plan Service Centre supports the company through our supply chain planning experts</a:t>
            </a: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 This enables the Planning team at the company to focus on core planning excellence and Capgemini to take operational activities</a:t>
            </a:r>
          </a:p>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Automated routine processes through the creation and implementation of templates </a:t>
            </a: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for production planning and 3PM, reducing human error and increasing synergy across functions </a:t>
            </a:r>
          </a:p>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endPar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endParaRPr>
          </a:p>
          <a:p>
            <a:pPr>
              <a:spcBef>
                <a:spcPts val="600"/>
              </a:spcBef>
              <a:buClr>
                <a:schemeClr val="accent1"/>
              </a:buClr>
            </a:pPr>
            <a:endParaRPr lang="en-AU" sz="900" noProof="0" dirty="0">
              <a:solidFill>
                <a:schemeClr val="tx1"/>
              </a:solidFill>
            </a:endParaRPr>
          </a:p>
        </p:txBody>
      </p:sp>
      <p:sp>
        <p:nvSpPr>
          <p:cNvPr id="9" name="Rectangle: Rounded Corners 8">
            <a:extLst>
              <a:ext uri="{FF2B5EF4-FFF2-40B4-BE49-F238E27FC236}">
                <a16:creationId xmlns:a16="http://schemas.microsoft.com/office/drawing/2014/main" id="{EE510B7C-3E1C-CFE0-E2F0-B83263768AC7}"/>
              </a:ext>
            </a:extLst>
          </p:cNvPr>
          <p:cNvSpPr/>
          <p:nvPr/>
        </p:nvSpPr>
        <p:spPr>
          <a:xfrm>
            <a:off x="4799856" y="4864702"/>
            <a:ext cx="7056784" cy="1732745"/>
          </a:xfrm>
          <a:prstGeom prst="roundRect">
            <a:avLst>
              <a:gd name="adj" fmla="val 80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spcBef>
                <a:spcPts val="600"/>
              </a:spcBef>
              <a:buClr>
                <a:srgbClr val="0070C0"/>
              </a:buClr>
              <a:buFont typeface="Wingdings" panose="05000000000000000000" pitchFamily="2" charset="2"/>
              <a:buChar char="§"/>
            </a:pPr>
            <a:r>
              <a:rPr kumimoji="0" lang="en-AU" sz="900" b="1" i="0" u="none" strike="noStrike" kern="0" cap="none" spc="0" normalizeH="0" baseline="0" noProof="0">
                <a:ln>
                  <a:noFill/>
                </a:ln>
                <a:solidFill>
                  <a:srgbClr val="000000"/>
                </a:solidFill>
                <a:effectLst/>
                <a:uLnTx/>
                <a:uFillTx/>
                <a:latin typeface="Ubuntu" panose="020B0504030602030204" pitchFamily="34" charset="0"/>
                <a:ea typeface="+mn-ea"/>
                <a:cs typeface="+mn-cs"/>
              </a:rPr>
              <a:t>Redesigned processes and organization</a:t>
            </a:r>
            <a:r>
              <a:rPr kumimoji="0" lang="en-AU" sz="900" i="0" u="none" strike="noStrike" kern="0" cap="none" spc="0" normalizeH="0" baseline="0" noProof="0">
                <a:ln>
                  <a:noFill/>
                </a:ln>
                <a:solidFill>
                  <a:srgbClr val="000000"/>
                </a:solidFill>
                <a:effectLst/>
                <a:uLnTx/>
                <a:uFillTx/>
                <a:latin typeface="Ubuntu" panose="020B0504030602030204" pitchFamily="34" charset="0"/>
                <a:ea typeface="+mn-ea"/>
                <a:cs typeface="+mn-cs"/>
              </a:rPr>
              <a:t>, including automation, end-to-end visibility and value added</a:t>
            </a:r>
          </a:p>
          <a:p>
            <a:pPr marL="171450" indent="-171450">
              <a:spcBef>
                <a:spcPts val="600"/>
              </a:spcBef>
              <a:buClr>
                <a:srgbClr val="0070C0"/>
              </a:buClr>
              <a:buFont typeface="Wingdings" panose="05000000000000000000" pitchFamily="2" charset="2"/>
              <a:buChar char="§"/>
            </a:pPr>
            <a:r>
              <a:rPr lang="en-AU" sz="900" b="1" kern="0" noProof="0">
                <a:solidFill>
                  <a:srgbClr val="000000"/>
                </a:solidFill>
                <a:latin typeface="Ubuntu" panose="020B0504030602030204" pitchFamily="34" charset="0"/>
              </a:rPr>
              <a:t>Identified the digital technologies </a:t>
            </a:r>
            <a:r>
              <a:rPr lang="en-AU" sz="900" kern="0" noProof="0">
                <a:solidFill>
                  <a:srgbClr val="000000"/>
                </a:solidFill>
                <a:latin typeface="Ubuntu" panose="020B0504030602030204" pitchFamily="34" charset="0"/>
              </a:rPr>
              <a:t>such as Advanced Planning System</a:t>
            </a:r>
            <a:r>
              <a:rPr lang="en-AU" sz="900" b="1" kern="0" noProof="0">
                <a:solidFill>
                  <a:srgbClr val="000000"/>
                </a:solidFill>
                <a:latin typeface="Ubuntu" panose="020B0504030602030204" pitchFamily="34" charset="0"/>
              </a:rPr>
              <a:t>, </a:t>
            </a:r>
            <a:r>
              <a:rPr lang="en-AU" sz="900" kern="0" noProof="0">
                <a:solidFill>
                  <a:srgbClr val="000000"/>
                </a:solidFill>
                <a:latin typeface="Ubuntu" panose="020B0504030602030204" pitchFamily="34" charset="0"/>
              </a:rPr>
              <a:t>stronger algorithms and machine learning </a:t>
            </a:r>
            <a:r>
              <a:rPr lang="en-AU" sz="900" b="1" kern="0" noProof="0">
                <a:solidFill>
                  <a:srgbClr val="000000"/>
                </a:solidFill>
                <a:latin typeface="Ubuntu" panose="020B0504030602030204" pitchFamily="34" charset="0"/>
              </a:rPr>
              <a:t>to enable better analytics and continuous and touchless planning</a:t>
            </a:r>
            <a:endParaRPr kumimoji="0" lang="en-AU" sz="900" b="1" i="0" u="none" strike="noStrike" kern="0" cap="none" spc="0" normalizeH="0" baseline="0" noProof="0">
              <a:ln>
                <a:noFill/>
              </a:ln>
              <a:solidFill>
                <a:srgbClr val="000000"/>
              </a:solidFill>
              <a:effectLst/>
              <a:uLnTx/>
              <a:uFillTx/>
              <a:latin typeface="Ubuntu" panose="020B0504030602030204" pitchFamily="34" charset="0"/>
              <a:ea typeface="+mn-ea"/>
              <a:cs typeface="+mn-cs"/>
            </a:endParaRPr>
          </a:p>
          <a:p>
            <a:pPr marL="171450" indent="-171450">
              <a:spcBef>
                <a:spcPts val="600"/>
              </a:spcBef>
              <a:buClr>
                <a:srgbClr val="0070C0"/>
              </a:buClr>
              <a:buFont typeface="Wingdings" panose="05000000000000000000" pitchFamily="2" charset="2"/>
              <a:buChar char="§"/>
            </a:pPr>
            <a:r>
              <a:rPr kumimoji="0" lang="en-AU" sz="900" b="1" i="0" u="none" strike="noStrike" kern="0" cap="none" spc="0" normalizeH="0" baseline="0" noProof="0">
                <a:ln>
                  <a:noFill/>
                </a:ln>
                <a:solidFill>
                  <a:srgbClr val="000000"/>
                </a:solidFill>
                <a:effectLst/>
                <a:uLnTx/>
                <a:uFillTx/>
                <a:latin typeface="Ubuntu" panose="020B0504030602030204" pitchFamily="34" charset="0"/>
                <a:ea typeface="+mn-ea"/>
                <a:cs typeface="+mn-cs"/>
              </a:rPr>
              <a:t>Better react and anticipate disruption </a:t>
            </a:r>
            <a:r>
              <a:rPr kumimoji="0" lang="en-AU" sz="900" b="0" i="0" u="none" strike="noStrike" kern="0" cap="none" spc="0" normalizeH="0" baseline="0" noProof="0">
                <a:ln>
                  <a:noFill/>
                </a:ln>
                <a:solidFill>
                  <a:srgbClr val="000000"/>
                </a:solidFill>
                <a:effectLst/>
                <a:uLnTx/>
                <a:uFillTx/>
                <a:latin typeface="Ubuntu" panose="020B0504030602030204" pitchFamily="34" charset="0"/>
                <a:ea typeface="+mn-ea"/>
                <a:cs typeface="+mn-cs"/>
              </a:rPr>
              <a:t>from the supply chain environment and enhance integration between planning functions</a:t>
            </a:r>
          </a:p>
          <a:p>
            <a:pPr marL="171450" indent="-171450">
              <a:spcBef>
                <a:spcPts val="600"/>
              </a:spcBef>
              <a:buClr>
                <a:srgbClr val="0070C0"/>
              </a:buClr>
              <a:buFont typeface="Wingdings" panose="05000000000000000000" pitchFamily="2" charset="2"/>
              <a:buChar char="§"/>
            </a:pPr>
            <a:r>
              <a:rPr kumimoji="0" lang="en-AU" sz="900" b="0" i="0" u="none" strike="noStrike" kern="1200" cap="none" spc="0" normalizeH="0" baseline="0" noProof="0">
                <a:ln>
                  <a:noFill/>
                </a:ln>
                <a:solidFill>
                  <a:srgbClr val="000000"/>
                </a:solidFill>
                <a:effectLst/>
                <a:uLnTx/>
                <a:uFillTx/>
                <a:latin typeface="+mn-lt"/>
                <a:ea typeface="+mn-ea"/>
                <a:cs typeface="+mn-cs"/>
              </a:rPr>
              <a:t>Quantitative benefits achieved:</a:t>
            </a:r>
          </a:p>
          <a:p>
            <a:pPr>
              <a:spcBef>
                <a:spcPts val="600"/>
              </a:spcBef>
            </a:pPr>
            <a:endParaRPr lang="en-AU" sz="900" noProof="0">
              <a:solidFill>
                <a:schemeClr val="tx1"/>
              </a:solidFill>
            </a:endParaRPr>
          </a:p>
        </p:txBody>
      </p:sp>
      <p:sp>
        <p:nvSpPr>
          <p:cNvPr id="10" name="Rectangle 9">
            <a:extLst>
              <a:ext uri="{FF2B5EF4-FFF2-40B4-BE49-F238E27FC236}">
                <a16:creationId xmlns:a16="http://schemas.microsoft.com/office/drawing/2014/main" id="{B8A97318-9A45-6791-217E-3052718CC439}"/>
              </a:ext>
            </a:extLst>
          </p:cNvPr>
          <p:cNvSpPr/>
          <p:nvPr/>
        </p:nvSpPr>
        <p:spPr>
          <a:xfrm>
            <a:off x="4799856" y="1292202"/>
            <a:ext cx="2165978" cy="307777"/>
          </a:xfrm>
          <a:prstGeom prst="rect">
            <a:avLst/>
          </a:prstGeom>
        </p:spPr>
        <p:txBody>
          <a:bodyPr wrap="none">
            <a:spAutoFit/>
          </a:bodyPr>
          <a:lstStyle/>
          <a:p>
            <a:r>
              <a:rPr lang="en-AU" sz="1400" b="1" noProof="0">
                <a:solidFill>
                  <a:schemeClr val="accent1"/>
                </a:solidFill>
              </a:rPr>
              <a:t>Context and objectives</a:t>
            </a:r>
          </a:p>
        </p:txBody>
      </p:sp>
      <p:sp>
        <p:nvSpPr>
          <p:cNvPr id="11" name="Rectangle 10">
            <a:extLst>
              <a:ext uri="{FF2B5EF4-FFF2-40B4-BE49-F238E27FC236}">
                <a16:creationId xmlns:a16="http://schemas.microsoft.com/office/drawing/2014/main" id="{94D64A23-AB68-A4DB-5092-54BA37991DDA}"/>
              </a:ext>
            </a:extLst>
          </p:cNvPr>
          <p:cNvSpPr/>
          <p:nvPr/>
        </p:nvSpPr>
        <p:spPr>
          <a:xfrm>
            <a:off x="4799856" y="3139119"/>
            <a:ext cx="906017" cy="307777"/>
          </a:xfrm>
          <a:prstGeom prst="rect">
            <a:avLst/>
          </a:prstGeom>
        </p:spPr>
        <p:txBody>
          <a:bodyPr wrap="none">
            <a:spAutoFit/>
          </a:bodyPr>
          <a:lstStyle/>
          <a:p>
            <a:r>
              <a:rPr lang="en-AU" sz="1400" b="1" noProof="0">
                <a:solidFill>
                  <a:schemeClr val="accent1"/>
                </a:solidFill>
              </a:rPr>
              <a:t>Solution</a:t>
            </a:r>
          </a:p>
        </p:txBody>
      </p:sp>
      <p:sp>
        <p:nvSpPr>
          <p:cNvPr id="12" name="Rectangle 11">
            <a:extLst>
              <a:ext uri="{FF2B5EF4-FFF2-40B4-BE49-F238E27FC236}">
                <a16:creationId xmlns:a16="http://schemas.microsoft.com/office/drawing/2014/main" id="{F682227C-74D7-878F-6621-067AFCEFD75F}"/>
              </a:ext>
            </a:extLst>
          </p:cNvPr>
          <p:cNvSpPr/>
          <p:nvPr/>
        </p:nvSpPr>
        <p:spPr>
          <a:xfrm>
            <a:off x="4799856" y="4614283"/>
            <a:ext cx="1952779" cy="307777"/>
          </a:xfrm>
          <a:prstGeom prst="rect">
            <a:avLst/>
          </a:prstGeom>
        </p:spPr>
        <p:txBody>
          <a:bodyPr wrap="none">
            <a:spAutoFit/>
          </a:bodyPr>
          <a:lstStyle/>
          <a:p>
            <a:r>
              <a:rPr lang="en-AU" sz="1400" b="1" noProof="0">
                <a:solidFill>
                  <a:schemeClr val="accent1"/>
                </a:solidFill>
              </a:rPr>
              <a:t>Benefits and Results</a:t>
            </a:r>
          </a:p>
        </p:txBody>
      </p:sp>
      <p:sp>
        <p:nvSpPr>
          <p:cNvPr id="15" name="Rectangle 14">
            <a:extLst>
              <a:ext uri="{FF2B5EF4-FFF2-40B4-BE49-F238E27FC236}">
                <a16:creationId xmlns:a16="http://schemas.microsoft.com/office/drawing/2014/main" id="{5A4F5814-4FA4-A52E-DC97-31268405F72B}"/>
              </a:ext>
            </a:extLst>
          </p:cNvPr>
          <p:cNvSpPr/>
          <p:nvPr/>
        </p:nvSpPr>
        <p:spPr>
          <a:xfrm>
            <a:off x="0" y="0"/>
            <a:ext cx="4571206" cy="424932"/>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16" name="Rectangle 15">
            <a:extLst>
              <a:ext uri="{FF2B5EF4-FFF2-40B4-BE49-F238E27FC236}">
                <a16:creationId xmlns:a16="http://schemas.microsoft.com/office/drawing/2014/main" id="{C92F2709-08DD-9D7D-E0EF-9D55D18A1422}"/>
              </a:ext>
            </a:extLst>
          </p:cNvPr>
          <p:cNvSpPr/>
          <p:nvPr/>
        </p:nvSpPr>
        <p:spPr>
          <a:xfrm>
            <a:off x="113051"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6E45AD"/>
                </a:solidFill>
                <a:effectLst/>
                <a:uLnTx/>
                <a:uFillTx/>
                <a:latin typeface="Ubuntu" panose="020B0504030602030204" pitchFamily="34" charset="0"/>
                <a:ea typeface="+mn-ea"/>
                <a:cs typeface="+mn-cs"/>
              </a:rPr>
              <a:t>CPRD</a:t>
            </a:r>
          </a:p>
        </p:txBody>
      </p:sp>
      <p:cxnSp>
        <p:nvCxnSpPr>
          <p:cNvPr id="17" name="Straight Connector 16">
            <a:extLst>
              <a:ext uri="{FF2B5EF4-FFF2-40B4-BE49-F238E27FC236}">
                <a16:creationId xmlns:a16="http://schemas.microsoft.com/office/drawing/2014/main" id="{46467526-47A6-FCED-1D5A-DE87FD91D7E9}"/>
              </a:ext>
            </a:extLst>
          </p:cNvPr>
          <p:cNvCxnSpPr/>
          <p:nvPr/>
        </p:nvCxnSpPr>
        <p:spPr>
          <a:xfrm>
            <a:off x="113051" y="415306"/>
            <a:ext cx="2160000" cy="0"/>
          </a:xfrm>
          <a:prstGeom prst="line">
            <a:avLst/>
          </a:prstGeom>
          <a:noFill/>
          <a:ln w="25400" cap="flat">
            <a:solidFill>
              <a:srgbClr val="6E45AD"/>
            </a:solidFill>
            <a:prstDash val="solid"/>
            <a:round/>
          </a:ln>
          <a:effectLst/>
          <a:sp3d/>
        </p:spPr>
        <p:style>
          <a:lnRef idx="0">
            <a:scrgbClr r="0" g="0" b="0"/>
          </a:lnRef>
          <a:fillRef idx="0">
            <a:scrgbClr r="0" g="0" b="0"/>
          </a:fillRef>
          <a:effectRef idx="0">
            <a:scrgbClr r="0" g="0" b="0"/>
          </a:effectRef>
          <a:fontRef idx="none"/>
        </p:style>
      </p:cxnSp>
      <p:sp>
        <p:nvSpPr>
          <p:cNvPr id="18" name="Rectangle 17">
            <a:extLst>
              <a:ext uri="{FF2B5EF4-FFF2-40B4-BE49-F238E27FC236}">
                <a16:creationId xmlns:a16="http://schemas.microsoft.com/office/drawing/2014/main" id="{50F78131-F9D6-249D-518A-8131479E8C55}"/>
              </a:ext>
            </a:extLst>
          </p:cNvPr>
          <p:cNvSpPr/>
          <p:nvPr/>
        </p:nvSpPr>
        <p:spPr>
          <a:xfrm>
            <a:off x="2306319"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400" b="1" noProof="0">
                <a:solidFill>
                  <a:srgbClr val="274C6C"/>
                </a:solidFill>
                <a:latin typeface="Ubuntu" panose="020B0504030602030204" pitchFamily="34" charset="0"/>
              </a:rPr>
              <a:t>Planning</a:t>
            </a:r>
            <a:endParaRPr kumimoji="0" lang="en-AU" sz="1400" b="1" i="0" u="none" strike="noStrike" kern="1200" cap="none" spc="0" normalizeH="0" baseline="0" noProof="0">
              <a:ln>
                <a:noFill/>
              </a:ln>
              <a:solidFill>
                <a:srgbClr val="274C6C"/>
              </a:solidFill>
              <a:effectLst/>
              <a:uLnTx/>
              <a:uFillTx/>
              <a:latin typeface="Ubuntu" panose="020B0504030602030204" pitchFamily="34" charset="0"/>
              <a:ea typeface="+mn-ea"/>
              <a:cs typeface="+mn-cs"/>
            </a:endParaRPr>
          </a:p>
        </p:txBody>
      </p:sp>
      <p:cxnSp>
        <p:nvCxnSpPr>
          <p:cNvPr id="19" name="Straight Connector 18">
            <a:extLst>
              <a:ext uri="{FF2B5EF4-FFF2-40B4-BE49-F238E27FC236}">
                <a16:creationId xmlns:a16="http://schemas.microsoft.com/office/drawing/2014/main" id="{ACFA3D6D-BE43-651B-7B87-4A8C470B00E3}"/>
              </a:ext>
            </a:extLst>
          </p:cNvPr>
          <p:cNvCxnSpPr>
            <a:cxnSpLocks/>
          </p:cNvCxnSpPr>
          <p:nvPr/>
        </p:nvCxnSpPr>
        <p:spPr>
          <a:xfrm>
            <a:off x="2306319" y="415306"/>
            <a:ext cx="2160000" cy="0"/>
          </a:xfrm>
          <a:prstGeom prst="line">
            <a:avLst/>
          </a:prstGeom>
          <a:noFill/>
          <a:ln w="25400" cap="flat">
            <a:solidFill>
              <a:srgbClr val="274C6C"/>
            </a:solidFill>
            <a:prstDash val="solid"/>
            <a:round/>
          </a:ln>
          <a:effectLst/>
          <a:sp3d/>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3587028E-0FDB-C2B6-491D-C44B0DE077D9}"/>
              </a:ext>
            </a:extLst>
          </p:cNvPr>
          <p:cNvCxnSpPr>
            <a:cxnSpLocks/>
          </p:cNvCxnSpPr>
          <p:nvPr/>
        </p:nvCxnSpPr>
        <p:spPr>
          <a:xfrm flipV="1">
            <a:off x="2289383" y="3231"/>
            <a:ext cx="0" cy="415305"/>
          </a:xfrm>
          <a:prstGeom prst="line">
            <a:avLst/>
          </a:prstGeom>
          <a:noFill/>
          <a:ln w="25400" cap="flat">
            <a:solidFill>
              <a:schemeClr val="bg1">
                <a:lumMod val="75000"/>
              </a:schemeClr>
            </a:solidFill>
            <a:prstDash val="solid"/>
            <a:round/>
          </a:ln>
          <a:effectLst/>
          <a:sp3d/>
        </p:spPr>
        <p:style>
          <a:lnRef idx="0">
            <a:scrgbClr r="0" g="0" b="0"/>
          </a:lnRef>
          <a:fillRef idx="0">
            <a:scrgbClr r="0" g="0" b="0"/>
          </a:fillRef>
          <a:effectRef idx="0">
            <a:scrgbClr r="0" g="0" b="0"/>
          </a:effectRef>
          <a:fontRef idx="none"/>
        </p:style>
      </p:cxnSp>
      <p:sp>
        <p:nvSpPr>
          <p:cNvPr id="25" name="Rectangle: Rounded Corners 24">
            <a:extLst>
              <a:ext uri="{FF2B5EF4-FFF2-40B4-BE49-F238E27FC236}">
                <a16:creationId xmlns:a16="http://schemas.microsoft.com/office/drawing/2014/main" id="{FF917D44-F2D9-A947-690E-F985ADBDFA74}"/>
              </a:ext>
            </a:extLst>
          </p:cNvPr>
          <p:cNvSpPr/>
          <p:nvPr/>
        </p:nvSpPr>
        <p:spPr>
          <a:xfrm>
            <a:off x="7279990" y="210884"/>
            <a:ext cx="3972210" cy="841851"/>
          </a:xfrm>
          <a:prstGeom prst="roundRect">
            <a:avLst/>
          </a:prstGeom>
          <a:solidFill>
            <a:srgbClr val="0070AD">
              <a:alpha val="1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900" noProof="0" dirty="0">
                <a:solidFill>
                  <a:schemeClr val="accent1"/>
                </a:solidFill>
              </a:rPr>
              <a:t>The company is one of the TOP 5 worldwide Global Consumer Goods company</a:t>
            </a:r>
          </a:p>
          <a:p>
            <a:r>
              <a:rPr lang="en-AU" sz="900" noProof="0" dirty="0">
                <a:solidFill>
                  <a:schemeClr val="accent1"/>
                </a:solidFill>
              </a:rPr>
              <a:t>Net revenues ~ 60,1 billions € (2021)</a:t>
            </a:r>
          </a:p>
          <a:p>
            <a:r>
              <a:rPr lang="en-AU" sz="900" noProof="0" dirty="0">
                <a:solidFill>
                  <a:schemeClr val="accent1"/>
                </a:solidFill>
              </a:rPr>
              <a:t>Their products are present in 190 countries, employing 150.000 people worldwide</a:t>
            </a:r>
          </a:p>
        </p:txBody>
      </p:sp>
      <p:sp>
        <p:nvSpPr>
          <p:cNvPr id="2" name="TextBox 1">
            <a:extLst>
              <a:ext uri="{FF2B5EF4-FFF2-40B4-BE49-F238E27FC236}">
                <a16:creationId xmlns:a16="http://schemas.microsoft.com/office/drawing/2014/main" id="{C2D9A267-02C9-28B7-3EBA-F4553D01EB1D}"/>
              </a:ext>
            </a:extLst>
          </p:cNvPr>
          <p:cNvSpPr txBox="1"/>
          <p:nvPr/>
        </p:nvSpPr>
        <p:spPr>
          <a:xfrm>
            <a:off x="5110197" y="6061012"/>
            <a:ext cx="6746443" cy="411307"/>
          </a:xfrm>
          <a:prstGeom prst="rect">
            <a:avLst/>
          </a:prstGeom>
          <a:noFill/>
        </p:spPr>
        <p:txBody>
          <a:bodyPr wrap="square" numCol="2" rtlCol="0">
            <a:noAutofit/>
          </a:bodyPr>
          <a:lstStyle/>
          <a:p>
            <a:pPr marL="628650" lvl="1" indent="-171450">
              <a:spcBef>
                <a:spcPts val="600"/>
              </a:spcBef>
              <a:buClr>
                <a:schemeClr val="tx1"/>
              </a:buClr>
              <a:buFont typeface="Wingdings" panose="05000000000000000000" pitchFamily="2" charset="2"/>
              <a:buChar char="§"/>
            </a:pPr>
            <a:r>
              <a:rPr kumimoji="0" lang="en-AU" sz="900" b="1" i="0" u="none" strike="noStrike" kern="0" cap="none" spc="0" normalizeH="0" baseline="0" noProof="0">
                <a:ln>
                  <a:noFill/>
                </a:ln>
                <a:solidFill>
                  <a:srgbClr val="000000"/>
                </a:solidFill>
                <a:effectLst/>
                <a:uLnTx/>
                <a:uFillTx/>
                <a:latin typeface="Ubuntu" panose="020B0504030602030204" pitchFamily="34" charset="0"/>
                <a:ea typeface="+mn-ea"/>
                <a:cs typeface="+mn-cs"/>
              </a:rPr>
              <a:t>Improved Demand </a:t>
            </a:r>
            <a:r>
              <a:rPr lang="en-AU" sz="900" b="1" kern="0" noProof="0">
                <a:solidFill>
                  <a:srgbClr val="000000"/>
                </a:solidFill>
                <a:latin typeface="Ubuntu" panose="020B0504030602030204" pitchFamily="34" charset="0"/>
              </a:rPr>
              <a:t>F</a:t>
            </a:r>
            <a:r>
              <a:rPr kumimoji="0" lang="en-AU" sz="900" b="1" i="0" u="none" strike="noStrike" kern="0" cap="none" spc="0" normalizeH="0" baseline="0" noProof="0">
                <a:ln>
                  <a:noFill/>
                </a:ln>
                <a:solidFill>
                  <a:srgbClr val="000000"/>
                </a:solidFill>
                <a:effectLst/>
                <a:uLnTx/>
                <a:uFillTx/>
                <a:latin typeface="Ubuntu" panose="020B0504030602030204" pitchFamily="34" charset="0"/>
                <a:ea typeface="+mn-ea"/>
                <a:cs typeface="+mn-cs"/>
              </a:rPr>
              <a:t>orecast Accuracy </a:t>
            </a:r>
            <a:r>
              <a:rPr kumimoji="0" lang="en-AU" sz="900" i="0" u="none" strike="noStrike" kern="0" cap="none" spc="0" normalizeH="0" baseline="0" noProof="0">
                <a:ln>
                  <a:noFill/>
                </a:ln>
                <a:solidFill>
                  <a:srgbClr val="000000"/>
                </a:solidFill>
                <a:effectLst/>
                <a:uLnTx/>
                <a:uFillTx/>
                <a:latin typeface="Ubuntu" panose="020B0504030602030204" pitchFamily="34" charset="0"/>
                <a:ea typeface="+mn-ea"/>
                <a:cs typeface="+mn-cs"/>
              </a:rPr>
              <a:t>by 10%</a:t>
            </a:r>
            <a:r>
              <a:rPr kumimoji="0" lang="en-AU" sz="900" b="1" i="0" u="none" strike="noStrike" kern="0" cap="none" spc="0" normalizeH="0" baseline="0" noProof="0">
                <a:ln>
                  <a:noFill/>
                </a:ln>
                <a:solidFill>
                  <a:srgbClr val="000000"/>
                </a:solidFill>
                <a:effectLst/>
                <a:uLnTx/>
                <a:uFillTx/>
                <a:latin typeface="Ubuntu" panose="020B0504030602030204" pitchFamily="34" charset="0"/>
                <a:ea typeface="+mn-ea"/>
                <a:cs typeface="+mn-cs"/>
              </a:rPr>
              <a:t> </a:t>
            </a:r>
            <a:endParaRPr kumimoji="0" lang="en-AU" sz="900" b="1" i="0" u="none" strike="noStrike" kern="0" cap="none" spc="0" normalizeH="0" baseline="0" noProof="0">
              <a:ln>
                <a:noFill/>
              </a:ln>
              <a:solidFill>
                <a:srgbClr val="000000"/>
              </a:solidFill>
              <a:effectLst/>
              <a:highlight>
                <a:srgbClr val="FFFF00"/>
              </a:highlight>
              <a:uLnTx/>
              <a:uFillTx/>
              <a:latin typeface="Ubuntu" panose="020B0504030602030204" pitchFamily="34" charset="0"/>
              <a:ea typeface="+mn-ea"/>
              <a:cs typeface="+mn-cs"/>
            </a:endParaRPr>
          </a:p>
          <a:p>
            <a:pPr marL="628650" lvl="1" indent="-171450">
              <a:spcBef>
                <a:spcPts val="600"/>
              </a:spcBef>
              <a:buClr>
                <a:schemeClr val="tx1"/>
              </a:buClr>
              <a:buFont typeface="Wingdings" panose="05000000000000000000" pitchFamily="2" charset="2"/>
              <a:buChar char="§"/>
            </a:pPr>
            <a:r>
              <a:rPr lang="en-AU" sz="900" b="1" kern="0" noProof="0">
                <a:solidFill>
                  <a:srgbClr val="000000"/>
                </a:solidFill>
                <a:latin typeface="Ubuntu" panose="020B0504030602030204" pitchFamily="34" charset="0"/>
              </a:rPr>
              <a:t>Inventory Reduction </a:t>
            </a:r>
            <a:r>
              <a:rPr lang="en-AU" sz="900" kern="0" noProof="0">
                <a:solidFill>
                  <a:srgbClr val="000000"/>
                </a:solidFill>
                <a:latin typeface="Ubuntu" panose="020B0504030602030204" pitchFamily="34" charset="0"/>
              </a:rPr>
              <a:t>by 15-30%</a:t>
            </a:r>
          </a:p>
          <a:p>
            <a:pPr marL="628650" lvl="1" indent="-171450">
              <a:spcBef>
                <a:spcPts val="600"/>
              </a:spcBef>
              <a:buClr>
                <a:schemeClr val="tx1"/>
              </a:buClr>
              <a:buFont typeface="Wingdings" panose="05000000000000000000" pitchFamily="2" charset="2"/>
              <a:buChar char="§"/>
            </a:pPr>
            <a:endParaRPr lang="en-AU" sz="900" kern="0" noProof="0">
              <a:solidFill>
                <a:srgbClr val="000000"/>
              </a:solidFill>
              <a:latin typeface="Ubuntu" panose="020B0504030602030204" pitchFamily="34" charset="0"/>
            </a:endParaRPr>
          </a:p>
          <a:p>
            <a:pPr marL="628650" lvl="1" indent="-171450">
              <a:spcBef>
                <a:spcPts val="600"/>
              </a:spcBef>
              <a:buClr>
                <a:schemeClr val="tx1"/>
              </a:buClr>
              <a:buFont typeface="Wingdings" panose="05000000000000000000" pitchFamily="2" charset="2"/>
              <a:buChar char="§"/>
            </a:pPr>
            <a:r>
              <a:rPr kumimoji="0" lang="en-AU" sz="900" b="1" i="0" u="none" strike="noStrike" kern="0" cap="none" spc="0" normalizeH="0" baseline="0" noProof="0">
                <a:ln>
                  <a:noFill/>
                </a:ln>
                <a:solidFill>
                  <a:srgbClr val="000000"/>
                </a:solidFill>
                <a:effectLst/>
                <a:uLnTx/>
                <a:uFillTx/>
                <a:latin typeface="Ubuntu" panose="020B0504030602030204" pitchFamily="34" charset="0"/>
                <a:ea typeface="+mn-ea"/>
                <a:cs typeface="+mn-cs"/>
              </a:rPr>
              <a:t>Improve Customer Service</a:t>
            </a:r>
            <a:r>
              <a:rPr lang="en-AU" sz="900" b="1" kern="0" noProof="0">
                <a:solidFill>
                  <a:srgbClr val="000000"/>
                </a:solidFill>
                <a:latin typeface="Ubuntu" panose="020B0504030602030204" pitchFamily="34" charset="0"/>
              </a:rPr>
              <a:t> </a:t>
            </a:r>
            <a:r>
              <a:rPr lang="en-AU" sz="900" kern="0" noProof="0">
                <a:solidFill>
                  <a:srgbClr val="000000"/>
                </a:solidFill>
                <a:latin typeface="Ubuntu" panose="020B0504030602030204" pitchFamily="34" charset="0"/>
              </a:rPr>
              <a:t>by 1,5%</a:t>
            </a:r>
          </a:p>
          <a:p>
            <a:pPr marL="628650" lvl="1" indent="-171450">
              <a:spcBef>
                <a:spcPts val="600"/>
              </a:spcBef>
              <a:buClr>
                <a:schemeClr val="tx1"/>
              </a:buClr>
              <a:buFont typeface="Wingdings" panose="05000000000000000000" pitchFamily="2" charset="2"/>
              <a:buChar char="§"/>
            </a:pPr>
            <a:r>
              <a:rPr kumimoji="0" lang="en-AU" sz="900" b="1" i="0" u="none" strike="noStrike" kern="0" cap="none" spc="0" normalizeH="0" baseline="0" noProof="0">
                <a:ln>
                  <a:noFill/>
                </a:ln>
                <a:solidFill>
                  <a:srgbClr val="000000"/>
                </a:solidFill>
                <a:effectLst/>
                <a:uLnTx/>
                <a:uFillTx/>
                <a:latin typeface="Ubuntu" panose="020B0504030602030204" pitchFamily="34" charset="0"/>
                <a:ea typeface="+mn-ea"/>
                <a:cs typeface="+mn-cs"/>
              </a:rPr>
              <a:t>Planning headcount efficiencies </a:t>
            </a:r>
            <a:r>
              <a:rPr kumimoji="0" lang="en-AU" sz="900" i="0" u="none" strike="noStrike" kern="0" cap="none" spc="0" normalizeH="0" baseline="0" noProof="0">
                <a:ln>
                  <a:noFill/>
                </a:ln>
                <a:solidFill>
                  <a:srgbClr val="000000"/>
                </a:solidFill>
                <a:effectLst/>
                <a:uLnTx/>
                <a:uFillTx/>
                <a:latin typeface="Ubuntu" panose="020B0504030602030204" pitchFamily="34" charset="0"/>
                <a:ea typeface="+mn-ea"/>
                <a:cs typeface="+mn-cs"/>
              </a:rPr>
              <a:t>40%</a:t>
            </a:r>
            <a:endParaRPr kumimoji="0" lang="en-AU" sz="900" i="0" u="none" strike="noStrike" kern="1200" cap="none" spc="0" normalizeH="0" baseline="0" noProof="0">
              <a:ln>
                <a:noFill/>
              </a:ln>
              <a:solidFill>
                <a:srgbClr val="000000"/>
              </a:solidFill>
              <a:effectLst/>
              <a:uLnTx/>
              <a:uFillTx/>
              <a:latin typeface="+mn-lt"/>
              <a:ea typeface="+mn-ea"/>
              <a:cs typeface="+mn-cs"/>
            </a:endParaRPr>
          </a:p>
        </p:txBody>
      </p:sp>
      <p:pic>
        <p:nvPicPr>
          <p:cNvPr id="3" name="Picture 2" descr="Grocery store produce section">
            <a:extLst>
              <a:ext uri="{FF2B5EF4-FFF2-40B4-BE49-F238E27FC236}">
                <a16:creationId xmlns:a16="http://schemas.microsoft.com/office/drawing/2014/main" id="{C32C02D2-448F-0EB8-B3DE-98C44391631A}"/>
              </a:ext>
            </a:extLst>
          </p:cNvPr>
          <p:cNvPicPr>
            <a:picLocks noChangeAspect="1"/>
          </p:cNvPicPr>
          <p:nvPr/>
        </p:nvPicPr>
        <p:blipFill>
          <a:blip r:embed="rId2"/>
          <a:srcRect/>
          <a:stretch/>
        </p:blipFill>
        <p:spPr>
          <a:xfrm>
            <a:off x="0" y="434556"/>
            <a:ext cx="4466319" cy="6423444"/>
          </a:xfrm>
          <a:prstGeom prst="rect">
            <a:avLst/>
          </a:prstGeom>
        </p:spPr>
      </p:pic>
    </p:spTree>
    <p:extLst>
      <p:ext uri="{BB962C8B-B14F-4D97-AF65-F5344CB8AC3E}">
        <p14:creationId xmlns:p14="http://schemas.microsoft.com/office/powerpoint/2010/main" val="988897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5E9B456F-70DF-4DCE-8C86-D3F9A3437E7E}"/>
              </a:ext>
            </a:extLst>
          </p:cNvPr>
          <p:cNvSpPr/>
          <p:nvPr/>
        </p:nvSpPr>
        <p:spPr>
          <a:xfrm>
            <a:off x="7279990" y="210884"/>
            <a:ext cx="3856570" cy="841851"/>
          </a:xfrm>
          <a:prstGeom prst="roundRect">
            <a:avLst/>
          </a:prstGeom>
          <a:solidFill>
            <a:srgbClr val="0070AD">
              <a:alpha val="1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900" noProof="0" dirty="0">
                <a:solidFill>
                  <a:schemeClr val="accent1"/>
                </a:solidFill>
              </a:rPr>
              <a:t>80.7 billion € of revenue in 2019</a:t>
            </a:r>
          </a:p>
          <a:p>
            <a:r>
              <a:rPr lang="en-AU" sz="900" noProof="0" dirty="0">
                <a:solidFill>
                  <a:schemeClr val="accent1"/>
                </a:solidFill>
              </a:rPr>
              <a:t>321,000 employees worldwide, 12,225 stores spanning across more then 30 countries </a:t>
            </a:r>
          </a:p>
          <a:p>
            <a:r>
              <a:rPr lang="en-AU" sz="900" dirty="0">
                <a:solidFill>
                  <a:schemeClr val="accent1"/>
                </a:solidFill>
              </a:rPr>
              <a:t>T</a:t>
            </a:r>
            <a:r>
              <a:rPr lang="en-AU" sz="900" noProof="0" dirty="0">
                <a:solidFill>
                  <a:schemeClr val="accent1"/>
                </a:solidFill>
              </a:rPr>
              <a:t>he </a:t>
            </a:r>
            <a:r>
              <a:rPr lang="en-AU" sz="900" noProof="0" dirty="0" err="1">
                <a:solidFill>
                  <a:schemeClr val="accent1"/>
                </a:solidFill>
              </a:rPr>
              <a:t>companys</a:t>
            </a:r>
            <a:r>
              <a:rPr lang="en-AU" sz="900" noProof="0" dirty="0">
                <a:solidFill>
                  <a:schemeClr val="accent1"/>
                </a:solidFill>
              </a:rPr>
              <a:t>’ goal is to become the leader of the food transition by offering our customers, every day and everywhere, quality and trustworthy food at a reasonable price. </a:t>
            </a:r>
          </a:p>
        </p:txBody>
      </p:sp>
      <p:sp>
        <p:nvSpPr>
          <p:cNvPr id="36" name="Rectangle: Rounded Corners 35">
            <a:extLst>
              <a:ext uri="{FF2B5EF4-FFF2-40B4-BE49-F238E27FC236}">
                <a16:creationId xmlns:a16="http://schemas.microsoft.com/office/drawing/2014/main" id="{468C1B5F-4BE8-49FC-8042-F53DCD00046E}"/>
              </a:ext>
            </a:extLst>
          </p:cNvPr>
          <p:cNvSpPr/>
          <p:nvPr/>
        </p:nvSpPr>
        <p:spPr>
          <a:xfrm>
            <a:off x="4799856" y="1375003"/>
            <a:ext cx="7056784" cy="1662109"/>
          </a:xfrm>
          <a:prstGeom prst="roundRect">
            <a:avLst>
              <a:gd name="adj" fmla="val 73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lang="en-AU" sz="900" dirty="0">
                <a:solidFill>
                  <a:schemeClr val="tx1"/>
                </a:solidFill>
                <a:latin typeface="Ubuntu"/>
              </a:rPr>
              <a:t>T</a:t>
            </a:r>
            <a:r>
              <a:rPr kumimoji="0" lang="en-AU" sz="900" b="0" i="0" u="none" strike="noStrike" kern="1200" cap="none" spc="0" normalizeH="0" baseline="0" noProof="0" dirty="0">
                <a:ln>
                  <a:noFill/>
                </a:ln>
                <a:solidFill>
                  <a:schemeClr val="tx1"/>
                </a:solidFill>
                <a:effectLst/>
                <a:uLnTx/>
                <a:uFillTx/>
                <a:latin typeface="Ubuntu"/>
                <a:ea typeface="+mn-ea"/>
                <a:cs typeface="+mn-cs"/>
              </a:rPr>
              <a:t>he company lacked centralized forecasting tools for their warehouses, stores and drives. They  had +20% inventory compared to their competition </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dirty="0">
                <a:ln>
                  <a:noFill/>
                </a:ln>
                <a:solidFill>
                  <a:schemeClr val="tx1"/>
                </a:solidFill>
                <a:effectLst/>
                <a:uLnTx/>
                <a:uFillTx/>
                <a:latin typeface="Ubuntu"/>
                <a:ea typeface="+mn-ea"/>
                <a:cs typeface="+mn-cs"/>
              </a:rPr>
              <a:t>Business Challenges:</a:t>
            </a: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800" b="0" i="0" u="none" strike="noStrike" kern="1200" cap="none" spc="0" normalizeH="0" baseline="0" noProof="0" dirty="0">
                <a:ln>
                  <a:noFill/>
                </a:ln>
                <a:solidFill>
                  <a:schemeClr val="tx1"/>
                </a:solidFill>
                <a:effectLst/>
                <a:uLnTx/>
                <a:uFillTx/>
                <a:latin typeface="Ubuntu"/>
                <a:ea typeface="+mn-ea"/>
                <a:cs typeface="+mn-cs"/>
              </a:rPr>
              <a:t>Inventory optimization &amp; subsequent cost reduction (max. potential gain (250 M€/year)</a:t>
            </a: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800" b="0" i="0" u="none" strike="noStrike" kern="1200" cap="none" spc="0" normalizeH="0" baseline="0" noProof="0" dirty="0">
                <a:ln>
                  <a:noFill/>
                </a:ln>
                <a:solidFill>
                  <a:schemeClr val="tx1"/>
                </a:solidFill>
                <a:effectLst/>
                <a:uLnTx/>
                <a:uFillTx/>
                <a:latin typeface="Ubuntu"/>
                <a:ea typeface="+mn-ea"/>
                <a:cs typeface="+mn-cs"/>
              </a:rPr>
              <a:t>Anticipate customer demands</a:t>
            </a: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800" b="0" i="0" u="none" strike="noStrike" kern="1200" cap="none" spc="0" normalizeH="0" baseline="0" noProof="0" dirty="0">
                <a:ln>
                  <a:noFill/>
                </a:ln>
                <a:solidFill>
                  <a:schemeClr val="tx1"/>
                </a:solidFill>
                <a:effectLst/>
                <a:uLnTx/>
                <a:uFillTx/>
                <a:latin typeface="Ubuntu"/>
                <a:ea typeface="+mn-ea"/>
                <a:cs typeface="+mn-cs"/>
              </a:rPr>
              <a:t>Enable omnichannel development</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dirty="0">
                <a:ln>
                  <a:noFill/>
                </a:ln>
                <a:solidFill>
                  <a:schemeClr val="tx1"/>
                </a:solidFill>
                <a:effectLst/>
                <a:uLnTx/>
                <a:uFillTx/>
                <a:latin typeface="Ubuntu"/>
                <a:ea typeface="+mn-ea"/>
                <a:cs typeface="+mn-cs"/>
              </a:rPr>
              <a:t>IT Challenges:</a:t>
            </a: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800" b="0" i="0" u="none" strike="noStrike" kern="1200" cap="none" spc="0" normalizeH="0" baseline="0" noProof="0" dirty="0">
                <a:ln>
                  <a:noFill/>
                </a:ln>
                <a:solidFill>
                  <a:schemeClr val="tx1"/>
                </a:solidFill>
                <a:effectLst/>
                <a:uLnTx/>
                <a:uFillTx/>
                <a:latin typeface="Ubuntu"/>
                <a:ea typeface="+mn-ea"/>
                <a:cs typeface="+mn-cs"/>
              </a:rPr>
              <a:t>Big data: consolidation of large amounts of data stemming from several data sources</a:t>
            </a: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800" b="0" i="0" u="none" strike="noStrike" kern="1200" cap="none" spc="0" normalizeH="0" baseline="0" noProof="0" dirty="0">
                <a:ln>
                  <a:noFill/>
                </a:ln>
                <a:solidFill>
                  <a:schemeClr val="tx1"/>
                </a:solidFill>
                <a:effectLst/>
                <a:uLnTx/>
                <a:uFillTx/>
                <a:latin typeface="Ubuntu"/>
                <a:ea typeface="+mn-ea"/>
                <a:cs typeface="+mn-cs"/>
              </a:rPr>
              <a:t>Provide weekly demand forecasts on time (17h30min batch window for 42 warehouses)</a:t>
            </a: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800" b="0" i="0" u="none" strike="noStrike" kern="1200" cap="none" spc="0" normalizeH="0" baseline="0" noProof="0" dirty="0">
                <a:ln>
                  <a:noFill/>
                </a:ln>
                <a:solidFill>
                  <a:schemeClr val="tx1"/>
                </a:solidFill>
                <a:effectLst/>
                <a:uLnTx/>
                <a:uFillTx/>
                <a:latin typeface="Ubuntu"/>
                <a:ea typeface="+mn-ea"/>
                <a:cs typeface="+mn-cs"/>
              </a:rPr>
              <a:t>Optimize performance and costs of the demand forecasting platform (cloud, licenses, etc.) </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dirty="0">
                <a:ln>
                  <a:noFill/>
                </a:ln>
                <a:solidFill>
                  <a:schemeClr val="tx1"/>
                </a:solidFill>
                <a:effectLst/>
                <a:uLnTx/>
                <a:uFillTx/>
                <a:latin typeface="Ubuntu"/>
                <a:ea typeface="+mn-ea"/>
                <a:cs typeface="+mn-cs"/>
              </a:rPr>
              <a:t>Target: to forecast warehouse inventory for permanent products for the next 17 weeks (B2B + B2C)</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dirty="0">
                <a:ln>
                  <a:noFill/>
                </a:ln>
                <a:solidFill>
                  <a:schemeClr val="tx1"/>
                </a:solidFill>
                <a:effectLst/>
                <a:uLnTx/>
                <a:uFillTx/>
                <a:latin typeface="Ubuntu"/>
                <a:ea typeface="+mn-ea"/>
                <a:cs typeface="+mn-cs"/>
              </a:rPr>
              <a:t>38 B2B warehouses (+4 B2C) x 4,500 stores x 50,000 unique products</a:t>
            </a:r>
          </a:p>
          <a:p>
            <a:pPr marL="0" marR="0" lvl="0" indent="0" algn="l" defTabSz="914400" rtl="0" eaLnBrk="1" fontAlgn="auto" latinLnBrk="0" hangingPunct="1">
              <a:lnSpc>
                <a:spcPct val="100000"/>
              </a:lnSpc>
              <a:spcBef>
                <a:spcPts val="0"/>
              </a:spcBef>
              <a:spcAft>
                <a:spcPts val="0"/>
              </a:spcAft>
              <a:buClr>
                <a:srgbClr val="0070AD"/>
              </a:buClr>
              <a:buSzTx/>
              <a:buFontTx/>
              <a:buNone/>
              <a:tabLst/>
              <a:defRPr/>
            </a:pPr>
            <a:endParaRPr kumimoji="0" lang="en-AU" sz="900" b="0" i="0" u="none" strike="noStrike" kern="1200" cap="none" spc="0" normalizeH="0" baseline="0" noProof="0" dirty="0">
              <a:ln>
                <a:noFill/>
              </a:ln>
              <a:solidFill>
                <a:schemeClr val="tx1"/>
              </a:solidFill>
              <a:effectLst/>
              <a:uLnTx/>
              <a:uFillTx/>
              <a:latin typeface="Ubuntu"/>
              <a:ea typeface="+mn-ea"/>
              <a:cs typeface="+mn-cs"/>
            </a:endParaRPr>
          </a:p>
        </p:txBody>
      </p:sp>
      <p:sp>
        <p:nvSpPr>
          <p:cNvPr id="37" name="Rectangle: Rounded Corners 36">
            <a:extLst>
              <a:ext uri="{FF2B5EF4-FFF2-40B4-BE49-F238E27FC236}">
                <a16:creationId xmlns:a16="http://schemas.microsoft.com/office/drawing/2014/main" id="{D392ABC4-A673-40D7-8E51-D834E433DD72}"/>
              </a:ext>
            </a:extLst>
          </p:cNvPr>
          <p:cNvSpPr/>
          <p:nvPr/>
        </p:nvSpPr>
        <p:spPr>
          <a:xfrm>
            <a:off x="4799856" y="3355955"/>
            <a:ext cx="7056784" cy="1440000"/>
          </a:xfrm>
          <a:prstGeom prst="roundRect">
            <a:avLst>
              <a:gd name="adj" fmla="val 604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2" rtlCol="0" anchor="t"/>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a:ln>
                  <a:noFill/>
                </a:ln>
                <a:solidFill>
                  <a:schemeClr val="tx1"/>
                </a:solidFill>
                <a:effectLst/>
                <a:uLnTx/>
                <a:uFillTx/>
                <a:latin typeface="Ubuntu"/>
                <a:ea typeface="+mn-ea"/>
                <a:cs typeface="+mn-cs"/>
              </a:rPr>
              <a:t>The project was delivered using an AGILE-Scrum approach.</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a:ln>
                  <a:noFill/>
                </a:ln>
                <a:solidFill>
                  <a:schemeClr val="tx1"/>
                </a:solidFill>
                <a:effectLst/>
                <a:uLnTx/>
                <a:uFillTx/>
                <a:latin typeface="Ubuntu"/>
                <a:ea typeface="+mn-ea"/>
                <a:cs typeface="+mn-cs"/>
              </a:rPr>
              <a:t>The three-year data for each product was fetched from the data lake, </a:t>
            </a:r>
            <a:r>
              <a:rPr kumimoji="0" lang="en-AU" sz="900" b="0" i="0" u="none" strike="noStrike" kern="1200" cap="none" spc="0" normalizeH="0" baseline="0" noProof="0" err="1">
                <a:ln>
                  <a:noFill/>
                </a:ln>
                <a:solidFill>
                  <a:schemeClr val="tx1"/>
                </a:solidFill>
                <a:effectLst/>
                <a:uLnTx/>
                <a:uFillTx/>
                <a:latin typeface="Ubuntu"/>
                <a:ea typeface="+mn-ea"/>
                <a:cs typeface="+mn-cs"/>
              </a:rPr>
              <a:t>preprocessed</a:t>
            </a:r>
            <a:r>
              <a:rPr kumimoji="0" lang="en-AU" sz="900" b="0" i="0" u="none" strike="noStrike" kern="1200" cap="none" spc="0" normalizeH="0" baseline="0" noProof="0">
                <a:ln>
                  <a:noFill/>
                </a:ln>
                <a:solidFill>
                  <a:schemeClr val="tx1"/>
                </a:solidFill>
                <a:effectLst/>
                <a:uLnTx/>
                <a:uFillTx/>
                <a:latin typeface="Ubuntu"/>
                <a:ea typeface="+mn-ea"/>
                <a:cs typeface="+mn-cs"/>
              </a:rPr>
              <a:t> and fed into the forecasting engine. </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a:ln>
                  <a:noFill/>
                </a:ln>
                <a:solidFill>
                  <a:schemeClr val="tx1"/>
                </a:solidFill>
                <a:effectLst/>
                <a:uLnTx/>
                <a:uFillTx/>
                <a:latin typeface="Ubuntu"/>
                <a:ea typeface="+mn-ea"/>
                <a:cs typeface="+mn-cs"/>
              </a:rPr>
              <a:t>Advanced statistical models as well as machine learning provided a seventeen-week demand forecast per product. </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a:ln>
                  <a:noFill/>
                </a:ln>
                <a:solidFill>
                  <a:schemeClr val="tx1"/>
                </a:solidFill>
                <a:effectLst/>
                <a:uLnTx/>
                <a:uFillTx/>
                <a:latin typeface="Ubuntu"/>
                <a:ea typeface="+mn-ea"/>
                <a:cs typeface="+mn-cs"/>
              </a:rPr>
              <a:t>Demand planners then adjusted the forecast for a few products. This allowed to account for factors not yet implemented in the solution (E.g. : upcoming heat waves)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a:ln>
                  <a:noFill/>
                </a:ln>
                <a:solidFill>
                  <a:schemeClr val="tx1"/>
                </a:solidFill>
                <a:effectLst/>
                <a:uLnTx/>
                <a:uFillTx/>
                <a:latin typeface="Ubuntu"/>
                <a:ea typeface="+mn-ea"/>
                <a:cs typeface="+mn-cs"/>
              </a:rPr>
              <a:t>All the results were consolidated and fed into PROLOG which is the system used by the purchasing department to send out orders to suppliers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endParaRPr kumimoji="0" lang="en-AU" sz="900" b="0" i="0" u="none" strike="noStrike" kern="1200" cap="none" spc="0" normalizeH="0" baseline="0" noProof="0">
              <a:ln>
                <a:noFill/>
              </a:ln>
              <a:solidFill>
                <a:schemeClr val="tx1"/>
              </a:solidFill>
              <a:effectLst/>
              <a:uLnTx/>
              <a:uFillTx/>
              <a:latin typeface="Ubuntu"/>
              <a:ea typeface="+mn-ea"/>
              <a:cs typeface="+mn-cs"/>
            </a:endParaRPr>
          </a:p>
        </p:txBody>
      </p:sp>
      <p:sp>
        <p:nvSpPr>
          <p:cNvPr id="40" name="Rectangle: Rounded Corners 39">
            <a:extLst>
              <a:ext uri="{FF2B5EF4-FFF2-40B4-BE49-F238E27FC236}">
                <a16:creationId xmlns:a16="http://schemas.microsoft.com/office/drawing/2014/main" id="{30BA29D3-0175-405D-A157-C03009A10161}"/>
              </a:ext>
            </a:extLst>
          </p:cNvPr>
          <p:cNvSpPr/>
          <p:nvPr/>
        </p:nvSpPr>
        <p:spPr>
          <a:xfrm>
            <a:off x="4799856" y="5229200"/>
            <a:ext cx="7056784" cy="1440000"/>
          </a:xfrm>
          <a:prstGeom prst="roundRect">
            <a:avLst>
              <a:gd name="adj" fmla="val 80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dirty="0">
                <a:ln>
                  <a:noFill/>
                </a:ln>
                <a:solidFill>
                  <a:schemeClr val="tx1"/>
                </a:solidFill>
                <a:effectLst/>
                <a:uLnTx/>
                <a:uFillTx/>
                <a:latin typeface="Ubuntu"/>
                <a:ea typeface="+mn-ea"/>
                <a:cs typeface="+mn-cs"/>
              </a:rPr>
              <a:t>With the demand forecasting solution, the company is able to:</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endParaRPr kumimoji="0" lang="en-AU" sz="900" b="0" i="0" u="none" strike="noStrike" kern="1200" cap="none" spc="0" normalizeH="0" baseline="0" noProof="0" dirty="0">
              <a:ln>
                <a:noFill/>
              </a:ln>
              <a:solidFill>
                <a:schemeClr val="tx1"/>
              </a:solidFill>
              <a:effectLst/>
              <a:uLnTx/>
              <a:uFillTx/>
              <a:latin typeface="Ubuntu"/>
              <a:ea typeface="+mn-ea"/>
              <a:cs typeface="+mn-cs"/>
            </a:endParaRP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dirty="0">
                <a:ln>
                  <a:noFill/>
                </a:ln>
                <a:solidFill>
                  <a:schemeClr val="tx1"/>
                </a:solidFill>
                <a:effectLst/>
                <a:uLnTx/>
                <a:uFillTx/>
                <a:latin typeface="Ubuntu"/>
                <a:ea typeface="+mn-ea"/>
                <a:cs typeface="+mn-cs"/>
              </a:rPr>
              <a:t>Business: SAS was rolled out for demand forecasting on all 42 warehouses (38 B2B + 4 B2C)</a:t>
            </a: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dirty="0">
                <a:ln>
                  <a:noFill/>
                </a:ln>
                <a:solidFill>
                  <a:schemeClr val="tx1"/>
                </a:solidFill>
                <a:effectLst/>
                <a:uLnTx/>
                <a:uFillTx/>
                <a:latin typeface="Ubuntu"/>
                <a:ea typeface="+mn-ea"/>
                <a:cs typeface="+mn-cs"/>
              </a:rPr>
              <a:t>ROI: APPRO 360 allowed a 4% reduction in inventory in 2019 in France</a:t>
            </a: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dirty="0">
                <a:ln>
                  <a:noFill/>
                </a:ln>
                <a:solidFill>
                  <a:schemeClr val="tx1"/>
                </a:solidFill>
                <a:effectLst/>
                <a:uLnTx/>
                <a:uFillTx/>
                <a:latin typeface="Ubuntu"/>
                <a:ea typeface="+mn-ea"/>
                <a:cs typeface="+mn-cs"/>
              </a:rPr>
              <a:t>Performance: weekly demand forecasts are provided on time using less cores than initially planned by the company</a:t>
            </a: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dirty="0">
                <a:ln>
                  <a:noFill/>
                </a:ln>
                <a:solidFill>
                  <a:schemeClr val="tx1"/>
                </a:solidFill>
                <a:effectLst/>
                <a:uLnTx/>
                <a:uFillTx/>
                <a:latin typeface="Ubuntu"/>
                <a:ea typeface="+mn-ea"/>
                <a:cs typeface="+mn-cs"/>
              </a:rPr>
              <a:t>Delivery: fixed-price project delivered using an AGILE-scrum approach. Change requests were exchanged against user-stories with the same number of points.</a:t>
            </a:r>
          </a:p>
          <a:p>
            <a:pPr marL="628650" marR="0" lvl="1"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AU" sz="900" b="0" i="0" u="none" strike="noStrike" kern="1200" cap="none" spc="0" normalizeH="0" baseline="0" noProof="0" dirty="0">
                <a:ln>
                  <a:noFill/>
                </a:ln>
                <a:solidFill>
                  <a:schemeClr val="tx1"/>
                </a:solidFill>
                <a:effectLst/>
                <a:uLnTx/>
                <a:uFillTx/>
                <a:latin typeface="Ubuntu"/>
                <a:ea typeface="+mn-ea"/>
                <a:cs typeface="+mn-cs"/>
              </a:rPr>
              <a:t>Delivery: uninterrupted delivery throughout the public transportation strike and COVID periods</a:t>
            </a:r>
          </a:p>
        </p:txBody>
      </p:sp>
      <p:sp>
        <p:nvSpPr>
          <p:cNvPr id="49" name="Rectangle 48">
            <a:extLst>
              <a:ext uri="{FF2B5EF4-FFF2-40B4-BE49-F238E27FC236}">
                <a16:creationId xmlns:a16="http://schemas.microsoft.com/office/drawing/2014/main" id="{9BEA692B-3252-4F52-A7B6-B1D32E85EBEA}"/>
              </a:ext>
            </a:extLst>
          </p:cNvPr>
          <p:cNvSpPr/>
          <p:nvPr/>
        </p:nvSpPr>
        <p:spPr>
          <a:xfrm>
            <a:off x="4799856" y="1088999"/>
            <a:ext cx="2165978"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Context and objectives</a:t>
            </a:r>
          </a:p>
        </p:txBody>
      </p:sp>
      <p:sp>
        <p:nvSpPr>
          <p:cNvPr id="57" name="Rectangle 56">
            <a:extLst>
              <a:ext uri="{FF2B5EF4-FFF2-40B4-BE49-F238E27FC236}">
                <a16:creationId xmlns:a16="http://schemas.microsoft.com/office/drawing/2014/main" id="{5AC6B8F1-568A-4A9F-AFA5-C6DC57B0A254}"/>
              </a:ext>
            </a:extLst>
          </p:cNvPr>
          <p:cNvSpPr/>
          <p:nvPr/>
        </p:nvSpPr>
        <p:spPr>
          <a:xfrm>
            <a:off x="4799856" y="2985445"/>
            <a:ext cx="906017"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Solution</a:t>
            </a:r>
          </a:p>
        </p:txBody>
      </p:sp>
      <p:sp>
        <p:nvSpPr>
          <p:cNvPr id="58" name="Rectangle 57">
            <a:extLst>
              <a:ext uri="{FF2B5EF4-FFF2-40B4-BE49-F238E27FC236}">
                <a16:creationId xmlns:a16="http://schemas.microsoft.com/office/drawing/2014/main" id="{3D32757C-AEF7-41B5-948B-064485C15308}"/>
              </a:ext>
            </a:extLst>
          </p:cNvPr>
          <p:cNvSpPr/>
          <p:nvPr/>
        </p:nvSpPr>
        <p:spPr>
          <a:xfrm>
            <a:off x="4799856" y="4858688"/>
            <a:ext cx="1952779"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Benefits and Results</a:t>
            </a:r>
          </a:p>
        </p:txBody>
      </p:sp>
      <p:grpSp>
        <p:nvGrpSpPr>
          <p:cNvPr id="59" name="Group 58">
            <a:extLst>
              <a:ext uri="{FF2B5EF4-FFF2-40B4-BE49-F238E27FC236}">
                <a16:creationId xmlns:a16="http://schemas.microsoft.com/office/drawing/2014/main" id="{A59DA3B5-9CDF-49FA-B5A8-1AAEC71201CC}"/>
              </a:ext>
            </a:extLst>
          </p:cNvPr>
          <p:cNvGrpSpPr/>
          <p:nvPr/>
        </p:nvGrpSpPr>
        <p:grpSpPr>
          <a:xfrm>
            <a:off x="-37306" y="4951218"/>
            <a:ext cx="4608512" cy="1645101"/>
            <a:chOff x="6290619" y="1768012"/>
            <a:chExt cx="5516586" cy="2138071"/>
          </a:xfrm>
        </p:grpSpPr>
        <p:sp>
          <p:nvSpPr>
            <p:cNvPr id="60" name="Rectangle: Rounded Corners 59">
              <a:extLst>
                <a:ext uri="{FF2B5EF4-FFF2-40B4-BE49-F238E27FC236}">
                  <a16:creationId xmlns:a16="http://schemas.microsoft.com/office/drawing/2014/main" id="{FED1223C-A1FD-4E04-844E-E291CAF78113}"/>
                </a:ext>
              </a:extLst>
            </p:cNvPr>
            <p:cNvSpPr/>
            <p:nvPr/>
          </p:nvSpPr>
          <p:spPr>
            <a:xfrm>
              <a:off x="6290619" y="1768012"/>
              <a:ext cx="5516586" cy="2138071"/>
            </a:xfrm>
            <a:prstGeom prst="roundRect">
              <a:avLst>
                <a:gd name="adj" fmla="val 544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pic>
          <p:nvPicPr>
            <p:cNvPr id="61" name="Picture 60">
              <a:extLst>
                <a:ext uri="{FF2B5EF4-FFF2-40B4-BE49-F238E27FC236}">
                  <a16:creationId xmlns:a16="http://schemas.microsoft.com/office/drawing/2014/main" id="{A95D93F3-7C61-4BEB-9E09-2344360D04BE}"/>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798920" y="2003733"/>
              <a:ext cx="369332" cy="369332"/>
            </a:xfrm>
            <a:prstGeom prst="rect">
              <a:avLst/>
            </a:prstGeom>
          </p:spPr>
        </p:pic>
        <p:sp>
          <p:nvSpPr>
            <p:cNvPr id="62" name="TextBox 61">
              <a:extLst>
                <a:ext uri="{FF2B5EF4-FFF2-40B4-BE49-F238E27FC236}">
                  <a16:creationId xmlns:a16="http://schemas.microsoft.com/office/drawing/2014/main" id="{1072353C-2D26-442E-9145-9A4DDE354E23}"/>
                </a:ext>
              </a:extLst>
            </p:cNvPr>
            <p:cNvSpPr txBox="1"/>
            <p:nvPr/>
          </p:nvSpPr>
          <p:spPr>
            <a:xfrm>
              <a:off x="6290619" y="2514894"/>
              <a:ext cx="1316532" cy="980012"/>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srgbClr val="12ABDB"/>
                  </a:solidFill>
                  <a:effectLst/>
                  <a:uLnTx/>
                  <a:uFillTx/>
                  <a:latin typeface="Verdana"/>
                  <a:ea typeface="+mn-ea"/>
                  <a:cs typeface="+mn-cs"/>
                </a:rPr>
                <a:t>SAS</a:t>
              </a:r>
              <a:r>
                <a:rPr kumimoji="0" lang="en-AU" sz="900" b="0" i="0" u="none" strike="noStrike" kern="1200" cap="none" spc="0" normalizeH="0" baseline="0" noProof="0">
                  <a:ln>
                    <a:noFill/>
                  </a:ln>
                  <a:solidFill>
                    <a:srgbClr val="12ABDB"/>
                  </a:solidFill>
                  <a:effectLst/>
                  <a:uLnTx/>
                  <a:uFillTx/>
                  <a:latin typeface="Verdana"/>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srgbClr val="12ABDB"/>
                  </a:solidFill>
                  <a:effectLst/>
                  <a:uLnTx/>
                  <a:uFillTx/>
                  <a:latin typeface="Verdana"/>
                  <a:ea typeface="+mn-ea"/>
                  <a:cs typeface="+mn-cs"/>
                </a:rPr>
                <a:t>rolled out for demand forecasting</a:t>
              </a:r>
            </a:p>
          </p:txBody>
        </p:sp>
        <p:pic>
          <p:nvPicPr>
            <p:cNvPr id="63" name="Picture 62">
              <a:extLst>
                <a:ext uri="{FF2B5EF4-FFF2-40B4-BE49-F238E27FC236}">
                  <a16:creationId xmlns:a16="http://schemas.microsoft.com/office/drawing/2014/main" id="{215BF178-5409-43F4-8E43-4B9F98BBB864}"/>
                </a:ext>
              </a:extLst>
            </p:cNvPr>
            <p:cNvPicPr>
              <a:picLocks noChangeAspect="1"/>
            </p:cNvPicPr>
            <p:nvPr/>
          </p:nvPicPr>
          <p:blipFill rotWithShape="1">
            <a:blip r:embed="rId3">
              <a:duotone>
                <a:schemeClr val="accent2">
                  <a:shade val="45000"/>
                  <a:satMod val="135000"/>
                </a:schemeClr>
                <a:prstClr val="white"/>
              </a:duotone>
              <a:extLst>
                <a:ext uri="{28A0092B-C50C-407E-A947-70E740481C1C}">
                  <a14:useLocalDpi xmlns:a14="http://schemas.microsoft.com/office/drawing/2010/main" val="0"/>
                </a:ext>
              </a:extLst>
            </a:blip>
            <a:srcRect t="10893" b="30251"/>
            <a:stretch/>
          </p:blipFill>
          <p:spPr>
            <a:xfrm>
              <a:off x="7934172" y="1985726"/>
              <a:ext cx="685473" cy="403435"/>
            </a:xfrm>
            <a:prstGeom prst="rect">
              <a:avLst/>
            </a:prstGeom>
          </p:spPr>
        </p:pic>
        <p:sp>
          <p:nvSpPr>
            <p:cNvPr id="64" name="TextBox 63">
              <a:extLst>
                <a:ext uri="{FF2B5EF4-FFF2-40B4-BE49-F238E27FC236}">
                  <a16:creationId xmlns:a16="http://schemas.microsoft.com/office/drawing/2014/main" id="{0A2A374E-8355-41C3-B779-DBDEA8D7FE9C}"/>
                </a:ext>
              </a:extLst>
            </p:cNvPr>
            <p:cNvSpPr txBox="1"/>
            <p:nvPr/>
          </p:nvSpPr>
          <p:spPr>
            <a:xfrm>
              <a:off x="7688860" y="2514894"/>
              <a:ext cx="1316532" cy="980012"/>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srgbClr val="12ABDB"/>
                  </a:solidFill>
                  <a:effectLst/>
                  <a:uLnTx/>
                  <a:uFillTx/>
                  <a:latin typeface="Verdana"/>
                  <a:ea typeface="+mn-ea"/>
                  <a:cs typeface="+mn-cs"/>
                </a:rPr>
                <a:t>42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srgbClr val="12ABDB"/>
                  </a:solidFill>
                  <a:effectLst/>
                  <a:uLnTx/>
                  <a:uFillTx/>
                  <a:latin typeface="Verdana"/>
                  <a:ea typeface="+mn-ea"/>
                  <a:cs typeface="+mn-cs"/>
                </a:rPr>
                <a:t>Warehouses (38 B2B + 4 B2C)</a:t>
              </a:r>
            </a:p>
          </p:txBody>
        </p:sp>
        <p:pic>
          <p:nvPicPr>
            <p:cNvPr id="65" name="Picture 64" descr="A close up of a logo&#10;&#10;Description automatically generated">
              <a:extLst>
                <a:ext uri="{FF2B5EF4-FFF2-40B4-BE49-F238E27FC236}">
                  <a16:creationId xmlns:a16="http://schemas.microsoft.com/office/drawing/2014/main" id="{C6EB64E6-35B8-46F5-B25E-94D5978CA7D2}"/>
                </a:ext>
              </a:extLst>
            </p:cNvPr>
            <p:cNvPicPr>
              <a:picLocks noChangeAspect="1"/>
            </p:cNvPicPr>
            <p:nvPr/>
          </p:nvPicPr>
          <p:blipFill>
            <a:blip r:embed="rId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475158" y="1940072"/>
              <a:ext cx="494742" cy="494742"/>
            </a:xfrm>
            <a:prstGeom prst="rect">
              <a:avLst/>
            </a:prstGeom>
          </p:spPr>
        </p:pic>
        <p:sp>
          <p:nvSpPr>
            <p:cNvPr id="66" name="TextBox 65">
              <a:extLst>
                <a:ext uri="{FF2B5EF4-FFF2-40B4-BE49-F238E27FC236}">
                  <a16:creationId xmlns:a16="http://schemas.microsoft.com/office/drawing/2014/main" id="{83C56BBE-7735-48EF-BCE1-872556FF0553}"/>
                </a:ext>
              </a:extLst>
            </p:cNvPr>
            <p:cNvSpPr txBox="1"/>
            <p:nvPr/>
          </p:nvSpPr>
          <p:spPr>
            <a:xfrm>
              <a:off x="9056215" y="2514894"/>
              <a:ext cx="1332629" cy="980012"/>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srgbClr val="12ABDB"/>
                  </a:solidFill>
                  <a:effectLst/>
                  <a:uLnTx/>
                  <a:uFillTx/>
                  <a:latin typeface="Verdana"/>
                  <a:ea typeface="+mn-ea"/>
                  <a:cs typeface="+mn-cs"/>
                </a:rPr>
                <a:t>Agile</a:t>
              </a:r>
              <a:endParaRPr kumimoji="0" lang="en-AU" sz="900" b="1" i="0" u="none" strike="noStrike" kern="1200" cap="none" spc="0" normalizeH="0" baseline="0" noProof="0">
                <a:ln>
                  <a:noFill/>
                </a:ln>
                <a:solidFill>
                  <a:srgbClr val="12ABDB"/>
                </a:solidFill>
                <a:effectLst/>
                <a:uLnTx/>
                <a:uFillTx/>
                <a:latin typeface="Verdan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srgbClr val="12ABDB"/>
                  </a:solidFill>
                  <a:effectLst/>
                  <a:uLnTx/>
                  <a:uFillTx/>
                  <a:latin typeface="Verdana"/>
                  <a:ea typeface="+mn-ea"/>
                  <a:cs typeface="+mn-cs"/>
                </a:rPr>
                <a:t>Scrum approach for deliver </a:t>
              </a:r>
              <a:endParaRPr kumimoji="0" lang="en-AU" sz="900" b="0" i="0" u="none" strike="noStrike" kern="1200" cap="none" spc="0" normalizeH="0" baseline="0" noProof="0">
                <a:ln>
                  <a:noFill/>
                </a:ln>
                <a:solidFill>
                  <a:srgbClr val="12ABDB"/>
                </a:solidFill>
                <a:effectLst/>
                <a:highlight>
                  <a:srgbClr val="FFFF00"/>
                </a:highlight>
                <a:uLnTx/>
                <a:uFillTx/>
                <a:latin typeface="Verdana"/>
                <a:ea typeface="+mn-ea"/>
                <a:cs typeface="+mn-cs"/>
              </a:endParaRPr>
            </a:p>
          </p:txBody>
        </p:sp>
        <p:pic>
          <p:nvPicPr>
            <p:cNvPr id="67" name="Picture 2" descr="Budget premium icon">
              <a:extLst>
                <a:ext uri="{FF2B5EF4-FFF2-40B4-BE49-F238E27FC236}">
                  <a16:creationId xmlns:a16="http://schemas.microsoft.com/office/drawing/2014/main" id="{2E1066ED-1727-4CBF-B9CB-138D1D476137}"/>
                </a:ext>
              </a:extLst>
            </p:cNvPr>
            <p:cNvPicPr>
              <a:picLocks noChangeAspect="1" noChangeArrowheads="1"/>
            </p:cNvPicPr>
            <p:nvPr/>
          </p:nvPicPr>
          <p:blipFill>
            <a:blip r:embed="rId5">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889497" y="2046970"/>
              <a:ext cx="418987" cy="418987"/>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a:extLst>
                <a:ext uri="{FF2B5EF4-FFF2-40B4-BE49-F238E27FC236}">
                  <a16:creationId xmlns:a16="http://schemas.microsoft.com/office/drawing/2014/main" id="{FE9E99FF-9248-4868-AFED-214F4E622E9E}"/>
                </a:ext>
              </a:extLst>
            </p:cNvPr>
            <p:cNvSpPr txBox="1"/>
            <p:nvPr/>
          </p:nvSpPr>
          <p:spPr>
            <a:xfrm>
              <a:off x="10393882" y="2514894"/>
              <a:ext cx="1316532" cy="800009"/>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srgbClr val="12ABDB"/>
                  </a:solidFill>
                  <a:effectLst/>
                  <a:uLnTx/>
                  <a:uFillTx/>
                  <a:latin typeface="Verdana"/>
                  <a:ea typeface="+mn-ea"/>
                  <a:cs typeface="+mn-cs"/>
                </a:rPr>
                <a:t>4%</a:t>
              </a:r>
              <a:endParaRPr kumimoji="0" lang="en-AU" sz="1600" b="0" i="0" u="none" strike="noStrike" kern="1200" cap="none" spc="0" normalizeH="0" baseline="0" noProof="0">
                <a:ln>
                  <a:noFill/>
                </a:ln>
                <a:solidFill>
                  <a:srgbClr val="12ABDB"/>
                </a:solidFill>
                <a:effectLst/>
                <a:uLnTx/>
                <a:uFillTx/>
                <a:latin typeface="Verdan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srgbClr val="12ABDB"/>
                  </a:solidFill>
                  <a:effectLst/>
                  <a:uLnTx/>
                  <a:uFillTx/>
                  <a:latin typeface="Verdana"/>
                  <a:ea typeface="+mn-ea"/>
                  <a:cs typeface="+mn-cs"/>
                </a:rPr>
                <a:t>Inventory reduction</a:t>
              </a:r>
              <a:endParaRPr kumimoji="0" lang="en-AU" sz="900" b="0" i="0" u="none" strike="noStrike" kern="1200" cap="none" spc="0" normalizeH="0" baseline="0" noProof="0">
                <a:ln>
                  <a:noFill/>
                </a:ln>
                <a:solidFill>
                  <a:srgbClr val="12ABDB"/>
                </a:solidFill>
                <a:effectLst/>
                <a:highlight>
                  <a:srgbClr val="FFFF00"/>
                </a:highlight>
                <a:uLnTx/>
                <a:uFillTx/>
                <a:latin typeface="Verdana"/>
                <a:ea typeface="+mn-ea"/>
                <a:cs typeface="+mn-cs"/>
              </a:endParaRPr>
            </a:p>
          </p:txBody>
        </p:sp>
      </p:grpSp>
      <p:pic>
        <p:nvPicPr>
          <p:cNvPr id="69" name="Picture 68">
            <a:extLst>
              <a:ext uri="{FF2B5EF4-FFF2-40B4-BE49-F238E27FC236}">
                <a16:creationId xmlns:a16="http://schemas.microsoft.com/office/drawing/2014/main" id="{AF2A2E69-1FE0-42E9-A873-BA5DD6B1F125}"/>
              </a:ext>
            </a:extLst>
          </p:cNvPr>
          <p:cNvPicPr>
            <a:picLocks noChangeAspect="1"/>
          </p:cNvPicPr>
          <p:nvPr/>
        </p:nvPicPr>
        <p:blipFill>
          <a:blip r:embed="rId6"/>
          <a:stretch>
            <a:fillRect/>
          </a:stretch>
        </p:blipFill>
        <p:spPr>
          <a:xfrm>
            <a:off x="9094270" y="3815262"/>
            <a:ext cx="2159348" cy="890847"/>
          </a:xfrm>
          <a:prstGeom prst="rect">
            <a:avLst/>
          </a:prstGeom>
        </p:spPr>
      </p:pic>
      <p:sp>
        <p:nvSpPr>
          <p:cNvPr id="71" name="Rectangle 70">
            <a:extLst>
              <a:ext uri="{FF2B5EF4-FFF2-40B4-BE49-F238E27FC236}">
                <a16:creationId xmlns:a16="http://schemas.microsoft.com/office/drawing/2014/main" id="{7509FFB8-1096-4770-9A1B-DDB5F1BCFF9A}"/>
              </a:ext>
            </a:extLst>
          </p:cNvPr>
          <p:cNvSpPr/>
          <p:nvPr/>
        </p:nvSpPr>
        <p:spPr>
          <a:xfrm>
            <a:off x="0" y="0"/>
            <a:ext cx="4533899" cy="424932"/>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72" name="Rectangle 71">
            <a:extLst>
              <a:ext uri="{FF2B5EF4-FFF2-40B4-BE49-F238E27FC236}">
                <a16:creationId xmlns:a16="http://schemas.microsoft.com/office/drawing/2014/main" id="{8A154E42-D870-4DF7-B409-0F1A9F6AF120}"/>
              </a:ext>
            </a:extLst>
          </p:cNvPr>
          <p:cNvSpPr/>
          <p:nvPr/>
        </p:nvSpPr>
        <p:spPr>
          <a:xfrm>
            <a:off x="113051"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6E45AD"/>
                </a:solidFill>
                <a:effectLst/>
                <a:uLnTx/>
                <a:uFillTx/>
                <a:latin typeface="Ubuntu" panose="020B0504030602030204" pitchFamily="34" charset="0"/>
                <a:ea typeface="+mn-ea"/>
                <a:cs typeface="+mn-cs"/>
              </a:rPr>
              <a:t>CPRD</a:t>
            </a:r>
          </a:p>
        </p:txBody>
      </p:sp>
      <p:cxnSp>
        <p:nvCxnSpPr>
          <p:cNvPr id="73" name="Straight Connector 72">
            <a:extLst>
              <a:ext uri="{FF2B5EF4-FFF2-40B4-BE49-F238E27FC236}">
                <a16:creationId xmlns:a16="http://schemas.microsoft.com/office/drawing/2014/main" id="{10911297-9B2B-428E-8AA1-89622BDCBC97}"/>
              </a:ext>
            </a:extLst>
          </p:cNvPr>
          <p:cNvCxnSpPr/>
          <p:nvPr/>
        </p:nvCxnSpPr>
        <p:spPr>
          <a:xfrm>
            <a:off x="113051" y="415306"/>
            <a:ext cx="2160000" cy="0"/>
          </a:xfrm>
          <a:prstGeom prst="line">
            <a:avLst/>
          </a:prstGeom>
          <a:noFill/>
          <a:ln w="25400" cap="flat">
            <a:solidFill>
              <a:srgbClr val="6E45AD"/>
            </a:solidFill>
            <a:prstDash val="solid"/>
            <a:round/>
          </a:ln>
          <a:effectLst/>
          <a:sp3d/>
        </p:spPr>
        <p:style>
          <a:lnRef idx="0">
            <a:scrgbClr r="0" g="0" b="0"/>
          </a:lnRef>
          <a:fillRef idx="0">
            <a:scrgbClr r="0" g="0" b="0"/>
          </a:fillRef>
          <a:effectRef idx="0">
            <a:scrgbClr r="0" g="0" b="0"/>
          </a:effectRef>
          <a:fontRef idx="none"/>
        </p:style>
      </p:cxnSp>
      <p:sp>
        <p:nvSpPr>
          <p:cNvPr id="74" name="Rectangle 73">
            <a:extLst>
              <a:ext uri="{FF2B5EF4-FFF2-40B4-BE49-F238E27FC236}">
                <a16:creationId xmlns:a16="http://schemas.microsoft.com/office/drawing/2014/main" id="{C0D8EB17-5C3A-425C-B824-1EC7AF0674B4}"/>
              </a:ext>
            </a:extLst>
          </p:cNvPr>
          <p:cNvSpPr/>
          <p:nvPr/>
        </p:nvSpPr>
        <p:spPr>
          <a:xfrm>
            <a:off x="2306319"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12ABDB"/>
                </a:solidFill>
                <a:effectLst/>
                <a:uLnTx/>
                <a:uFillTx/>
                <a:latin typeface="Ubuntu" panose="020B0504030602030204" pitchFamily="34" charset="0"/>
                <a:ea typeface="+mn-ea"/>
                <a:cs typeface="+mn-cs"/>
              </a:rPr>
              <a:t>Demand Planning</a:t>
            </a:r>
          </a:p>
        </p:txBody>
      </p:sp>
      <p:cxnSp>
        <p:nvCxnSpPr>
          <p:cNvPr id="75" name="Straight Connector 74">
            <a:extLst>
              <a:ext uri="{FF2B5EF4-FFF2-40B4-BE49-F238E27FC236}">
                <a16:creationId xmlns:a16="http://schemas.microsoft.com/office/drawing/2014/main" id="{C4F6EC38-143F-4668-AEDB-DB26CD2FDE7E}"/>
              </a:ext>
            </a:extLst>
          </p:cNvPr>
          <p:cNvCxnSpPr/>
          <p:nvPr/>
        </p:nvCxnSpPr>
        <p:spPr>
          <a:xfrm>
            <a:off x="2306319" y="415306"/>
            <a:ext cx="2160000" cy="0"/>
          </a:xfrm>
          <a:prstGeom prst="line">
            <a:avLst/>
          </a:prstGeom>
          <a:noFill/>
          <a:ln w="25400" cap="flat">
            <a:solidFill>
              <a:schemeClr val="accent2"/>
            </a:solidFill>
            <a:prstDash val="solid"/>
            <a:round/>
          </a:ln>
          <a:effectLst/>
          <a:sp3d/>
        </p:spPr>
        <p:style>
          <a:lnRef idx="0">
            <a:scrgbClr r="0" g="0" b="0"/>
          </a:lnRef>
          <a:fillRef idx="0">
            <a:scrgbClr r="0" g="0" b="0"/>
          </a:fillRef>
          <a:effectRef idx="0">
            <a:scrgbClr r="0" g="0" b="0"/>
          </a:effectRef>
          <a:fontRef idx="none"/>
        </p:style>
      </p:cxnSp>
      <p:cxnSp>
        <p:nvCxnSpPr>
          <p:cNvPr id="76" name="Straight Connector 75">
            <a:extLst>
              <a:ext uri="{FF2B5EF4-FFF2-40B4-BE49-F238E27FC236}">
                <a16:creationId xmlns:a16="http://schemas.microsoft.com/office/drawing/2014/main" id="{2C2383C2-9341-4CC8-B63F-F0B266D27D35}"/>
              </a:ext>
            </a:extLst>
          </p:cNvPr>
          <p:cNvCxnSpPr>
            <a:cxnSpLocks/>
          </p:cNvCxnSpPr>
          <p:nvPr/>
        </p:nvCxnSpPr>
        <p:spPr>
          <a:xfrm flipV="1">
            <a:off x="2289383" y="3231"/>
            <a:ext cx="0" cy="415305"/>
          </a:xfrm>
          <a:prstGeom prst="line">
            <a:avLst/>
          </a:prstGeom>
          <a:noFill/>
          <a:ln w="25400" cap="flat">
            <a:solidFill>
              <a:schemeClr val="bg1">
                <a:lumMod val="75000"/>
              </a:schemeClr>
            </a:solidFill>
            <a:prstDash val="solid"/>
            <a:round/>
          </a:ln>
          <a:effectLst/>
          <a:sp3d/>
        </p:spPr>
        <p:style>
          <a:lnRef idx="0">
            <a:scrgbClr r="0" g="0" b="0"/>
          </a:lnRef>
          <a:fillRef idx="0">
            <a:scrgbClr r="0" g="0" b="0"/>
          </a:fillRef>
          <a:effectRef idx="0">
            <a:scrgbClr r="0" g="0" b="0"/>
          </a:effectRef>
          <a:fontRef idx="none"/>
        </p:style>
      </p:cxnSp>
      <p:pic>
        <p:nvPicPr>
          <p:cNvPr id="2" name="Picture 1" descr="Grocery store produce section">
            <a:extLst>
              <a:ext uri="{FF2B5EF4-FFF2-40B4-BE49-F238E27FC236}">
                <a16:creationId xmlns:a16="http://schemas.microsoft.com/office/drawing/2014/main" id="{F7E60932-535C-E8E8-B0BF-148EE0C9FEE4}"/>
              </a:ext>
            </a:extLst>
          </p:cNvPr>
          <p:cNvPicPr>
            <a:picLocks noChangeAspect="1"/>
          </p:cNvPicPr>
          <p:nvPr/>
        </p:nvPicPr>
        <p:blipFill>
          <a:blip r:embed="rId7"/>
          <a:srcRect/>
          <a:stretch/>
        </p:blipFill>
        <p:spPr>
          <a:xfrm>
            <a:off x="0" y="434556"/>
            <a:ext cx="4466319" cy="4442723"/>
          </a:xfrm>
          <a:prstGeom prst="rect">
            <a:avLst/>
          </a:prstGeom>
        </p:spPr>
      </p:pic>
    </p:spTree>
    <p:extLst>
      <p:ext uri="{BB962C8B-B14F-4D97-AF65-F5344CB8AC3E}">
        <p14:creationId xmlns:p14="http://schemas.microsoft.com/office/powerpoint/2010/main" val="3933031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64B06-4847-0BDE-119D-679B4FAA1628}"/>
            </a:ext>
          </a:extLst>
        </p:cNvPr>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42B1BB1D-DA01-3C46-E176-8C3CCA81FE04}"/>
              </a:ext>
            </a:extLst>
          </p:cNvPr>
          <p:cNvSpPr/>
          <p:nvPr/>
        </p:nvSpPr>
        <p:spPr>
          <a:xfrm>
            <a:off x="7279990" y="22994"/>
            <a:ext cx="3856570" cy="1081932"/>
          </a:xfrm>
          <a:prstGeom prst="roundRect">
            <a:avLst/>
          </a:prstGeom>
          <a:solidFill>
            <a:srgbClr val="0070AD">
              <a:alpha val="1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AU" sz="900" dirty="0">
                <a:solidFill>
                  <a:schemeClr val="accent1"/>
                </a:solidFill>
                <a:ea typeface="+mn-lt"/>
                <a:cs typeface="+mn-lt"/>
              </a:rPr>
              <a:t>The company is a Spanish company,  managed by the company family that joined IBEX 35 in 2024.</a:t>
            </a:r>
            <a:endParaRPr lang="en-US" dirty="0">
              <a:solidFill>
                <a:schemeClr val="accent1"/>
              </a:solidFill>
              <a:ea typeface="+mn-lt"/>
              <a:cs typeface="+mn-lt"/>
            </a:endParaRPr>
          </a:p>
          <a:p>
            <a:r>
              <a:rPr lang="en-AU" sz="900" b="1" dirty="0">
                <a:solidFill>
                  <a:schemeClr val="accent1"/>
                </a:solidFill>
              </a:rPr>
              <a:t>Net Revenue 2023: 4.3 billion </a:t>
            </a:r>
            <a:r>
              <a:rPr lang="en-AU" sz="900" b="1" dirty="0">
                <a:solidFill>
                  <a:schemeClr val="accent1"/>
                </a:solidFill>
                <a:ea typeface="+mn-lt"/>
                <a:cs typeface="+mn-lt"/>
              </a:rPr>
              <a:t>€</a:t>
            </a:r>
            <a:r>
              <a:rPr lang="en-AU" sz="900" dirty="0">
                <a:solidFill>
                  <a:schemeClr val="accent1"/>
                </a:solidFill>
              </a:rPr>
              <a:t>. + 19% vs 2022</a:t>
            </a:r>
            <a:br>
              <a:rPr lang="en-AU" sz="900" dirty="0">
                <a:solidFill>
                  <a:schemeClr val="accent1"/>
                </a:solidFill>
              </a:rPr>
            </a:br>
            <a:r>
              <a:rPr lang="en-AU" sz="900" dirty="0">
                <a:solidFill>
                  <a:schemeClr val="accent1"/>
                </a:solidFill>
              </a:rPr>
              <a:t>11,3 % market share in the global </a:t>
            </a:r>
            <a:r>
              <a:rPr lang="en-AU" sz="900" dirty="0" err="1">
                <a:solidFill>
                  <a:schemeClr val="accent1"/>
                </a:solidFill>
              </a:rPr>
              <a:t>fragance</a:t>
            </a:r>
            <a:r>
              <a:rPr lang="en-AU" sz="900" dirty="0">
                <a:solidFill>
                  <a:schemeClr val="accent1"/>
                </a:solidFill>
              </a:rPr>
              <a:t> sector.</a:t>
            </a:r>
            <a:br>
              <a:rPr lang="en-AU" sz="900" dirty="0">
                <a:solidFill>
                  <a:schemeClr val="accent1"/>
                </a:solidFill>
              </a:rPr>
            </a:br>
            <a:r>
              <a:rPr lang="en-AU" sz="900" dirty="0">
                <a:solidFill>
                  <a:schemeClr val="accent1"/>
                </a:solidFill>
                <a:ea typeface="+mn-lt"/>
                <a:cs typeface="+mn-lt"/>
              </a:rPr>
              <a:t>The company has 27 affiliates and regional offices located in 25 countries and its products are distributed in more than 150 countries around world</a:t>
            </a:r>
            <a:endParaRPr lang="en-US" dirty="0">
              <a:solidFill>
                <a:schemeClr val="accent1"/>
              </a:solidFill>
            </a:endParaRPr>
          </a:p>
        </p:txBody>
      </p:sp>
      <p:sp>
        <p:nvSpPr>
          <p:cNvPr id="36" name="Rectangle: Rounded Corners 35">
            <a:extLst>
              <a:ext uri="{FF2B5EF4-FFF2-40B4-BE49-F238E27FC236}">
                <a16:creationId xmlns:a16="http://schemas.microsoft.com/office/drawing/2014/main" id="{4E4A3E02-AB08-B386-FD78-233D50ED5F13}"/>
              </a:ext>
            </a:extLst>
          </p:cNvPr>
          <p:cNvSpPr/>
          <p:nvPr/>
        </p:nvSpPr>
        <p:spPr>
          <a:xfrm>
            <a:off x="4799856" y="1375003"/>
            <a:ext cx="7056784" cy="1662109"/>
          </a:xfrm>
          <a:prstGeom prst="roundRect">
            <a:avLst>
              <a:gd name="adj" fmla="val 73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buClr>
                <a:srgbClr val="0070AD"/>
              </a:buClr>
              <a:defRPr/>
            </a:pPr>
            <a:r>
              <a:rPr lang="en-AU" sz="900" b="1" dirty="0">
                <a:solidFill>
                  <a:schemeClr val="tx1"/>
                </a:solidFill>
                <a:ea typeface="+mn-lt"/>
                <a:cs typeface="+mn-lt"/>
              </a:rPr>
              <a:t>Context:</a:t>
            </a:r>
          </a:p>
          <a:p>
            <a:pPr marL="171450" indent="-171450">
              <a:buClr>
                <a:srgbClr val="0070AD"/>
              </a:buClr>
              <a:buFont typeface="Wingdings"/>
              <a:buChar char="§"/>
              <a:defRPr/>
            </a:pPr>
            <a:r>
              <a:rPr lang="en-AU" sz="900" dirty="0">
                <a:solidFill>
                  <a:schemeClr val="tx1"/>
                </a:solidFill>
                <a:ea typeface="+mn-lt"/>
                <a:cs typeface="+mn-lt"/>
              </a:rPr>
              <a:t>The company previously conducted annual in-person S&amp;OP assessments across all global offices</a:t>
            </a:r>
            <a:r>
              <a:rPr kumimoji="0" lang="en-AU" sz="900" b="0" i="0" u="none" strike="noStrike" kern="1200" cap="none" spc="0" normalizeH="0" baseline="0" noProof="0" dirty="0">
                <a:ln>
                  <a:noFill/>
                </a:ln>
                <a:solidFill>
                  <a:schemeClr val="tx1"/>
                </a:solidFill>
                <a:effectLst/>
                <a:uLnTx/>
                <a:uFillTx/>
                <a:ea typeface="+mn-lt"/>
                <a:cs typeface="+mn-lt"/>
              </a:rPr>
              <a:t>.</a:t>
            </a:r>
            <a:endParaRPr lang="en-US" dirty="0">
              <a:solidFill>
                <a:schemeClr val="tx1"/>
              </a:solidFill>
              <a:ea typeface="+mn-lt"/>
              <a:cs typeface="+mn-lt"/>
            </a:endParaRPr>
          </a:p>
          <a:p>
            <a:pPr marL="171450" indent="-171450">
              <a:buClr>
                <a:srgbClr val="0070AD"/>
              </a:buClr>
              <a:buFont typeface="Wingdings"/>
              <a:buChar char="§"/>
              <a:defRPr/>
            </a:pPr>
            <a:r>
              <a:rPr lang="en-AU" sz="900" dirty="0">
                <a:solidFill>
                  <a:schemeClr val="tx1"/>
                </a:solidFill>
                <a:ea typeface="+mn-lt"/>
                <a:cs typeface="+mn-lt"/>
              </a:rPr>
              <a:t>Due </a:t>
            </a:r>
            <a:r>
              <a:rPr kumimoji="0" lang="en-AU" sz="900" b="0" i="0" u="none" strike="noStrike" kern="1200" cap="none" spc="0" normalizeH="0" baseline="0" noProof="0" dirty="0">
                <a:ln>
                  <a:noFill/>
                </a:ln>
                <a:solidFill>
                  <a:schemeClr val="tx1"/>
                </a:solidFill>
                <a:effectLst/>
                <a:uLnTx/>
                <a:uFillTx/>
                <a:ea typeface="+mn-lt"/>
                <a:cs typeface="+mn-lt"/>
              </a:rPr>
              <a:t>to </a:t>
            </a:r>
            <a:r>
              <a:rPr lang="en-AU" sz="900" dirty="0">
                <a:solidFill>
                  <a:schemeClr val="tx1"/>
                </a:solidFill>
                <a:ea typeface="+mn-lt"/>
                <a:cs typeface="+mn-lt"/>
              </a:rPr>
              <a:t>COVID and organizational decisions</a:t>
            </a:r>
            <a:r>
              <a:rPr kumimoji="0" lang="en-AU" sz="900" b="0" i="0" u="none" strike="noStrike" kern="1200" cap="none" spc="0" normalizeH="0" baseline="0" noProof="0" dirty="0">
                <a:ln>
                  <a:noFill/>
                </a:ln>
                <a:solidFill>
                  <a:schemeClr val="tx1"/>
                </a:solidFill>
                <a:effectLst/>
                <a:uLnTx/>
                <a:uFillTx/>
                <a:ea typeface="+mn-lt"/>
                <a:cs typeface="+mn-lt"/>
              </a:rPr>
              <a:t>, </a:t>
            </a:r>
            <a:r>
              <a:rPr lang="en-AU" sz="900" dirty="0">
                <a:solidFill>
                  <a:schemeClr val="tx1"/>
                </a:solidFill>
                <a:ea typeface="+mn-lt"/>
                <a:cs typeface="+mn-lt"/>
              </a:rPr>
              <a:t>this process was discontinued.</a:t>
            </a:r>
            <a:endParaRPr lang="en-AU" dirty="0">
              <a:solidFill>
                <a:schemeClr val="tx1"/>
              </a:solidFill>
              <a:ea typeface="+mn-lt"/>
              <a:cs typeface="+mn-lt"/>
            </a:endParaRPr>
          </a:p>
          <a:p>
            <a:pPr marL="171450" indent="-171450">
              <a:buClr>
                <a:srgbClr val="0070AD"/>
              </a:buClr>
              <a:buFont typeface="Wingdings"/>
              <a:buChar char="§"/>
              <a:defRPr/>
            </a:pPr>
            <a:r>
              <a:rPr lang="en-AU" sz="900" dirty="0">
                <a:solidFill>
                  <a:schemeClr val="tx1"/>
                </a:solidFill>
                <a:ea typeface="+mn-lt"/>
                <a:cs typeface="+mn-lt"/>
              </a:rPr>
              <a:t>The Local S&amp;OP Assessment was introduced as a key initiative to restart evaluations.</a:t>
            </a:r>
            <a:endParaRPr lang="en-AU" dirty="0">
              <a:solidFill>
                <a:schemeClr val="tx1"/>
              </a:solidFill>
              <a:ea typeface="+mn-lt"/>
              <a:cs typeface="+mn-lt"/>
            </a:endParaRPr>
          </a:p>
          <a:p>
            <a:pPr>
              <a:buClr>
                <a:srgbClr val="0070AD"/>
              </a:buClr>
              <a:defRPr/>
            </a:pPr>
            <a:endParaRPr lang="en-AU" sz="900" dirty="0">
              <a:solidFill>
                <a:schemeClr val="tx1"/>
              </a:solidFill>
              <a:latin typeface="Ubuntu"/>
            </a:endParaRPr>
          </a:p>
          <a:p>
            <a:pPr>
              <a:defRPr/>
            </a:pPr>
            <a:r>
              <a:rPr lang="en-AU" sz="900" b="1" dirty="0">
                <a:solidFill>
                  <a:schemeClr val="tx1"/>
                </a:solidFill>
                <a:latin typeface="Ubuntu"/>
              </a:rPr>
              <a:t>Objectives: </a:t>
            </a:r>
            <a:endParaRPr lang="en-AU" dirty="0"/>
          </a:p>
          <a:p>
            <a:pPr marL="171450" indent="-171450">
              <a:buClr>
                <a:srgbClr val="0070AD"/>
              </a:buClr>
              <a:buFont typeface="Wingdings,Sans-Serif"/>
              <a:buChar char="§"/>
              <a:defRPr/>
            </a:pPr>
            <a:r>
              <a:rPr lang="en-AU" sz="900" dirty="0">
                <a:solidFill>
                  <a:schemeClr val="tx1"/>
                </a:solidFill>
                <a:latin typeface="Ubuntu"/>
              </a:rPr>
              <a:t>Main: deliver a higher-level maturity assessment while offering a deep understanding of the specific circumstances and improvement areas of the evaluated offices.</a:t>
            </a:r>
          </a:p>
          <a:p>
            <a:pPr marL="171450" indent="-171450">
              <a:buClr>
                <a:srgbClr val="0070AD"/>
              </a:buClr>
              <a:buFont typeface="Wingdings,Sans-Serif"/>
              <a:buChar char="§"/>
              <a:defRPr/>
            </a:pPr>
            <a:r>
              <a:rPr lang="en-AU" sz="900" dirty="0">
                <a:solidFill>
                  <a:schemeClr val="tx1"/>
                </a:solidFill>
                <a:latin typeface="Ubuntu"/>
              </a:rPr>
              <a:t>Assess the current S&amp;OP maturity level across global offices.</a:t>
            </a:r>
            <a:endParaRPr lang="en-AU" dirty="0">
              <a:solidFill>
                <a:schemeClr val="tx1"/>
              </a:solidFill>
            </a:endParaRPr>
          </a:p>
          <a:p>
            <a:pPr marL="171450" indent="-171450">
              <a:buClr>
                <a:srgbClr val="0070AD"/>
              </a:buClr>
              <a:buFont typeface="Wingdings,Sans-Serif"/>
              <a:buChar char="§"/>
              <a:defRPr/>
            </a:pPr>
            <a:r>
              <a:rPr lang="en-AU" sz="900" dirty="0">
                <a:solidFill>
                  <a:schemeClr val="tx1"/>
                </a:solidFill>
                <a:latin typeface="Ubuntu"/>
              </a:rPr>
              <a:t>Identify gaps and internal best practices.</a:t>
            </a:r>
            <a:endParaRPr lang="en-AU" dirty="0">
              <a:solidFill>
                <a:schemeClr val="tx1"/>
              </a:solidFill>
              <a:latin typeface="Ubuntu"/>
            </a:endParaRPr>
          </a:p>
          <a:p>
            <a:pPr marL="171450" indent="-171450">
              <a:buClr>
                <a:srgbClr val="0070AD"/>
              </a:buClr>
              <a:buFont typeface="Wingdings,Sans-Serif"/>
              <a:buChar char="§"/>
              <a:defRPr/>
            </a:pPr>
            <a:r>
              <a:rPr lang="en-AU" sz="900" dirty="0">
                <a:solidFill>
                  <a:schemeClr val="tx1"/>
                </a:solidFill>
                <a:latin typeface="Ubuntu"/>
              </a:rPr>
              <a:t>Define a roadmap for improvement and harmonization.</a:t>
            </a:r>
            <a:endParaRPr lang="en-AU" dirty="0">
              <a:solidFill>
                <a:schemeClr val="tx1"/>
              </a:solidFill>
            </a:endParaRPr>
          </a:p>
          <a:p>
            <a:pPr>
              <a:buClr>
                <a:srgbClr val="0070AD"/>
              </a:buClr>
              <a:defRPr/>
            </a:pPr>
            <a:endParaRPr lang="en-AU" dirty="0">
              <a:solidFill>
                <a:schemeClr val="tx1"/>
              </a:solidFill>
              <a:ea typeface="+mn-lt"/>
              <a:cs typeface="+mn-lt"/>
            </a:endParaRPr>
          </a:p>
        </p:txBody>
      </p:sp>
      <p:sp>
        <p:nvSpPr>
          <p:cNvPr id="37" name="Rectangle: Rounded Corners 36">
            <a:extLst>
              <a:ext uri="{FF2B5EF4-FFF2-40B4-BE49-F238E27FC236}">
                <a16:creationId xmlns:a16="http://schemas.microsoft.com/office/drawing/2014/main" id="{E5685CD1-ECE7-D553-C8C2-F3ACB8489BFD}"/>
              </a:ext>
            </a:extLst>
          </p:cNvPr>
          <p:cNvSpPr/>
          <p:nvPr/>
        </p:nvSpPr>
        <p:spPr>
          <a:xfrm>
            <a:off x="4799856" y="3355955"/>
            <a:ext cx="7056784" cy="1440000"/>
          </a:xfrm>
          <a:prstGeom prst="roundRect">
            <a:avLst>
              <a:gd name="adj" fmla="val 604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numCol="2" rtlCol="0" anchor="t"/>
          <a:lstStyle/>
          <a:p>
            <a:pPr>
              <a:buClr>
                <a:srgbClr val="0070AD"/>
              </a:buClr>
              <a:defRPr/>
            </a:pPr>
            <a:r>
              <a:rPr lang="en-AU" sz="900" b="1">
                <a:solidFill>
                  <a:schemeClr val="tx1"/>
                </a:solidFill>
                <a:latin typeface="Ubuntu"/>
              </a:rPr>
              <a:t>1.</a:t>
            </a:r>
            <a:r>
              <a:rPr lang="en-AU" sz="900" b="1">
                <a:solidFill>
                  <a:schemeClr val="tx1"/>
                </a:solidFill>
                <a:ea typeface="+mn-lt"/>
                <a:cs typeface="+mn-lt"/>
              </a:rPr>
              <a:t>Data Collection (5 weeks):</a:t>
            </a:r>
            <a:endParaRPr lang="en-AU" sz="900" b="1">
              <a:solidFill>
                <a:schemeClr val="tx1"/>
              </a:solidFill>
              <a:latin typeface="Ubuntu"/>
            </a:endParaRPr>
          </a:p>
          <a:p>
            <a:pPr marL="171450" indent="-171450">
              <a:buFont typeface="Wingdings"/>
              <a:buChar char="§"/>
              <a:defRPr/>
            </a:pPr>
            <a:r>
              <a:rPr lang="en-AU" sz="900">
                <a:solidFill>
                  <a:schemeClr val="tx1"/>
                </a:solidFill>
                <a:ea typeface="+mn-lt"/>
                <a:cs typeface="+mn-lt"/>
              </a:rPr>
              <a:t>Online survey with scaled questions across five maturity dimensions.</a:t>
            </a:r>
            <a:endParaRPr lang="en-AU"/>
          </a:p>
          <a:p>
            <a:pPr marL="171450" indent="-171450">
              <a:buFont typeface="Wingdings"/>
              <a:buChar char="§"/>
              <a:defRPr/>
            </a:pPr>
            <a:r>
              <a:rPr lang="en-AU" sz="900">
                <a:solidFill>
                  <a:schemeClr val="tx1"/>
                </a:solidFill>
                <a:ea typeface="+mn-lt"/>
                <a:cs typeface="+mn-lt"/>
              </a:rPr>
              <a:t>Participation from 32 stakeholders across 18 offices.</a:t>
            </a:r>
            <a:endParaRPr lang="en-AU"/>
          </a:p>
          <a:p>
            <a:pPr marL="171450" indent="-171450">
              <a:buFont typeface="Wingdings"/>
              <a:buChar char="§"/>
              <a:defRPr/>
            </a:pPr>
            <a:r>
              <a:rPr lang="en-AU" sz="900">
                <a:solidFill>
                  <a:schemeClr val="tx1"/>
                </a:solidFill>
                <a:ea typeface="+mn-lt"/>
                <a:cs typeface="+mn-lt"/>
              </a:rPr>
              <a:t>In-depth interviews to capture vision and challenges.</a:t>
            </a:r>
            <a:endParaRPr lang="en-AU" sz="900">
              <a:solidFill>
                <a:schemeClr val="tx1"/>
              </a:solidFill>
            </a:endParaRPr>
          </a:p>
          <a:p>
            <a:pPr>
              <a:defRPr/>
            </a:pPr>
            <a:endParaRPr lang="en-AU" sz="900">
              <a:solidFill>
                <a:schemeClr val="tx1"/>
              </a:solidFill>
              <a:ea typeface="+mn-lt"/>
              <a:cs typeface="+mn-lt"/>
            </a:endParaRPr>
          </a:p>
          <a:p>
            <a:pPr>
              <a:defRPr/>
            </a:pPr>
            <a:r>
              <a:rPr lang="en-AU" sz="900" b="1">
                <a:solidFill>
                  <a:schemeClr val="tx1"/>
                </a:solidFill>
                <a:ea typeface="+mn-lt"/>
                <a:cs typeface="+mn-lt"/>
              </a:rPr>
              <a:t>2. Evaluate Maturity (2 weeks):</a:t>
            </a:r>
            <a:endParaRPr lang="en-AU" b="1">
              <a:solidFill>
                <a:schemeClr val="tx1"/>
              </a:solidFill>
            </a:endParaRPr>
          </a:p>
          <a:p>
            <a:pPr marL="171450" indent="-171450">
              <a:buFont typeface="Wingdings"/>
              <a:buChar char="§"/>
              <a:defRPr/>
            </a:pPr>
            <a:r>
              <a:rPr lang="en-AU" sz="900">
                <a:solidFill>
                  <a:schemeClr val="tx1"/>
                </a:solidFill>
                <a:ea typeface="+mn-lt"/>
                <a:cs typeface="+mn-lt"/>
              </a:rPr>
              <a:t>Analysis by office and region, comparing results against global standards.</a:t>
            </a:r>
            <a:endParaRPr lang="en-AU">
              <a:solidFill>
                <a:schemeClr val="tx1"/>
              </a:solidFill>
              <a:ea typeface="+mn-lt"/>
              <a:cs typeface="+mn-lt"/>
            </a:endParaRPr>
          </a:p>
          <a:p>
            <a:pPr marL="171450" indent="-171450">
              <a:buFont typeface="Wingdings"/>
              <a:buChar char="§"/>
              <a:defRPr/>
            </a:pPr>
            <a:r>
              <a:rPr lang="en-AU" sz="900">
                <a:solidFill>
                  <a:schemeClr val="tx1"/>
                </a:solidFill>
                <a:ea typeface="+mn-lt"/>
                <a:cs typeface="+mn-lt"/>
              </a:rPr>
              <a:t>Identification of specific circumstances and improvement areas.</a:t>
            </a:r>
            <a:endParaRPr lang="en-AU">
              <a:solidFill>
                <a:schemeClr val="tx1"/>
              </a:solidFill>
              <a:ea typeface="+mn-lt"/>
              <a:cs typeface="+mn-lt"/>
            </a:endParaRPr>
          </a:p>
          <a:p>
            <a:pPr>
              <a:defRPr/>
            </a:pPr>
            <a:endParaRPr lang="en-AU" sz="900">
              <a:solidFill>
                <a:schemeClr val="tx1"/>
              </a:solidFill>
              <a:ea typeface="+mn-lt"/>
              <a:cs typeface="+mn-lt"/>
            </a:endParaRPr>
          </a:p>
          <a:p>
            <a:pPr>
              <a:defRPr/>
            </a:pPr>
            <a:r>
              <a:rPr lang="en-AU" sz="900" b="1">
                <a:solidFill>
                  <a:schemeClr val="tx1"/>
                </a:solidFill>
                <a:ea typeface="+mn-lt"/>
                <a:cs typeface="+mn-lt"/>
              </a:rPr>
              <a:t>3. Action Plan (1 week):</a:t>
            </a:r>
            <a:endParaRPr lang="en-AU" b="1">
              <a:solidFill>
                <a:schemeClr val="tx1"/>
              </a:solidFill>
            </a:endParaRPr>
          </a:p>
          <a:p>
            <a:pPr marL="171450" indent="-171450">
              <a:buFont typeface="Wingdings"/>
              <a:buChar char="§"/>
              <a:defRPr/>
            </a:pPr>
            <a:r>
              <a:rPr lang="en-AU" sz="900">
                <a:solidFill>
                  <a:schemeClr val="tx1"/>
                </a:solidFill>
                <a:ea typeface="+mn-lt"/>
                <a:cs typeface="+mn-lt"/>
              </a:rPr>
              <a:t>Development of 7 major initiatives and 15 sub-initiatives.</a:t>
            </a:r>
            <a:endParaRPr lang="en-AU">
              <a:solidFill>
                <a:schemeClr val="tx1"/>
              </a:solidFill>
              <a:ea typeface="+mn-lt"/>
              <a:cs typeface="+mn-lt"/>
            </a:endParaRPr>
          </a:p>
          <a:p>
            <a:pPr marL="171450" indent="-171450">
              <a:buFont typeface="Wingdings"/>
              <a:buChar char="§"/>
              <a:defRPr/>
            </a:pPr>
            <a:r>
              <a:rPr lang="en-AU" sz="900">
                <a:solidFill>
                  <a:schemeClr val="tx1"/>
                </a:solidFill>
                <a:ea typeface="+mn-lt"/>
                <a:cs typeface="+mn-lt"/>
              </a:rPr>
              <a:t>Tailored recommendations based on each office’s maturity level.</a:t>
            </a:r>
            <a:endParaRPr lang="en-AU">
              <a:solidFill>
                <a:schemeClr val="tx1"/>
              </a:solidFill>
              <a:ea typeface="+mn-lt"/>
              <a:cs typeface="+mn-lt"/>
            </a:endParaRPr>
          </a:p>
          <a:p>
            <a:pPr marL="171450" indent="-171450">
              <a:buFont typeface="Wingdings"/>
              <a:buChar char="§"/>
              <a:defRPr/>
            </a:pPr>
            <a:r>
              <a:rPr lang="en-AU" sz="900">
                <a:solidFill>
                  <a:schemeClr val="tx1"/>
                </a:solidFill>
                <a:ea typeface="+mn-lt"/>
                <a:cs typeface="+mn-lt"/>
              </a:rPr>
              <a:t>Prioritization of quick wins for accelerated impact.</a:t>
            </a:r>
            <a:endParaRPr lang="en-AU">
              <a:solidFill>
                <a:schemeClr val="tx1"/>
              </a:solidFill>
              <a:ea typeface="+mn-lt"/>
              <a:cs typeface="+mn-lt"/>
            </a:endParaRPr>
          </a:p>
          <a:p>
            <a:pPr marL="171450" indent="-171450">
              <a:buClr>
                <a:srgbClr val="0070AD"/>
              </a:buClr>
              <a:buFont typeface="Wingdings"/>
              <a:buChar char="§"/>
              <a:defRPr/>
            </a:pPr>
            <a:endParaRPr lang="en-AU" sz="900">
              <a:solidFill>
                <a:schemeClr val="tx1"/>
              </a:solidFill>
              <a:latin typeface="Ubuntu"/>
            </a:endParaRPr>
          </a:p>
        </p:txBody>
      </p:sp>
      <p:sp>
        <p:nvSpPr>
          <p:cNvPr id="40" name="Rectangle: Rounded Corners 39">
            <a:extLst>
              <a:ext uri="{FF2B5EF4-FFF2-40B4-BE49-F238E27FC236}">
                <a16:creationId xmlns:a16="http://schemas.microsoft.com/office/drawing/2014/main" id="{DCF5B14D-7E39-7B74-C581-A0DB1F35C28C}"/>
              </a:ext>
            </a:extLst>
          </p:cNvPr>
          <p:cNvSpPr/>
          <p:nvPr/>
        </p:nvSpPr>
        <p:spPr>
          <a:xfrm>
            <a:off x="4799856" y="5229200"/>
            <a:ext cx="7056784" cy="1440000"/>
          </a:xfrm>
          <a:prstGeom prst="roundRect">
            <a:avLst>
              <a:gd name="adj" fmla="val 80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rgbClr val="0070AD"/>
              </a:buClr>
              <a:buFont typeface="Wingdings"/>
              <a:buChar char="§"/>
              <a:defRPr/>
            </a:pPr>
            <a:r>
              <a:rPr lang="en-AU" sz="900">
                <a:solidFill>
                  <a:schemeClr val="tx1"/>
                </a:solidFill>
                <a:ea typeface="+mn-lt"/>
                <a:cs typeface="+mn-lt"/>
              </a:rPr>
              <a:t>Delivered a high-level maturity assessment with deep insights into regional and office-specific challenges.</a:t>
            </a:r>
            <a:endParaRPr lang="en-US" err="1">
              <a:solidFill>
                <a:schemeClr val="tx1"/>
              </a:solidFill>
              <a:ea typeface="+mn-lt"/>
              <a:cs typeface="+mn-lt"/>
            </a:endParaRPr>
          </a:p>
          <a:p>
            <a:pPr marL="171450" indent="-171450">
              <a:buClr>
                <a:srgbClr val="0070AD"/>
              </a:buClr>
              <a:buFont typeface="Wingdings"/>
              <a:buChar char="§"/>
              <a:defRPr/>
            </a:pPr>
            <a:r>
              <a:rPr lang="en-AU" sz="900">
                <a:solidFill>
                  <a:schemeClr val="tx1"/>
                </a:solidFill>
                <a:ea typeface="+mn-lt"/>
                <a:cs typeface="+mn-lt"/>
              </a:rPr>
              <a:t>Created a customized roadmap to harmonize S&amp;OP processes globally</a:t>
            </a:r>
            <a:r>
              <a:rPr kumimoji="0" lang="en-AU" sz="900" b="0" i="0" u="none" strike="noStrike" kern="1200" cap="none" spc="0" normalizeH="0" baseline="0" noProof="0">
                <a:ln>
                  <a:noFill/>
                </a:ln>
                <a:solidFill>
                  <a:schemeClr val="tx1"/>
                </a:solidFill>
                <a:effectLst/>
                <a:uLnTx/>
                <a:uFillTx/>
                <a:ea typeface="+mn-lt"/>
                <a:cs typeface="+mn-lt"/>
              </a:rPr>
              <a:t>.</a:t>
            </a:r>
            <a:endParaRPr lang="en-AU">
              <a:solidFill>
                <a:schemeClr val="tx1"/>
              </a:solidFill>
              <a:ea typeface="+mn-lt"/>
              <a:cs typeface="+mn-lt"/>
            </a:endParaRPr>
          </a:p>
          <a:p>
            <a:pPr marL="171450" indent="-171450">
              <a:buClr>
                <a:srgbClr val="0070AD"/>
              </a:buClr>
              <a:buFont typeface="Wingdings"/>
              <a:buChar char="§"/>
              <a:defRPr/>
            </a:pPr>
            <a:r>
              <a:rPr lang="en-AU" sz="900">
                <a:solidFill>
                  <a:schemeClr val="tx1"/>
                </a:solidFill>
                <a:ea typeface="+mn-lt"/>
                <a:cs typeface="+mn-lt"/>
              </a:rPr>
              <a:t>Enabled faster implementation of quick wins, driving immediate improvements</a:t>
            </a:r>
            <a:r>
              <a:rPr kumimoji="0" lang="en-AU" sz="900" b="0" i="0" u="none" strike="noStrike" kern="1200" cap="none" spc="0" normalizeH="0" baseline="0" noProof="0">
                <a:ln>
                  <a:noFill/>
                </a:ln>
                <a:solidFill>
                  <a:schemeClr val="tx1"/>
                </a:solidFill>
                <a:effectLst/>
                <a:uLnTx/>
                <a:uFillTx/>
                <a:ea typeface="+mn-lt"/>
                <a:cs typeface="+mn-lt"/>
              </a:rPr>
              <a:t>.</a:t>
            </a:r>
            <a:endParaRPr lang="en-AU">
              <a:solidFill>
                <a:schemeClr val="tx1"/>
              </a:solidFill>
              <a:ea typeface="+mn-lt"/>
              <a:cs typeface="+mn-lt"/>
            </a:endParaRPr>
          </a:p>
          <a:p>
            <a:pPr marL="171450" indent="-171450">
              <a:buClr>
                <a:srgbClr val="0070AD"/>
              </a:buClr>
              <a:buFont typeface="Wingdings"/>
              <a:buChar char="§"/>
              <a:defRPr/>
            </a:pPr>
            <a:r>
              <a:rPr lang="en-AU" sz="900">
                <a:solidFill>
                  <a:schemeClr val="tx1"/>
                </a:solidFill>
                <a:ea typeface="+mn-lt"/>
                <a:cs typeface="+mn-lt"/>
              </a:rPr>
              <a:t>Established a foundation for continuous improvement and global best practice adoption</a:t>
            </a:r>
            <a:r>
              <a:rPr kumimoji="0" lang="en-AU" sz="900" b="0" i="0" u="none" strike="noStrike" kern="1200" cap="none" spc="0" normalizeH="0" baseline="0" noProof="0">
                <a:ln>
                  <a:noFill/>
                </a:ln>
                <a:solidFill>
                  <a:schemeClr val="tx1"/>
                </a:solidFill>
                <a:effectLst/>
                <a:uLnTx/>
                <a:uFillTx/>
                <a:ea typeface="+mn-lt"/>
                <a:cs typeface="+mn-lt"/>
              </a:rPr>
              <a:t>.</a:t>
            </a:r>
            <a:endParaRPr lang="en-AU">
              <a:solidFill>
                <a:schemeClr val="tx1"/>
              </a:solidFill>
              <a:ea typeface="+mn-lt"/>
              <a:cs typeface="+mn-lt"/>
            </a:endParaRPr>
          </a:p>
          <a:p>
            <a:pPr>
              <a:buClr>
                <a:srgbClr val="0070AD"/>
              </a:buClr>
              <a:defRPr/>
            </a:pPr>
            <a:endParaRPr lang="en-AU"/>
          </a:p>
          <a:p>
            <a:pPr>
              <a:defRPr/>
            </a:pPr>
            <a:endParaRPr lang="en-AU"/>
          </a:p>
        </p:txBody>
      </p:sp>
      <p:sp>
        <p:nvSpPr>
          <p:cNvPr id="49" name="Rectangle 48">
            <a:extLst>
              <a:ext uri="{FF2B5EF4-FFF2-40B4-BE49-F238E27FC236}">
                <a16:creationId xmlns:a16="http://schemas.microsoft.com/office/drawing/2014/main" id="{B4CB10AE-CEE8-3F9E-88BF-811D81F84E7E}"/>
              </a:ext>
            </a:extLst>
          </p:cNvPr>
          <p:cNvSpPr/>
          <p:nvPr/>
        </p:nvSpPr>
        <p:spPr>
          <a:xfrm>
            <a:off x="4799856" y="1088999"/>
            <a:ext cx="2165978"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Context and objectives</a:t>
            </a:r>
          </a:p>
        </p:txBody>
      </p:sp>
      <p:sp>
        <p:nvSpPr>
          <p:cNvPr id="57" name="Rectangle 56">
            <a:extLst>
              <a:ext uri="{FF2B5EF4-FFF2-40B4-BE49-F238E27FC236}">
                <a16:creationId xmlns:a16="http://schemas.microsoft.com/office/drawing/2014/main" id="{17FBACF6-43BB-A79D-C1C7-2B01DBB23E51}"/>
              </a:ext>
            </a:extLst>
          </p:cNvPr>
          <p:cNvSpPr/>
          <p:nvPr/>
        </p:nvSpPr>
        <p:spPr>
          <a:xfrm>
            <a:off x="4799856" y="2985445"/>
            <a:ext cx="906017"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Solution</a:t>
            </a:r>
          </a:p>
        </p:txBody>
      </p:sp>
      <p:sp>
        <p:nvSpPr>
          <p:cNvPr id="58" name="Rectangle 57">
            <a:extLst>
              <a:ext uri="{FF2B5EF4-FFF2-40B4-BE49-F238E27FC236}">
                <a16:creationId xmlns:a16="http://schemas.microsoft.com/office/drawing/2014/main" id="{C177783E-2C87-3107-99A3-869B827CB29A}"/>
              </a:ext>
            </a:extLst>
          </p:cNvPr>
          <p:cNvSpPr/>
          <p:nvPr/>
        </p:nvSpPr>
        <p:spPr>
          <a:xfrm>
            <a:off x="4799856" y="4858688"/>
            <a:ext cx="1952779"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Benefits and Results</a:t>
            </a:r>
          </a:p>
        </p:txBody>
      </p:sp>
      <p:grpSp>
        <p:nvGrpSpPr>
          <p:cNvPr id="59" name="Group 58">
            <a:extLst>
              <a:ext uri="{FF2B5EF4-FFF2-40B4-BE49-F238E27FC236}">
                <a16:creationId xmlns:a16="http://schemas.microsoft.com/office/drawing/2014/main" id="{6A8D0CA5-90C9-E645-9140-5949D122FF06}"/>
              </a:ext>
            </a:extLst>
          </p:cNvPr>
          <p:cNvGrpSpPr/>
          <p:nvPr/>
        </p:nvGrpSpPr>
        <p:grpSpPr>
          <a:xfrm>
            <a:off x="-37306" y="4951218"/>
            <a:ext cx="4608512" cy="1645101"/>
            <a:chOff x="6290619" y="1768012"/>
            <a:chExt cx="5516586" cy="2138071"/>
          </a:xfrm>
        </p:grpSpPr>
        <p:sp>
          <p:nvSpPr>
            <p:cNvPr id="60" name="Rectangle: Rounded Corners 59">
              <a:extLst>
                <a:ext uri="{FF2B5EF4-FFF2-40B4-BE49-F238E27FC236}">
                  <a16:creationId xmlns:a16="http://schemas.microsoft.com/office/drawing/2014/main" id="{D9C520D9-CB45-1AB0-3D2E-8AD3B0983248}"/>
                </a:ext>
              </a:extLst>
            </p:cNvPr>
            <p:cNvSpPr/>
            <p:nvPr/>
          </p:nvSpPr>
          <p:spPr>
            <a:xfrm>
              <a:off x="6290619" y="1768012"/>
              <a:ext cx="5516586" cy="2138071"/>
            </a:xfrm>
            <a:prstGeom prst="roundRect">
              <a:avLst>
                <a:gd name="adj" fmla="val 544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pic>
          <p:nvPicPr>
            <p:cNvPr id="61" name="Picture 60">
              <a:extLst>
                <a:ext uri="{FF2B5EF4-FFF2-40B4-BE49-F238E27FC236}">
                  <a16:creationId xmlns:a16="http://schemas.microsoft.com/office/drawing/2014/main" id="{0BB27650-A200-21BB-FA41-72E4CD0CFA8B}"/>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7223756" y="2057999"/>
              <a:ext cx="369332" cy="369332"/>
            </a:xfrm>
            <a:prstGeom prst="rect">
              <a:avLst/>
            </a:prstGeom>
          </p:spPr>
        </p:pic>
        <p:pic>
          <p:nvPicPr>
            <p:cNvPr id="63" name="Picture 62">
              <a:extLst>
                <a:ext uri="{FF2B5EF4-FFF2-40B4-BE49-F238E27FC236}">
                  <a16:creationId xmlns:a16="http://schemas.microsoft.com/office/drawing/2014/main" id="{55F15AB1-FC56-3428-3A81-A894DFE39CDC}"/>
                </a:ext>
              </a:extLst>
            </p:cNvPr>
            <p:cNvPicPr>
              <a:picLocks noChangeAspect="1"/>
            </p:cNvPicPr>
            <p:nvPr/>
          </p:nvPicPr>
          <p:blipFill rotWithShape="1">
            <a:blip r:embed="rId3">
              <a:duotone>
                <a:schemeClr val="accent2">
                  <a:shade val="45000"/>
                  <a:satMod val="135000"/>
                </a:schemeClr>
                <a:prstClr val="white"/>
              </a:duotone>
              <a:extLst>
                <a:ext uri="{28A0092B-C50C-407E-A947-70E740481C1C}">
                  <a14:useLocalDpi xmlns:a14="http://schemas.microsoft.com/office/drawing/2010/main" val="0"/>
                </a:ext>
              </a:extLst>
            </a:blip>
            <a:srcRect t="10893" b="30251"/>
            <a:stretch/>
          </p:blipFill>
          <p:spPr>
            <a:xfrm>
              <a:off x="8658892" y="2053558"/>
              <a:ext cx="685473" cy="403435"/>
            </a:xfrm>
            <a:prstGeom prst="rect">
              <a:avLst/>
            </a:prstGeom>
          </p:spPr>
        </p:pic>
        <p:pic>
          <p:nvPicPr>
            <p:cNvPr id="65" name="Picture 64" descr="A close up of a logo&#10;&#10;Description automatically generated">
              <a:extLst>
                <a:ext uri="{FF2B5EF4-FFF2-40B4-BE49-F238E27FC236}">
                  <a16:creationId xmlns:a16="http://schemas.microsoft.com/office/drawing/2014/main" id="{A323ED56-8469-93A6-BCD7-9D40AC8821FC}"/>
                </a:ext>
              </a:extLst>
            </p:cNvPr>
            <p:cNvPicPr>
              <a:picLocks noChangeAspect="1"/>
            </p:cNvPicPr>
            <p:nvPr/>
          </p:nvPicPr>
          <p:blipFill>
            <a:blip r:embed="rId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0224868" y="2035037"/>
              <a:ext cx="494743" cy="494743"/>
            </a:xfrm>
            <a:prstGeom prst="rect">
              <a:avLst/>
            </a:prstGeom>
          </p:spPr>
        </p:pic>
        <p:sp>
          <p:nvSpPr>
            <p:cNvPr id="66" name="TextBox 65">
              <a:extLst>
                <a:ext uri="{FF2B5EF4-FFF2-40B4-BE49-F238E27FC236}">
                  <a16:creationId xmlns:a16="http://schemas.microsoft.com/office/drawing/2014/main" id="{4761026F-B0C2-5949-6F95-725B8E32B09F}"/>
                </a:ext>
              </a:extLst>
            </p:cNvPr>
            <p:cNvSpPr txBox="1"/>
            <p:nvPr/>
          </p:nvSpPr>
          <p:spPr>
            <a:xfrm>
              <a:off x="9843410" y="2609857"/>
              <a:ext cx="1332629" cy="620008"/>
            </a:xfrm>
            <a:prstGeom prst="rect">
              <a:avLst/>
            </a:prstGeom>
            <a:noFill/>
          </p:spPr>
          <p:txBody>
            <a:bodyPr wrap="square" lIns="91440" tIns="45720" rIns="91440" bIns="45720" rtlCol="0" anchor="t">
              <a:spAutoFit/>
            </a:bodyPr>
            <a:lstStyle/>
            <a:p>
              <a:pPr algn="ctr">
                <a:defRPr/>
              </a:pPr>
              <a:r>
                <a:rPr lang="en-AU" sz="1600" b="1">
                  <a:solidFill>
                    <a:srgbClr val="12ABDB"/>
                  </a:solidFill>
                  <a:latin typeface="Verdana"/>
                </a:rPr>
                <a:t>Fully </a:t>
              </a:r>
              <a:endParaRPr kumimoji="0" lang="en-AU" sz="900" b="1" i="0" u="none" strike="noStrike" kern="1200" cap="none" spc="0" normalizeH="0" baseline="0" noProof="0">
                <a:ln>
                  <a:noFill/>
                </a:ln>
                <a:solidFill>
                  <a:srgbClr val="12ABDB"/>
                </a:solidFill>
                <a:effectLst/>
                <a:uLnTx/>
                <a:uFillTx/>
                <a:latin typeface="Verdana"/>
                <a:ea typeface="+mn-ea"/>
                <a:cs typeface="+mn-cs"/>
              </a:endParaRPr>
            </a:p>
            <a:p>
              <a:pPr algn="ctr">
                <a:defRPr/>
              </a:pPr>
              <a:r>
                <a:rPr lang="en-AU" sz="900">
                  <a:solidFill>
                    <a:srgbClr val="12ABDB"/>
                  </a:solidFill>
                  <a:latin typeface="Verdana"/>
                </a:rPr>
                <a:t>Remote Project</a:t>
              </a:r>
              <a:endParaRPr lang="en-AU" sz="900" b="0" i="0" u="none" strike="noStrike" kern="1200" cap="none" spc="0" normalizeH="0" baseline="0" noProof="0">
                <a:ln>
                  <a:noFill/>
                </a:ln>
                <a:solidFill>
                  <a:srgbClr val="12ABDB"/>
                </a:solidFill>
                <a:effectLst/>
                <a:uLnTx/>
                <a:uFillTx/>
                <a:latin typeface="Verdana"/>
                <a:ea typeface="Verdana"/>
              </a:endParaRPr>
            </a:p>
          </p:txBody>
        </p:sp>
      </p:grpSp>
      <p:sp>
        <p:nvSpPr>
          <p:cNvPr id="71" name="Rectangle 70">
            <a:extLst>
              <a:ext uri="{FF2B5EF4-FFF2-40B4-BE49-F238E27FC236}">
                <a16:creationId xmlns:a16="http://schemas.microsoft.com/office/drawing/2014/main" id="{AED1A754-696F-62E7-23D1-BF375ED7CCF0}"/>
              </a:ext>
            </a:extLst>
          </p:cNvPr>
          <p:cNvSpPr/>
          <p:nvPr/>
        </p:nvSpPr>
        <p:spPr>
          <a:xfrm>
            <a:off x="0" y="0"/>
            <a:ext cx="4533899" cy="424932"/>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72" name="Rectangle 71">
            <a:extLst>
              <a:ext uri="{FF2B5EF4-FFF2-40B4-BE49-F238E27FC236}">
                <a16:creationId xmlns:a16="http://schemas.microsoft.com/office/drawing/2014/main" id="{C95A853F-0526-69EE-0CB4-A5CA22C7AC47}"/>
              </a:ext>
            </a:extLst>
          </p:cNvPr>
          <p:cNvSpPr/>
          <p:nvPr/>
        </p:nvSpPr>
        <p:spPr>
          <a:xfrm>
            <a:off x="113051"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6E45AD"/>
                </a:solidFill>
                <a:effectLst/>
                <a:uLnTx/>
                <a:uFillTx/>
                <a:latin typeface="Ubuntu" panose="020B0504030602030204" pitchFamily="34" charset="0"/>
                <a:ea typeface="+mn-ea"/>
                <a:cs typeface="+mn-cs"/>
              </a:rPr>
              <a:t>CPRD</a:t>
            </a:r>
          </a:p>
        </p:txBody>
      </p:sp>
      <p:cxnSp>
        <p:nvCxnSpPr>
          <p:cNvPr id="73" name="Straight Connector 72">
            <a:extLst>
              <a:ext uri="{FF2B5EF4-FFF2-40B4-BE49-F238E27FC236}">
                <a16:creationId xmlns:a16="http://schemas.microsoft.com/office/drawing/2014/main" id="{080736EE-CAE4-09DE-B69E-DF71AEF46C64}"/>
              </a:ext>
            </a:extLst>
          </p:cNvPr>
          <p:cNvCxnSpPr/>
          <p:nvPr/>
        </p:nvCxnSpPr>
        <p:spPr>
          <a:xfrm>
            <a:off x="113051" y="415306"/>
            <a:ext cx="2160000" cy="0"/>
          </a:xfrm>
          <a:prstGeom prst="line">
            <a:avLst/>
          </a:prstGeom>
          <a:noFill/>
          <a:ln w="25400" cap="flat">
            <a:solidFill>
              <a:srgbClr val="6E45AD"/>
            </a:solidFill>
            <a:prstDash val="solid"/>
            <a:round/>
          </a:ln>
          <a:effectLst/>
          <a:sp3d/>
        </p:spPr>
        <p:style>
          <a:lnRef idx="0">
            <a:scrgbClr r="0" g="0" b="0"/>
          </a:lnRef>
          <a:fillRef idx="0">
            <a:scrgbClr r="0" g="0" b="0"/>
          </a:fillRef>
          <a:effectRef idx="0">
            <a:scrgbClr r="0" g="0" b="0"/>
          </a:effectRef>
          <a:fontRef idx="none"/>
        </p:style>
      </p:cxnSp>
      <p:sp>
        <p:nvSpPr>
          <p:cNvPr id="74" name="Rectangle 73">
            <a:extLst>
              <a:ext uri="{FF2B5EF4-FFF2-40B4-BE49-F238E27FC236}">
                <a16:creationId xmlns:a16="http://schemas.microsoft.com/office/drawing/2014/main" id="{46FDB598-5B9B-2BCC-966B-1F10ED26DCDC}"/>
              </a:ext>
            </a:extLst>
          </p:cNvPr>
          <p:cNvSpPr/>
          <p:nvPr/>
        </p:nvSpPr>
        <p:spPr>
          <a:xfrm>
            <a:off x="2306319"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12ABDB"/>
                </a:solidFill>
                <a:effectLst/>
                <a:uLnTx/>
                <a:uFillTx/>
                <a:latin typeface="Ubuntu" panose="020B0504030602030204" pitchFamily="34" charset="0"/>
                <a:ea typeface="+mn-ea"/>
                <a:cs typeface="+mn-cs"/>
              </a:rPr>
              <a:t>Demand Planning</a:t>
            </a:r>
          </a:p>
        </p:txBody>
      </p:sp>
      <p:cxnSp>
        <p:nvCxnSpPr>
          <p:cNvPr id="75" name="Straight Connector 74">
            <a:extLst>
              <a:ext uri="{FF2B5EF4-FFF2-40B4-BE49-F238E27FC236}">
                <a16:creationId xmlns:a16="http://schemas.microsoft.com/office/drawing/2014/main" id="{D9940F5E-F2A2-7261-79CD-69539E418001}"/>
              </a:ext>
            </a:extLst>
          </p:cNvPr>
          <p:cNvCxnSpPr/>
          <p:nvPr/>
        </p:nvCxnSpPr>
        <p:spPr>
          <a:xfrm>
            <a:off x="2306319" y="415306"/>
            <a:ext cx="2160000" cy="0"/>
          </a:xfrm>
          <a:prstGeom prst="line">
            <a:avLst/>
          </a:prstGeom>
          <a:noFill/>
          <a:ln w="25400" cap="flat">
            <a:solidFill>
              <a:schemeClr val="accent2"/>
            </a:solidFill>
            <a:prstDash val="solid"/>
            <a:round/>
          </a:ln>
          <a:effectLst/>
          <a:sp3d/>
        </p:spPr>
        <p:style>
          <a:lnRef idx="0">
            <a:scrgbClr r="0" g="0" b="0"/>
          </a:lnRef>
          <a:fillRef idx="0">
            <a:scrgbClr r="0" g="0" b="0"/>
          </a:fillRef>
          <a:effectRef idx="0">
            <a:scrgbClr r="0" g="0" b="0"/>
          </a:effectRef>
          <a:fontRef idx="none"/>
        </p:style>
      </p:cxnSp>
      <p:cxnSp>
        <p:nvCxnSpPr>
          <p:cNvPr id="76" name="Straight Connector 75">
            <a:extLst>
              <a:ext uri="{FF2B5EF4-FFF2-40B4-BE49-F238E27FC236}">
                <a16:creationId xmlns:a16="http://schemas.microsoft.com/office/drawing/2014/main" id="{61A7D2FA-AAEB-DF72-7F3F-4672208ED782}"/>
              </a:ext>
            </a:extLst>
          </p:cNvPr>
          <p:cNvCxnSpPr>
            <a:cxnSpLocks/>
          </p:cNvCxnSpPr>
          <p:nvPr/>
        </p:nvCxnSpPr>
        <p:spPr>
          <a:xfrm flipV="1">
            <a:off x="2289383" y="3231"/>
            <a:ext cx="0" cy="415305"/>
          </a:xfrm>
          <a:prstGeom prst="line">
            <a:avLst/>
          </a:prstGeom>
          <a:noFill/>
          <a:ln w="25400" cap="flat">
            <a:solidFill>
              <a:schemeClr val="bg1">
                <a:lumMod val="75000"/>
              </a:schemeClr>
            </a:solidFill>
            <a:prstDash val="solid"/>
            <a:round/>
          </a:ln>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FEAF5336-E1DA-4865-93E1-0E0892A73A2E}"/>
              </a:ext>
            </a:extLst>
          </p:cNvPr>
          <p:cNvSpPr txBox="1"/>
          <p:nvPr/>
        </p:nvSpPr>
        <p:spPr>
          <a:xfrm>
            <a:off x="1673889" y="5532156"/>
            <a:ext cx="1113268" cy="615553"/>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600" b="1">
                <a:solidFill>
                  <a:srgbClr val="12ABDB"/>
                </a:solidFill>
                <a:latin typeface="Verdana"/>
              </a:rPr>
              <a:t>19</a:t>
            </a:r>
            <a:endParaRPr kumimoji="0" lang="en-AU" sz="900" b="1" i="0" u="none" strike="noStrike" kern="1200" cap="none" spc="0" normalizeH="0" baseline="0" noProof="0">
              <a:ln>
                <a:noFill/>
              </a:ln>
              <a:solidFill>
                <a:srgbClr val="12ABDB"/>
              </a:solidFill>
              <a:effectLst/>
              <a:uLnTx/>
              <a:uFillTx/>
              <a:latin typeface="Verdana"/>
              <a:ea typeface="+mn-ea"/>
              <a:cs typeface="+mn-cs"/>
            </a:endParaRPr>
          </a:p>
          <a:p>
            <a:pPr algn="ctr">
              <a:defRPr/>
            </a:pPr>
            <a:r>
              <a:rPr lang="en-AU" sz="900">
                <a:solidFill>
                  <a:srgbClr val="12ABDB"/>
                </a:solidFill>
                <a:latin typeface="Verdana"/>
              </a:rPr>
              <a:t>Offices Worldwide</a:t>
            </a:r>
            <a:endParaRPr lang="en-AU" sz="900" b="0" i="0" u="none" strike="noStrike" kern="1200" cap="none" spc="0" normalizeH="0" baseline="0" noProof="0">
              <a:ln>
                <a:noFill/>
              </a:ln>
              <a:solidFill>
                <a:srgbClr val="12ABDB"/>
              </a:solidFill>
              <a:effectLst/>
              <a:uLnTx/>
              <a:uFillTx/>
              <a:latin typeface="Verdana"/>
              <a:ea typeface="Verdana"/>
            </a:endParaRPr>
          </a:p>
        </p:txBody>
      </p:sp>
      <p:sp>
        <p:nvSpPr>
          <p:cNvPr id="12" name="TextBox 11">
            <a:extLst>
              <a:ext uri="{FF2B5EF4-FFF2-40B4-BE49-F238E27FC236}">
                <a16:creationId xmlns:a16="http://schemas.microsoft.com/office/drawing/2014/main" id="{00A991F5-D6DE-B55A-DC36-D51C6D8CD1E1}"/>
              </a:ext>
            </a:extLst>
          </p:cNvPr>
          <p:cNvSpPr txBox="1"/>
          <p:nvPr/>
        </p:nvSpPr>
        <p:spPr>
          <a:xfrm>
            <a:off x="348790" y="5532156"/>
            <a:ext cx="1099820" cy="477054"/>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600" b="1">
                <a:solidFill>
                  <a:srgbClr val="12ABDB"/>
                </a:solidFill>
                <a:latin typeface="Verdana"/>
              </a:rPr>
              <a:t>8</a:t>
            </a:r>
            <a:endParaRPr kumimoji="0" lang="en-AU" sz="1600" b="0" i="0" u="none" strike="noStrike" kern="1200" cap="none" spc="0" normalizeH="0" baseline="0" noProof="0">
              <a:ln>
                <a:noFill/>
              </a:ln>
              <a:solidFill>
                <a:srgbClr val="12ABDB"/>
              </a:solidFill>
              <a:effectLst/>
              <a:uLnTx/>
              <a:uFillTx/>
              <a:latin typeface="Verdana"/>
              <a:ea typeface="+mn-ea"/>
              <a:cs typeface="+mn-cs"/>
            </a:endParaRPr>
          </a:p>
          <a:p>
            <a:pPr algn="ctr">
              <a:defRPr/>
            </a:pPr>
            <a:r>
              <a:rPr lang="en-AU" sz="900">
                <a:solidFill>
                  <a:srgbClr val="12ABDB"/>
                </a:solidFill>
                <a:latin typeface="Verdana"/>
                <a:ea typeface="Verdana"/>
              </a:rPr>
              <a:t>Weeks project</a:t>
            </a:r>
            <a:endParaRPr lang="en-AU" sz="900" b="0" i="0" u="none" strike="noStrike" kern="1200" cap="none" spc="0" normalizeH="0" baseline="0" noProof="0">
              <a:ln>
                <a:noFill/>
              </a:ln>
              <a:solidFill>
                <a:srgbClr val="12ABDB"/>
              </a:solidFill>
              <a:effectLst/>
              <a:uLnTx/>
              <a:uFillTx/>
              <a:latin typeface="Verdana"/>
              <a:ea typeface="Verdana"/>
            </a:endParaRPr>
          </a:p>
        </p:txBody>
      </p:sp>
      <p:pic>
        <p:nvPicPr>
          <p:cNvPr id="2" name="Picture 1" descr="Grocery store produce section">
            <a:extLst>
              <a:ext uri="{FF2B5EF4-FFF2-40B4-BE49-F238E27FC236}">
                <a16:creationId xmlns:a16="http://schemas.microsoft.com/office/drawing/2014/main" id="{9B42BC84-E07C-CACD-6904-D0CAF78180C4}"/>
              </a:ext>
            </a:extLst>
          </p:cNvPr>
          <p:cNvPicPr>
            <a:picLocks noChangeAspect="1"/>
          </p:cNvPicPr>
          <p:nvPr/>
        </p:nvPicPr>
        <p:blipFill>
          <a:blip r:embed="rId5"/>
          <a:srcRect/>
          <a:stretch/>
        </p:blipFill>
        <p:spPr>
          <a:xfrm>
            <a:off x="0" y="434556"/>
            <a:ext cx="4466319" cy="4442723"/>
          </a:xfrm>
          <a:prstGeom prst="rect">
            <a:avLst/>
          </a:prstGeom>
        </p:spPr>
      </p:pic>
    </p:spTree>
    <p:extLst>
      <p:ext uri="{BB962C8B-B14F-4D97-AF65-F5344CB8AC3E}">
        <p14:creationId xmlns:p14="http://schemas.microsoft.com/office/powerpoint/2010/main" val="557588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78AC3-FCA9-85D3-4978-D6B5710B54F5}"/>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F44B797-557C-90C4-8AF6-5AA4F24F4CDA}"/>
              </a:ext>
            </a:extLst>
          </p:cNvPr>
          <p:cNvSpPr/>
          <p:nvPr/>
        </p:nvSpPr>
        <p:spPr>
          <a:xfrm>
            <a:off x="4799856" y="1590991"/>
            <a:ext cx="7056784" cy="1533209"/>
          </a:xfrm>
          <a:prstGeom prst="roundRect">
            <a:avLst>
              <a:gd name="adj" fmla="val 73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600"/>
              </a:spcBef>
              <a:spcAft>
                <a:spcPts val="0"/>
              </a:spcAft>
              <a:buClr>
                <a:srgbClr val="0070C0"/>
              </a:buClr>
              <a:buSzTx/>
              <a:tabLst/>
              <a:defRPr/>
            </a:pP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Context:</a:t>
            </a:r>
          </a:p>
          <a:p>
            <a:pPr marL="171450" marR="0" lvl="0" indent="-171450" algn="l" defTabSz="914400" rtl="0" eaLnBrk="1" fontAlgn="auto" latinLnBrk="0" hangingPunct="1">
              <a:lnSpc>
                <a:spcPct val="100000"/>
              </a:lnSpc>
              <a:spcBef>
                <a:spcPts val="600"/>
              </a:spcBef>
              <a:spcAft>
                <a:spcPts val="0"/>
              </a:spcAft>
              <a:buClr>
                <a:srgbClr val="0070C0"/>
              </a:buClr>
              <a:buSzTx/>
              <a:buFont typeface="Wingdings" panose="05000000000000000000" pitchFamily="2" charset="2"/>
              <a:buChar char="§"/>
              <a:tabLst/>
              <a:defRPr/>
            </a:pP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The aim of the project was to understand current pain points that were not allowing the </a:t>
            </a:r>
            <a:r>
              <a:rPr kumimoji="0" lang="en-AU" sz="900" b="0" i="0" u="none" strike="noStrike" kern="0" cap="none" spc="0" normalizeH="0" baseline="0" noProof="0" dirty="0" err="1">
                <a:ln>
                  <a:noFill/>
                </a:ln>
                <a:solidFill>
                  <a:srgbClr val="000000"/>
                </a:solidFill>
                <a:effectLst/>
                <a:uLnTx/>
                <a:uFillTx/>
                <a:latin typeface="Ubuntu" panose="020B0504030602030204" pitchFamily="34" charset="0"/>
                <a:ea typeface="+mn-ea"/>
                <a:cs typeface="+mn-cs"/>
              </a:rPr>
              <a:t>LatAm</a:t>
            </a: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 GBS operational teams to effectively execute the Planning Processes while best practices are identified to be replicated in the company’s Global design</a:t>
            </a:r>
          </a:p>
          <a:p>
            <a:pPr marR="0" lvl="0" algn="l" defTabSz="914400" rtl="0" eaLnBrk="1" fontAlgn="auto" latinLnBrk="0" hangingPunct="1">
              <a:lnSpc>
                <a:spcPct val="100000"/>
              </a:lnSpc>
              <a:spcBef>
                <a:spcPts val="600"/>
              </a:spcBef>
              <a:spcAft>
                <a:spcPts val="0"/>
              </a:spcAft>
              <a:buClr>
                <a:srgbClr val="0070C0"/>
              </a:buClr>
              <a:buSzTx/>
              <a:tabLst/>
              <a:defRPr/>
            </a:pPr>
            <a:r>
              <a:rPr lang="en-AU" sz="900" b="1" kern="0" noProof="0" dirty="0">
                <a:solidFill>
                  <a:srgbClr val="000000"/>
                </a:solidFill>
                <a:latin typeface="Ubuntu" panose="020B0504030602030204" pitchFamily="34" charset="0"/>
              </a:rPr>
              <a:t>Objectives:</a:t>
            </a:r>
          </a:p>
          <a:p>
            <a:pPr marL="171450" indent="-171450">
              <a:spcBef>
                <a:spcPts val="600"/>
              </a:spcBef>
              <a:buClr>
                <a:srgbClr val="0070C0"/>
              </a:buClr>
              <a:buFont typeface="Wingdings" panose="05000000000000000000" pitchFamily="2" charset="2"/>
              <a:buChar char="§"/>
              <a:defRPr/>
            </a:pPr>
            <a:r>
              <a:rPr lang="en-AU" sz="900" kern="0" noProof="0" dirty="0">
                <a:solidFill>
                  <a:srgbClr val="000000"/>
                </a:solidFill>
                <a:latin typeface="Ubuntu" panose="020B0504030602030204" pitchFamily="34" charset="0"/>
              </a:rPr>
              <a:t>Bring the operational implementation closer to the design </a:t>
            </a:r>
          </a:p>
          <a:p>
            <a:pPr marL="171450" indent="-171450">
              <a:spcBef>
                <a:spcPts val="600"/>
              </a:spcBef>
              <a:buClr>
                <a:srgbClr val="0070C0"/>
              </a:buClr>
              <a:buFont typeface="Wingdings" panose="05000000000000000000" pitchFamily="2" charset="2"/>
              <a:buChar char="§"/>
              <a:defRPr/>
            </a:pPr>
            <a:r>
              <a:rPr lang="en-AU" sz="900" kern="0" noProof="0" dirty="0">
                <a:solidFill>
                  <a:srgbClr val="000000"/>
                </a:solidFill>
                <a:latin typeface="Ubuntu" panose="020B0504030602030204" pitchFamily="34" charset="0"/>
              </a:rPr>
              <a:t>Improve the design of </a:t>
            </a:r>
            <a:r>
              <a:rPr lang="en-AU" sz="900" kern="0" noProof="0" dirty="0" err="1">
                <a:solidFill>
                  <a:srgbClr val="000000"/>
                </a:solidFill>
                <a:latin typeface="Ubuntu" panose="020B0504030602030204" pitchFamily="34" charset="0"/>
              </a:rPr>
              <a:t>LatAm</a:t>
            </a:r>
            <a:r>
              <a:rPr lang="en-AU" sz="900" kern="0" noProof="0" dirty="0">
                <a:solidFill>
                  <a:srgbClr val="000000"/>
                </a:solidFill>
                <a:latin typeface="Ubuntu" panose="020B0504030602030204" pitchFamily="34" charset="0"/>
              </a:rPr>
              <a:t> processes, adding activities not included or proposing new roles</a:t>
            </a:r>
          </a:p>
          <a:p>
            <a:pPr marL="171450" indent="-171450">
              <a:spcBef>
                <a:spcPts val="600"/>
              </a:spcBef>
              <a:buClr>
                <a:srgbClr val="0070C0"/>
              </a:buClr>
              <a:buFont typeface="Wingdings" panose="05000000000000000000" pitchFamily="2" charset="2"/>
              <a:buChar char="§"/>
              <a:defRPr/>
            </a:pPr>
            <a:r>
              <a:rPr lang="en-AU" sz="900" kern="0" noProof="0" dirty="0">
                <a:solidFill>
                  <a:srgbClr val="000000"/>
                </a:solidFill>
                <a:latin typeface="Ubuntu" panose="020B0504030602030204" pitchFamily="34" charset="0"/>
              </a:rPr>
              <a:t>Smooth </a:t>
            </a:r>
            <a:r>
              <a:rPr lang="en-AU" sz="900" kern="0" noProof="0" dirty="0" err="1">
                <a:solidFill>
                  <a:srgbClr val="000000"/>
                </a:solidFill>
                <a:latin typeface="Ubuntu" panose="020B0504030602030204" pitchFamily="34" charset="0"/>
              </a:rPr>
              <a:t>LatAm's</a:t>
            </a:r>
            <a:r>
              <a:rPr lang="en-AU" sz="900" kern="0" noProof="0" dirty="0">
                <a:solidFill>
                  <a:srgbClr val="000000"/>
                </a:solidFill>
                <a:latin typeface="Ubuntu" panose="020B0504030602030204" pitchFamily="34" charset="0"/>
              </a:rPr>
              <a:t> path to the global processes designed by the company</a:t>
            </a:r>
          </a:p>
          <a:p>
            <a:pPr marR="0" lvl="0" algn="l" defTabSz="914400" rtl="0" eaLnBrk="1" fontAlgn="auto" latinLnBrk="0" hangingPunct="1">
              <a:lnSpc>
                <a:spcPct val="100000"/>
              </a:lnSpc>
              <a:spcBef>
                <a:spcPts val="600"/>
              </a:spcBef>
              <a:spcAft>
                <a:spcPts val="0"/>
              </a:spcAft>
              <a:buClr>
                <a:srgbClr val="0070C0"/>
              </a:buClr>
              <a:buSzTx/>
              <a:tabLst/>
              <a:defRPr/>
            </a:pPr>
            <a:endPar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endParaRPr>
          </a:p>
        </p:txBody>
      </p:sp>
      <p:sp>
        <p:nvSpPr>
          <p:cNvPr id="8" name="Rectangle: Rounded Corners 7">
            <a:extLst>
              <a:ext uri="{FF2B5EF4-FFF2-40B4-BE49-F238E27FC236}">
                <a16:creationId xmlns:a16="http://schemas.microsoft.com/office/drawing/2014/main" id="{1016E5DA-BF89-6A9F-C31D-F3A5C5E7C473}"/>
              </a:ext>
            </a:extLst>
          </p:cNvPr>
          <p:cNvSpPr/>
          <p:nvPr/>
        </p:nvSpPr>
        <p:spPr>
          <a:xfrm>
            <a:off x="4799856" y="3461632"/>
            <a:ext cx="7056784" cy="1109088"/>
          </a:xfrm>
          <a:prstGeom prst="roundRect">
            <a:avLst>
              <a:gd name="adj" fmla="val 604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r>
              <a:rPr kumimoji="0" lang="en-AU" sz="90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Analysis of designed </a:t>
            </a: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processes</a:t>
            </a:r>
            <a:r>
              <a:rPr kumimoji="0" lang="en-AU" sz="90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 </a:t>
            </a: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technologies </a:t>
            </a:r>
            <a:r>
              <a:rPr kumimoji="0" lang="en-AU" sz="90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and </a:t>
            </a: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organization </a:t>
            </a:r>
            <a:r>
              <a:rPr kumimoji="0" lang="en-AU" sz="90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for several LATAM sites</a:t>
            </a:r>
          </a:p>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Compare current execution with the design, and identify </a:t>
            </a: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opportunities to bring execution closer to design</a:t>
            </a:r>
          </a:p>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Propose </a:t>
            </a: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additional improvements</a:t>
            </a: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 to the design performing Fit Gap analysis between Europe and </a:t>
            </a:r>
            <a:r>
              <a:rPr kumimoji="0" lang="en-AU" sz="900" b="0" i="0" u="none" strike="noStrike" kern="0" cap="none" spc="0" normalizeH="0" baseline="0" noProof="0" dirty="0" err="1">
                <a:ln>
                  <a:noFill/>
                </a:ln>
                <a:solidFill>
                  <a:srgbClr val="000000"/>
                </a:solidFill>
                <a:effectLst/>
                <a:uLnTx/>
                <a:uFillTx/>
                <a:latin typeface="Ubuntu" panose="020B0504030602030204" pitchFamily="34" charset="0"/>
                <a:ea typeface="+mn-ea"/>
                <a:cs typeface="+mn-cs"/>
              </a:rPr>
              <a:t>LatAm</a:t>
            </a: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 designs</a:t>
            </a:r>
          </a:p>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r>
              <a:rPr kumimoji="0" lang="en-AU" sz="900" b="0" i="0" u="none" strike="noStrike" kern="0" cap="none" spc="0" normalizeH="0" baseline="0" noProof="0" dirty="0" err="1">
                <a:ln>
                  <a:noFill/>
                </a:ln>
                <a:solidFill>
                  <a:srgbClr val="000000"/>
                </a:solidFill>
                <a:effectLst/>
                <a:uLnTx/>
                <a:uFillTx/>
                <a:latin typeface="Ubuntu" panose="020B0504030602030204" pitchFamily="34" charset="0"/>
                <a:ea typeface="+mn-ea"/>
                <a:cs typeface="+mn-cs"/>
              </a:rPr>
              <a:t>Analyze</a:t>
            </a: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 open </a:t>
            </a: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Change Requests &amp; current projects</a:t>
            </a: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 to identify if they can help resolve the previous findings</a:t>
            </a:r>
          </a:p>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r>
              <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rPr>
              <a:t>Consolidate, prioritize and propose the </a:t>
            </a:r>
            <a:r>
              <a:rPr kumimoji="0" lang="en-AU" sz="900" b="1" i="0" u="none" strike="noStrike" kern="0" cap="none" spc="0" normalizeH="0" baseline="0" noProof="0" dirty="0">
                <a:ln>
                  <a:noFill/>
                </a:ln>
                <a:solidFill>
                  <a:srgbClr val="000000"/>
                </a:solidFill>
                <a:effectLst/>
                <a:uLnTx/>
                <a:uFillTx/>
                <a:latin typeface="Ubuntu" panose="020B0504030602030204" pitchFamily="34" charset="0"/>
                <a:ea typeface="+mn-ea"/>
                <a:cs typeface="+mn-cs"/>
              </a:rPr>
              <a:t>initiatives that fit the best with the model</a:t>
            </a:r>
          </a:p>
          <a:p>
            <a:pPr>
              <a:spcBef>
                <a:spcPts val="600"/>
              </a:spcBef>
              <a:buClr>
                <a:schemeClr val="accent1"/>
              </a:buClr>
            </a:pPr>
            <a:endParaRPr lang="en-AU" sz="900" noProof="0" dirty="0">
              <a:solidFill>
                <a:schemeClr val="tx1"/>
              </a:solidFill>
            </a:endParaRPr>
          </a:p>
        </p:txBody>
      </p:sp>
      <p:sp>
        <p:nvSpPr>
          <p:cNvPr id="9" name="Rectangle: Rounded Corners 8">
            <a:extLst>
              <a:ext uri="{FF2B5EF4-FFF2-40B4-BE49-F238E27FC236}">
                <a16:creationId xmlns:a16="http://schemas.microsoft.com/office/drawing/2014/main" id="{47E993F5-2CF4-0EE9-FA8E-5550A5BC8DF3}"/>
              </a:ext>
            </a:extLst>
          </p:cNvPr>
          <p:cNvSpPr/>
          <p:nvPr/>
        </p:nvSpPr>
        <p:spPr>
          <a:xfrm>
            <a:off x="4799856" y="4864702"/>
            <a:ext cx="7056784" cy="1732745"/>
          </a:xfrm>
          <a:prstGeom prst="roundRect">
            <a:avLst>
              <a:gd name="adj" fmla="val 80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spcBef>
                <a:spcPts val="600"/>
              </a:spcBef>
              <a:buClr>
                <a:srgbClr val="0070C0"/>
              </a:buClr>
              <a:buFont typeface="Wingdings" panose="05000000000000000000" pitchFamily="2" charset="2"/>
              <a:buChar char="§"/>
            </a:pPr>
            <a:r>
              <a:rPr kumimoji="0" lang="en-AU" sz="900" i="0" u="none" strike="noStrike" kern="0" cap="none" spc="0" normalizeH="0" baseline="0" noProof="0">
                <a:ln>
                  <a:noFill/>
                </a:ln>
                <a:solidFill>
                  <a:srgbClr val="000000"/>
                </a:solidFill>
                <a:effectLst/>
                <a:uLnTx/>
                <a:uFillTx/>
                <a:latin typeface="Ubuntu" panose="020B0504030602030204" pitchFamily="34" charset="0"/>
                <a:ea typeface="+mn-ea"/>
                <a:cs typeface="+mn-cs"/>
              </a:rPr>
              <a:t>Design vs. execution assessment</a:t>
            </a:r>
          </a:p>
          <a:p>
            <a:pPr marL="171450" indent="-171450">
              <a:spcBef>
                <a:spcPts val="600"/>
              </a:spcBef>
              <a:buClr>
                <a:srgbClr val="0070C0"/>
              </a:buClr>
              <a:buFont typeface="Wingdings" panose="05000000000000000000" pitchFamily="2" charset="2"/>
              <a:buChar char="§"/>
            </a:pPr>
            <a:r>
              <a:rPr lang="en-AU" sz="900" kern="0" noProof="0">
                <a:solidFill>
                  <a:srgbClr val="000000"/>
                </a:solidFill>
                <a:latin typeface="Ubuntu" panose="020B0504030602030204" pitchFamily="34" charset="0"/>
              </a:rPr>
              <a:t>Design vs. execution initiatives</a:t>
            </a:r>
          </a:p>
          <a:p>
            <a:pPr marL="171450" indent="-171450">
              <a:spcBef>
                <a:spcPts val="600"/>
              </a:spcBef>
              <a:buClr>
                <a:srgbClr val="0070C0"/>
              </a:buClr>
              <a:buFont typeface="Wingdings" panose="05000000000000000000" pitchFamily="2" charset="2"/>
              <a:buChar char="§"/>
            </a:pPr>
            <a:r>
              <a:rPr kumimoji="0" lang="en-AU" sz="900" i="0" u="none" strike="noStrike" kern="0" cap="none" spc="0" normalizeH="0" baseline="0" noProof="0">
                <a:ln>
                  <a:noFill/>
                </a:ln>
                <a:solidFill>
                  <a:srgbClr val="000000"/>
                </a:solidFill>
                <a:effectLst/>
                <a:uLnTx/>
                <a:uFillTx/>
                <a:latin typeface="Ubuntu" panose="020B0504030602030204" pitchFamily="34" charset="0"/>
                <a:ea typeface="+mn-ea"/>
                <a:cs typeface="+mn-cs"/>
              </a:rPr>
              <a:t>Design vs. global template</a:t>
            </a:r>
          </a:p>
          <a:p>
            <a:pPr marL="171450" indent="-171450">
              <a:spcBef>
                <a:spcPts val="600"/>
              </a:spcBef>
              <a:buClr>
                <a:srgbClr val="0070C0"/>
              </a:buClr>
              <a:buFont typeface="Wingdings" panose="05000000000000000000" pitchFamily="2" charset="2"/>
              <a:buChar char="§"/>
            </a:pPr>
            <a:r>
              <a:rPr lang="en-AU" sz="900" kern="0" noProof="0">
                <a:solidFill>
                  <a:srgbClr val="000000"/>
                </a:solidFill>
                <a:latin typeface="Ubuntu" panose="020B0504030602030204" pitchFamily="34" charset="0"/>
              </a:rPr>
              <a:t>ESOAR</a:t>
            </a:r>
          </a:p>
          <a:p>
            <a:pPr marL="171450" indent="-171450">
              <a:spcBef>
                <a:spcPts val="600"/>
              </a:spcBef>
              <a:buClr>
                <a:srgbClr val="0070C0"/>
              </a:buClr>
              <a:buFont typeface="Wingdings" panose="05000000000000000000" pitchFamily="2" charset="2"/>
              <a:buChar char="§"/>
            </a:pPr>
            <a:r>
              <a:rPr kumimoji="0" lang="en-AU" sz="900" i="0" u="none" strike="noStrike" kern="0" cap="none" spc="0" normalizeH="0" baseline="0" noProof="0">
                <a:ln>
                  <a:noFill/>
                </a:ln>
                <a:solidFill>
                  <a:srgbClr val="000000"/>
                </a:solidFill>
                <a:effectLst/>
                <a:uLnTx/>
                <a:uFillTx/>
                <a:latin typeface="Ubuntu" panose="020B0504030602030204" pitchFamily="34" charset="0"/>
                <a:ea typeface="+mn-ea"/>
                <a:cs typeface="+mn-cs"/>
              </a:rPr>
              <a:t>As Is Organization and </a:t>
            </a:r>
            <a:r>
              <a:rPr lang="en-AU" sz="900" kern="0" noProof="0">
                <a:solidFill>
                  <a:srgbClr val="000000"/>
                </a:solidFill>
                <a:latin typeface="Ubuntu" panose="020B0504030602030204" pitchFamily="34" charset="0"/>
              </a:rPr>
              <a:t>opportunities assessment</a:t>
            </a:r>
          </a:p>
          <a:p>
            <a:pPr marL="171450" indent="-171450">
              <a:spcBef>
                <a:spcPts val="600"/>
              </a:spcBef>
              <a:buClr>
                <a:srgbClr val="0070C0"/>
              </a:buClr>
              <a:buFont typeface="Wingdings" panose="05000000000000000000" pitchFamily="2" charset="2"/>
              <a:buChar char="§"/>
            </a:pPr>
            <a:r>
              <a:rPr lang="en-AU" sz="900" kern="0" noProof="0">
                <a:solidFill>
                  <a:srgbClr val="000000"/>
                </a:solidFill>
                <a:latin typeface="Ubuntu" panose="020B0504030602030204" pitchFamily="34" charset="0"/>
              </a:rPr>
              <a:t>Opportunities prioritization</a:t>
            </a:r>
            <a:endParaRPr kumimoji="0" lang="en-AU" sz="900" i="0" u="none" strike="noStrike" kern="1200" cap="none" spc="0" normalizeH="0" baseline="0" noProof="0">
              <a:ln>
                <a:noFill/>
              </a:ln>
              <a:solidFill>
                <a:srgbClr val="000000"/>
              </a:solidFill>
              <a:effectLst/>
              <a:uLnTx/>
              <a:uFillTx/>
              <a:latin typeface="+mn-lt"/>
              <a:ea typeface="+mn-ea"/>
              <a:cs typeface="+mn-cs"/>
            </a:endParaRPr>
          </a:p>
          <a:p>
            <a:pPr>
              <a:spcBef>
                <a:spcPts val="600"/>
              </a:spcBef>
            </a:pPr>
            <a:endParaRPr lang="en-AU" sz="900" noProof="0">
              <a:solidFill>
                <a:schemeClr val="tx1"/>
              </a:solidFill>
            </a:endParaRPr>
          </a:p>
        </p:txBody>
      </p:sp>
      <p:sp>
        <p:nvSpPr>
          <p:cNvPr id="10" name="Rectangle 9">
            <a:extLst>
              <a:ext uri="{FF2B5EF4-FFF2-40B4-BE49-F238E27FC236}">
                <a16:creationId xmlns:a16="http://schemas.microsoft.com/office/drawing/2014/main" id="{ABB3D960-910F-F310-3E31-D4DE982C9D6D}"/>
              </a:ext>
            </a:extLst>
          </p:cNvPr>
          <p:cNvSpPr/>
          <p:nvPr/>
        </p:nvSpPr>
        <p:spPr>
          <a:xfrm>
            <a:off x="4799856" y="1292202"/>
            <a:ext cx="2165978" cy="307777"/>
          </a:xfrm>
          <a:prstGeom prst="rect">
            <a:avLst/>
          </a:prstGeom>
        </p:spPr>
        <p:txBody>
          <a:bodyPr wrap="none">
            <a:spAutoFit/>
          </a:bodyPr>
          <a:lstStyle/>
          <a:p>
            <a:r>
              <a:rPr lang="en-AU" sz="1400" b="1" noProof="0">
                <a:solidFill>
                  <a:schemeClr val="accent1"/>
                </a:solidFill>
              </a:rPr>
              <a:t>Context and objectives</a:t>
            </a:r>
          </a:p>
        </p:txBody>
      </p:sp>
      <p:sp>
        <p:nvSpPr>
          <p:cNvPr id="11" name="Rectangle 10">
            <a:extLst>
              <a:ext uri="{FF2B5EF4-FFF2-40B4-BE49-F238E27FC236}">
                <a16:creationId xmlns:a16="http://schemas.microsoft.com/office/drawing/2014/main" id="{7729CAA4-A152-CC7D-66A7-0CB50694DBCC}"/>
              </a:ext>
            </a:extLst>
          </p:cNvPr>
          <p:cNvSpPr/>
          <p:nvPr/>
        </p:nvSpPr>
        <p:spPr>
          <a:xfrm>
            <a:off x="4799856" y="3139119"/>
            <a:ext cx="906017" cy="307777"/>
          </a:xfrm>
          <a:prstGeom prst="rect">
            <a:avLst/>
          </a:prstGeom>
        </p:spPr>
        <p:txBody>
          <a:bodyPr wrap="none">
            <a:spAutoFit/>
          </a:bodyPr>
          <a:lstStyle/>
          <a:p>
            <a:r>
              <a:rPr lang="en-AU" sz="1400" b="1" noProof="0">
                <a:solidFill>
                  <a:schemeClr val="accent1"/>
                </a:solidFill>
              </a:rPr>
              <a:t>Solution</a:t>
            </a:r>
          </a:p>
        </p:txBody>
      </p:sp>
      <p:sp>
        <p:nvSpPr>
          <p:cNvPr id="12" name="Rectangle 11">
            <a:extLst>
              <a:ext uri="{FF2B5EF4-FFF2-40B4-BE49-F238E27FC236}">
                <a16:creationId xmlns:a16="http://schemas.microsoft.com/office/drawing/2014/main" id="{1ED58E58-006D-E636-A885-8FEDF31C9746}"/>
              </a:ext>
            </a:extLst>
          </p:cNvPr>
          <p:cNvSpPr/>
          <p:nvPr/>
        </p:nvSpPr>
        <p:spPr>
          <a:xfrm>
            <a:off x="4799856" y="4614283"/>
            <a:ext cx="1952779" cy="307777"/>
          </a:xfrm>
          <a:prstGeom prst="rect">
            <a:avLst/>
          </a:prstGeom>
        </p:spPr>
        <p:txBody>
          <a:bodyPr wrap="none">
            <a:spAutoFit/>
          </a:bodyPr>
          <a:lstStyle/>
          <a:p>
            <a:r>
              <a:rPr lang="en-AU" sz="1400" b="1" noProof="0">
                <a:solidFill>
                  <a:schemeClr val="accent1"/>
                </a:solidFill>
              </a:rPr>
              <a:t>Benefits and Results</a:t>
            </a:r>
          </a:p>
        </p:txBody>
      </p:sp>
      <p:sp>
        <p:nvSpPr>
          <p:cNvPr id="15" name="Rectangle 14">
            <a:extLst>
              <a:ext uri="{FF2B5EF4-FFF2-40B4-BE49-F238E27FC236}">
                <a16:creationId xmlns:a16="http://schemas.microsoft.com/office/drawing/2014/main" id="{69429C57-43F7-D3E3-C750-4FC4E90BB7A0}"/>
              </a:ext>
            </a:extLst>
          </p:cNvPr>
          <p:cNvSpPr/>
          <p:nvPr/>
        </p:nvSpPr>
        <p:spPr>
          <a:xfrm>
            <a:off x="0" y="0"/>
            <a:ext cx="4571206" cy="424932"/>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16" name="Rectangle 15">
            <a:extLst>
              <a:ext uri="{FF2B5EF4-FFF2-40B4-BE49-F238E27FC236}">
                <a16:creationId xmlns:a16="http://schemas.microsoft.com/office/drawing/2014/main" id="{CEF5CA98-5CB0-813B-4439-97C2607373E5}"/>
              </a:ext>
            </a:extLst>
          </p:cNvPr>
          <p:cNvSpPr/>
          <p:nvPr/>
        </p:nvSpPr>
        <p:spPr>
          <a:xfrm>
            <a:off x="113051"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6E45AD"/>
                </a:solidFill>
                <a:effectLst/>
                <a:uLnTx/>
                <a:uFillTx/>
                <a:latin typeface="Ubuntu" panose="020B0504030602030204" pitchFamily="34" charset="0"/>
                <a:ea typeface="+mn-ea"/>
                <a:cs typeface="+mn-cs"/>
              </a:rPr>
              <a:t>CPRD</a:t>
            </a:r>
          </a:p>
        </p:txBody>
      </p:sp>
      <p:cxnSp>
        <p:nvCxnSpPr>
          <p:cNvPr id="17" name="Straight Connector 16">
            <a:extLst>
              <a:ext uri="{FF2B5EF4-FFF2-40B4-BE49-F238E27FC236}">
                <a16:creationId xmlns:a16="http://schemas.microsoft.com/office/drawing/2014/main" id="{EE78804C-DF90-4C16-145D-1126EF91EF36}"/>
              </a:ext>
            </a:extLst>
          </p:cNvPr>
          <p:cNvCxnSpPr/>
          <p:nvPr/>
        </p:nvCxnSpPr>
        <p:spPr>
          <a:xfrm>
            <a:off x="113051" y="415306"/>
            <a:ext cx="2160000" cy="0"/>
          </a:xfrm>
          <a:prstGeom prst="line">
            <a:avLst/>
          </a:prstGeom>
          <a:noFill/>
          <a:ln w="25400" cap="flat">
            <a:solidFill>
              <a:srgbClr val="6E45AD"/>
            </a:solidFill>
            <a:prstDash val="solid"/>
            <a:round/>
          </a:ln>
          <a:effectLst/>
          <a:sp3d/>
        </p:spPr>
        <p:style>
          <a:lnRef idx="0">
            <a:scrgbClr r="0" g="0" b="0"/>
          </a:lnRef>
          <a:fillRef idx="0">
            <a:scrgbClr r="0" g="0" b="0"/>
          </a:fillRef>
          <a:effectRef idx="0">
            <a:scrgbClr r="0" g="0" b="0"/>
          </a:effectRef>
          <a:fontRef idx="none"/>
        </p:style>
      </p:cxnSp>
      <p:sp>
        <p:nvSpPr>
          <p:cNvPr id="18" name="Rectangle 17">
            <a:extLst>
              <a:ext uri="{FF2B5EF4-FFF2-40B4-BE49-F238E27FC236}">
                <a16:creationId xmlns:a16="http://schemas.microsoft.com/office/drawing/2014/main" id="{D66764E2-F00A-F66B-0228-693F8CA7BDED}"/>
              </a:ext>
            </a:extLst>
          </p:cNvPr>
          <p:cNvSpPr/>
          <p:nvPr/>
        </p:nvSpPr>
        <p:spPr>
          <a:xfrm>
            <a:off x="2306319"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400" b="1" noProof="0">
                <a:solidFill>
                  <a:srgbClr val="274C6C"/>
                </a:solidFill>
                <a:latin typeface="Ubuntu" panose="020B0504030602030204" pitchFamily="34" charset="0"/>
              </a:rPr>
              <a:t>Planning</a:t>
            </a:r>
            <a:endParaRPr kumimoji="0" lang="en-AU" sz="1400" b="1" i="0" u="none" strike="noStrike" kern="1200" cap="none" spc="0" normalizeH="0" baseline="0" noProof="0">
              <a:ln>
                <a:noFill/>
              </a:ln>
              <a:solidFill>
                <a:srgbClr val="274C6C"/>
              </a:solidFill>
              <a:effectLst/>
              <a:uLnTx/>
              <a:uFillTx/>
              <a:latin typeface="Ubuntu" panose="020B0504030602030204" pitchFamily="34" charset="0"/>
              <a:ea typeface="+mn-ea"/>
              <a:cs typeface="+mn-cs"/>
            </a:endParaRPr>
          </a:p>
        </p:txBody>
      </p:sp>
      <p:cxnSp>
        <p:nvCxnSpPr>
          <p:cNvPr id="19" name="Straight Connector 18">
            <a:extLst>
              <a:ext uri="{FF2B5EF4-FFF2-40B4-BE49-F238E27FC236}">
                <a16:creationId xmlns:a16="http://schemas.microsoft.com/office/drawing/2014/main" id="{ADFB6B31-0CC4-56DE-DD47-8AA07454D382}"/>
              </a:ext>
            </a:extLst>
          </p:cNvPr>
          <p:cNvCxnSpPr>
            <a:cxnSpLocks/>
          </p:cNvCxnSpPr>
          <p:nvPr/>
        </p:nvCxnSpPr>
        <p:spPr>
          <a:xfrm>
            <a:off x="2306319" y="415306"/>
            <a:ext cx="2160000" cy="0"/>
          </a:xfrm>
          <a:prstGeom prst="line">
            <a:avLst/>
          </a:prstGeom>
          <a:noFill/>
          <a:ln w="25400" cap="flat">
            <a:solidFill>
              <a:srgbClr val="274C6C"/>
            </a:solidFill>
            <a:prstDash val="solid"/>
            <a:round/>
          </a:ln>
          <a:effectLst/>
          <a:sp3d/>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A6A81E66-1A57-86A8-A85D-084B316D088A}"/>
              </a:ext>
            </a:extLst>
          </p:cNvPr>
          <p:cNvCxnSpPr>
            <a:cxnSpLocks/>
          </p:cNvCxnSpPr>
          <p:nvPr/>
        </p:nvCxnSpPr>
        <p:spPr>
          <a:xfrm flipV="1">
            <a:off x="2289383" y="3231"/>
            <a:ext cx="0" cy="415305"/>
          </a:xfrm>
          <a:prstGeom prst="line">
            <a:avLst/>
          </a:prstGeom>
          <a:noFill/>
          <a:ln w="25400" cap="flat">
            <a:solidFill>
              <a:schemeClr val="bg1">
                <a:lumMod val="75000"/>
              </a:schemeClr>
            </a:solidFill>
            <a:prstDash val="solid"/>
            <a:round/>
          </a:ln>
          <a:effectLst/>
          <a:sp3d/>
        </p:spPr>
        <p:style>
          <a:lnRef idx="0">
            <a:scrgbClr r="0" g="0" b="0"/>
          </a:lnRef>
          <a:fillRef idx="0">
            <a:scrgbClr r="0" g="0" b="0"/>
          </a:fillRef>
          <a:effectRef idx="0">
            <a:scrgbClr r="0" g="0" b="0"/>
          </a:effectRef>
          <a:fontRef idx="none"/>
        </p:style>
      </p:cxnSp>
      <p:sp>
        <p:nvSpPr>
          <p:cNvPr id="25" name="Rectangle: Rounded Corners 24">
            <a:extLst>
              <a:ext uri="{FF2B5EF4-FFF2-40B4-BE49-F238E27FC236}">
                <a16:creationId xmlns:a16="http://schemas.microsoft.com/office/drawing/2014/main" id="{5BC8B048-49F9-3203-C7DF-68C45856D485}"/>
              </a:ext>
            </a:extLst>
          </p:cNvPr>
          <p:cNvSpPr/>
          <p:nvPr/>
        </p:nvSpPr>
        <p:spPr>
          <a:xfrm>
            <a:off x="7279990" y="210884"/>
            <a:ext cx="3972210" cy="841851"/>
          </a:xfrm>
          <a:prstGeom prst="roundRect">
            <a:avLst/>
          </a:prstGeom>
          <a:solidFill>
            <a:srgbClr val="0070AD">
              <a:alpha val="1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900" b="1" noProof="0">
                <a:solidFill>
                  <a:schemeClr val="accent1"/>
                </a:solidFill>
              </a:rPr>
              <a:t>$70 billion revenue (2020) </a:t>
            </a:r>
          </a:p>
          <a:p>
            <a:r>
              <a:rPr lang="en-AU" sz="900" b="1" noProof="0">
                <a:solidFill>
                  <a:schemeClr val="accent1"/>
                </a:solidFill>
              </a:rPr>
              <a:t>291,000 employees (2020)</a:t>
            </a:r>
            <a:endParaRPr lang="en-AU" sz="900" noProof="0">
              <a:solidFill>
                <a:schemeClr val="accent1"/>
              </a:solidFill>
            </a:endParaRPr>
          </a:p>
          <a:p>
            <a:r>
              <a:rPr lang="en-AU" sz="900" b="1" noProof="0">
                <a:solidFill>
                  <a:schemeClr val="accent1"/>
                </a:solidFill>
              </a:rPr>
              <a:t>Markets: </a:t>
            </a:r>
            <a:r>
              <a:rPr lang="en-AU" sz="900" noProof="0">
                <a:solidFill>
                  <a:schemeClr val="accent1"/>
                </a:solidFill>
              </a:rPr>
              <a:t>Seven regions globally </a:t>
            </a:r>
            <a:r>
              <a:rPr lang="en-AU" sz="900" noProof="0">
                <a:solidFill>
                  <a:schemeClr val="accent1"/>
                </a:solidFill>
                <a:sym typeface="Wingdings" panose="05000000000000000000" pitchFamily="2" charset="2"/>
              </a:rPr>
              <a:t> </a:t>
            </a:r>
            <a:r>
              <a:rPr lang="en-AU" sz="900" noProof="0">
                <a:solidFill>
                  <a:schemeClr val="accent1"/>
                </a:solidFill>
              </a:rPr>
              <a:t>North America (NA), Frito-Lay (NA), Quaker (NA), Latin America, Europe, Africa, Middle East and South Asia, Australia/New Zealand and Greater China</a:t>
            </a:r>
          </a:p>
          <a:p>
            <a:r>
              <a:rPr lang="en-AU" sz="900" b="1" noProof="0">
                <a:solidFill>
                  <a:schemeClr val="accent1"/>
                </a:solidFill>
              </a:rPr>
              <a:t>Products: </a:t>
            </a:r>
            <a:r>
              <a:rPr lang="en-AU" sz="900" noProof="0">
                <a:solidFill>
                  <a:schemeClr val="accent1"/>
                </a:solidFill>
              </a:rPr>
              <a:t>Snacks, Cereals, Beverages, Juices</a:t>
            </a:r>
          </a:p>
        </p:txBody>
      </p:sp>
      <p:pic>
        <p:nvPicPr>
          <p:cNvPr id="2" name="Picture 1" descr="Grocery store produce section">
            <a:extLst>
              <a:ext uri="{FF2B5EF4-FFF2-40B4-BE49-F238E27FC236}">
                <a16:creationId xmlns:a16="http://schemas.microsoft.com/office/drawing/2014/main" id="{28C316A8-3925-D462-B490-255B7C0233FB}"/>
              </a:ext>
            </a:extLst>
          </p:cNvPr>
          <p:cNvPicPr>
            <a:picLocks noChangeAspect="1"/>
          </p:cNvPicPr>
          <p:nvPr/>
        </p:nvPicPr>
        <p:blipFill>
          <a:blip r:embed="rId2"/>
          <a:srcRect/>
          <a:stretch/>
        </p:blipFill>
        <p:spPr>
          <a:xfrm>
            <a:off x="0" y="434556"/>
            <a:ext cx="4466319" cy="6423444"/>
          </a:xfrm>
          <a:prstGeom prst="rect">
            <a:avLst/>
          </a:prstGeom>
        </p:spPr>
      </p:pic>
    </p:spTree>
    <p:extLst>
      <p:ext uri="{BB962C8B-B14F-4D97-AF65-F5344CB8AC3E}">
        <p14:creationId xmlns:p14="http://schemas.microsoft.com/office/powerpoint/2010/main" val="756864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9CBC4-4436-0E99-2862-A79B82ED5909}"/>
            </a:ext>
          </a:extLst>
        </p:cNvPr>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562D40DF-04F5-12CF-D795-776436D4F822}"/>
              </a:ext>
            </a:extLst>
          </p:cNvPr>
          <p:cNvSpPr/>
          <p:nvPr/>
        </p:nvSpPr>
        <p:spPr>
          <a:xfrm>
            <a:off x="4799856" y="1375003"/>
            <a:ext cx="7056784" cy="1662109"/>
          </a:xfrm>
          <a:prstGeom prst="roundRect">
            <a:avLst>
              <a:gd name="adj" fmla="val 73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buClr>
                <a:srgbClr val="0070AD"/>
              </a:buClr>
              <a:defRPr/>
            </a:pPr>
            <a:r>
              <a:rPr lang="en-AU" sz="900" b="1" dirty="0">
                <a:solidFill>
                  <a:schemeClr val="tx1"/>
                </a:solidFill>
                <a:ea typeface="+mn-lt"/>
                <a:cs typeface="+mn-lt"/>
              </a:rPr>
              <a:t>Context:</a:t>
            </a:r>
          </a:p>
          <a:p>
            <a:pPr marL="171450" indent="-171450">
              <a:buClr>
                <a:srgbClr val="0070AD"/>
              </a:buClr>
              <a:buFont typeface="Wingdings"/>
              <a:buChar char="§"/>
              <a:defRPr/>
            </a:pPr>
            <a:r>
              <a:rPr lang="en-AU" sz="900" dirty="0">
                <a:solidFill>
                  <a:schemeClr val="tx1"/>
                </a:solidFill>
                <a:ea typeface="+mn-lt"/>
                <a:cs typeface="+mn-lt"/>
              </a:rPr>
              <a:t>The group’s premium positioning </a:t>
            </a:r>
            <a:r>
              <a:rPr kumimoji="0" lang="en-AU" sz="900" b="0" i="0" u="none" strike="noStrike" kern="1200" cap="none" spc="0" normalizeH="0" baseline="0" noProof="0" dirty="0">
                <a:ln>
                  <a:noFill/>
                </a:ln>
                <a:solidFill>
                  <a:schemeClr val="tx1"/>
                </a:solidFill>
                <a:effectLst/>
                <a:uLnTx/>
                <a:uFillTx/>
                <a:ea typeface="+mn-lt"/>
                <a:cs typeface="+mn-lt"/>
              </a:rPr>
              <a:t>has </a:t>
            </a:r>
            <a:r>
              <a:rPr lang="en-AU" sz="900" dirty="0">
                <a:solidFill>
                  <a:schemeClr val="tx1"/>
                </a:solidFill>
                <a:ea typeface="+mn-lt"/>
                <a:cs typeface="+mn-lt"/>
              </a:rPr>
              <a:t>led to </a:t>
            </a:r>
            <a:r>
              <a:rPr kumimoji="0" lang="en-AU" sz="900" b="0" i="0" u="none" strike="noStrike" kern="1200" cap="none" spc="0" normalizeH="0" baseline="0" noProof="0" dirty="0">
                <a:ln>
                  <a:noFill/>
                </a:ln>
                <a:solidFill>
                  <a:schemeClr val="tx1"/>
                </a:solidFill>
                <a:effectLst/>
                <a:uLnTx/>
                <a:uFillTx/>
                <a:ea typeface="+mn-lt"/>
                <a:cs typeface="+mn-lt"/>
              </a:rPr>
              <a:t>a </a:t>
            </a:r>
            <a:r>
              <a:rPr lang="en-AU" sz="900" dirty="0">
                <a:solidFill>
                  <a:schemeClr val="tx1"/>
                </a:solidFill>
                <a:ea typeface="+mn-lt"/>
                <a:cs typeface="+mn-lt"/>
              </a:rPr>
              <a:t>growing share of seasonal products, increasing production complexity and the need </a:t>
            </a:r>
            <a:r>
              <a:rPr kumimoji="0" lang="en-AU" sz="900" b="0" i="0" u="none" strike="noStrike" kern="1200" cap="none" spc="0" normalizeH="0" baseline="0" noProof="0" dirty="0">
                <a:ln>
                  <a:noFill/>
                </a:ln>
                <a:solidFill>
                  <a:schemeClr val="tx1"/>
                </a:solidFill>
                <a:effectLst/>
                <a:uLnTx/>
                <a:uFillTx/>
                <a:ea typeface="+mn-lt"/>
                <a:cs typeface="+mn-lt"/>
              </a:rPr>
              <a:t>to </a:t>
            </a:r>
            <a:r>
              <a:rPr lang="en-AU" sz="900" dirty="0">
                <a:solidFill>
                  <a:schemeClr val="tx1"/>
                </a:solidFill>
                <a:ea typeface="+mn-lt"/>
                <a:cs typeface="+mn-lt"/>
              </a:rPr>
              <a:t>deliver </a:t>
            </a:r>
            <a:r>
              <a:rPr kumimoji="0" lang="en-AU" sz="900" b="0" i="0" u="none" strike="noStrike" kern="1200" cap="none" spc="0" normalizeH="0" baseline="0" noProof="0" dirty="0">
                <a:ln>
                  <a:noFill/>
                </a:ln>
                <a:solidFill>
                  <a:schemeClr val="tx1"/>
                </a:solidFill>
                <a:effectLst/>
                <a:uLnTx/>
                <a:uFillTx/>
                <a:ea typeface="+mn-lt"/>
                <a:cs typeface="+mn-lt"/>
              </a:rPr>
              <a:t>a </a:t>
            </a:r>
            <a:r>
              <a:rPr lang="en-AU" sz="900" dirty="0">
                <a:solidFill>
                  <a:schemeClr val="tx1"/>
                </a:solidFill>
                <a:ea typeface="+mn-lt"/>
                <a:cs typeface="+mn-lt"/>
              </a:rPr>
              <a:t>high-quality customer experience</a:t>
            </a:r>
            <a:r>
              <a:rPr kumimoji="0" lang="en-AU" sz="900" b="0" i="0" u="none" strike="noStrike" kern="1200" cap="none" spc="0" normalizeH="0" baseline="0" noProof="0" dirty="0">
                <a:ln>
                  <a:noFill/>
                </a:ln>
                <a:solidFill>
                  <a:schemeClr val="tx1"/>
                </a:solidFill>
                <a:effectLst/>
                <a:uLnTx/>
                <a:uFillTx/>
                <a:ea typeface="+mn-lt"/>
                <a:cs typeface="+mn-lt"/>
              </a:rPr>
              <a:t>.</a:t>
            </a:r>
            <a:endParaRPr lang="en-US" dirty="0">
              <a:solidFill>
                <a:schemeClr val="tx1"/>
              </a:solidFill>
              <a:ea typeface="+mn-lt"/>
              <a:cs typeface="+mn-lt"/>
            </a:endParaRPr>
          </a:p>
          <a:p>
            <a:pPr marL="171450" indent="-171450">
              <a:buClr>
                <a:srgbClr val="0070AD"/>
              </a:buClr>
              <a:buFont typeface="Wingdings"/>
              <a:buChar char="§"/>
              <a:defRPr/>
            </a:pPr>
            <a:r>
              <a:rPr lang="en-AU" sz="900" dirty="0">
                <a:solidFill>
                  <a:schemeClr val="tx1"/>
                </a:solidFill>
                <a:ea typeface="+mn-lt"/>
                <a:cs typeface="+mn-lt"/>
              </a:rPr>
              <a:t>Challenges </a:t>
            </a:r>
            <a:r>
              <a:rPr kumimoji="0" lang="en-AU" sz="900" b="0" i="0" u="none" strike="noStrike" kern="1200" cap="none" spc="0" normalizeH="0" baseline="0" noProof="0" dirty="0">
                <a:ln>
                  <a:noFill/>
                </a:ln>
                <a:solidFill>
                  <a:schemeClr val="tx1"/>
                </a:solidFill>
                <a:effectLst/>
                <a:uLnTx/>
                <a:uFillTx/>
                <a:ea typeface="+mn-lt"/>
                <a:cs typeface="+mn-lt"/>
              </a:rPr>
              <a:t>in </a:t>
            </a:r>
            <a:r>
              <a:rPr lang="en-AU" sz="900" dirty="0">
                <a:solidFill>
                  <a:schemeClr val="tx1"/>
                </a:solidFill>
                <a:ea typeface="+mn-lt"/>
                <a:cs typeface="+mn-lt"/>
              </a:rPr>
              <a:t>balancing demand, capacity, and inventory due </a:t>
            </a:r>
            <a:r>
              <a:rPr kumimoji="0" lang="en-AU" sz="900" b="0" i="0" u="none" strike="noStrike" kern="1200" cap="none" spc="0" normalizeH="0" baseline="0" noProof="0" dirty="0">
                <a:ln>
                  <a:noFill/>
                </a:ln>
                <a:solidFill>
                  <a:schemeClr val="tx1"/>
                </a:solidFill>
                <a:effectLst/>
                <a:uLnTx/>
                <a:uFillTx/>
                <a:ea typeface="+mn-lt"/>
                <a:cs typeface="+mn-lt"/>
              </a:rPr>
              <a:t>to </a:t>
            </a:r>
            <a:r>
              <a:rPr lang="en-AU" sz="900" dirty="0">
                <a:solidFill>
                  <a:schemeClr val="tx1"/>
                </a:solidFill>
                <a:ea typeface="+mn-lt"/>
                <a:cs typeface="+mn-lt"/>
              </a:rPr>
              <a:t>real shortages</a:t>
            </a:r>
            <a:r>
              <a:rPr kumimoji="0" lang="en-AU" sz="900" b="0" i="0" u="none" strike="noStrike" kern="1200" cap="none" spc="0" normalizeH="0" baseline="0" noProof="0" dirty="0">
                <a:ln>
                  <a:noFill/>
                </a:ln>
                <a:solidFill>
                  <a:schemeClr val="tx1"/>
                </a:solidFill>
                <a:effectLst/>
                <a:uLnTx/>
                <a:uFillTx/>
                <a:ea typeface="+mn-lt"/>
                <a:cs typeface="+mn-lt"/>
              </a:rPr>
              <a:t>, </a:t>
            </a:r>
            <a:r>
              <a:rPr lang="en-AU" sz="900" dirty="0">
                <a:solidFill>
                  <a:schemeClr val="tx1"/>
                </a:solidFill>
                <a:ea typeface="+mn-lt"/>
                <a:cs typeface="+mn-lt"/>
              </a:rPr>
              <a:t>allocation issues</a:t>
            </a:r>
            <a:r>
              <a:rPr kumimoji="0" lang="en-AU" sz="900" b="0" i="0" u="none" strike="noStrike" kern="1200" cap="none" spc="0" normalizeH="0" baseline="0" noProof="0" dirty="0">
                <a:ln>
                  <a:noFill/>
                </a:ln>
                <a:solidFill>
                  <a:schemeClr val="tx1"/>
                </a:solidFill>
                <a:effectLst/>
                <a:uLnTx/>
                <a:uFillTx/>
                <a:ea typeface="+mn-lt"/>
                <a:cs typeface="+mn-lt"/>
              </a:rPr>
              <a:t>, and </a:t>
            </a:r>
            <a:r>
              <a:rPr lang="en-AU" sz="900" dirty="0">
                <a:solidFill>
                  <a:schemeClr val="tx1"/>
                </a:solidFill>
                <a:ea typeface="+mn-lt"/>
                <a:cs typeface="+mn-lt"/>
              </a:rPr>
              <a:t>uncertainty around new product launches.</a:t>
            </a:r>
            <a:endParaRPr lang="en-AU" dirty="0">
              <a:solidFill>
                <a:schemeClr val="tx1"/>
              </a:solidFill>
              <a:ea typeface="+mn-lt"/>
              <a:cs typeface="+mn-lt"/>
            </a:endParaRPr>
          </a:p>
          <a:p>
            <a:pPr marL="171450" indent="-171450">
              <a:buClr>
                <a:srgbClr val="0070AD"/>
              </a:buClr>
              <a:buFont typeface="Wingdings"/>
              <a:buChar char="§"/>
              <a:defRPr/>
            </a:pPr>
            <a:r>
              <a:rPr lang="en-AU" sz="900" dirty="0">
                <a:solidFill>
                  <a:schemeClr val="tx1"/>
                </a:solidFill>
                <a:ea typeface="+mn-lt"/>
                <a:cs typeface="+mn-lt"/>
              </a:rPr>
              <a:t>Lack </a:t>
            </a:r>
            <a:r>
              <a:rPr kumimoji="0" lang="en-AU" sz="900" b="0" i="0" u="none" strike="noStrike" kern="1200" cap="none" spc="0" normalizeH="0" baseline="0" noProof="0" dirty="0">
                <a:ln>
                  <a:noFill/>
                </a:ln>
                <a:solidFill>
                  <a:schemeClr val="tx1"/>
                </a:solidFill>
                <a:effectLst/>
                <a:uLnTx/>
                <a:uFillTx/>
                <a:ea typeface="+mn-lt"/>
                <a:cs typeface="+mn-lt"/>
              </a:rPr>
              <a:t>of </a:t>
            </a:r>
            <a:r>
              <a:rPr lang="en-AU" sz="900" dirty="0">
                <a:solidFill>
                  <a:schemeClr val="tx1"/>
                </a:solidFill>
                <a:ea typeface="+mn-lt"/>
                <a:cs typeface="+mn-lt"/>
              </a:rPr>
              <a:t>reliable historical data (REX) on past collections and commercial operations.</a:t>
            </a:r>
            <a:endParaRPr lang="en-AU" dirty="0">
              <a:solidFill>
                <a:schemeClr val="tx1"/>
              </a:solidFill>
              <a:ea typeface="+mn-lt"/>
              <a:cs typeface="+mn-lt"/>
            </a:endParaRPr>
          </a:p>
          <a:p>
            <a:pPr marL="171450" indent="-171450">
              <a:buClr>
                <a:srgbClr val="0070AD"/>
              </a:buClr>
              <a:buFont typeface="Wingdings"/>
              <a:buChar char="§"/>
              <a:defRPr/>
            </a:pPr>
            <a:r>
              <a:rPr lang="en-AU" sz="900" dirty="0">
                <a:solidFill>
                  <a:schemeClr val="tx1"/>
                </a:solidFill>
                <a:ea typeface="+mn-lt"/>
                <a:cs typeface="+mn-lt"/>
              </a:rPr>
              <a:t>Unclear governance between local, regional</a:t>
            </a:r>
            <a:r>
              <a:rPr kumimoji="0" lang="en-AU" sz="900" b="0" i="0" u="none" strike="noStrike" kern="1200" cap="none" spc="0" normalizeH="0" baseline="0" noProof="0" dirty="0">
                <a:ln>
                  <a:noFill/>
                </a:ln>
                <a:solidFill>
                  <a:schemeClr val="tx1"/>
                </a:solidFill>
                <a:effectLst/>
                <a:uLnTx/>
                <a:uFillTx/>
                <a:ea typeface="+mn-lt"/>
                <a:cs typeface="+mn-lt"/>
              </a:rPr>
              <a:t>, and </a:t>
            </a:r>
            <a:r>
              <a:rPr lang="en-AU" sz="900" dirty="0">
                <a:solidFill>
                  <a:schemeClr val="tx1"/>
                </a:solidFill>
                <a:ea typeface="+mn-lt"/>
                <a:cs typeface="+mn-lt"/>
              </a:rPr>
              <a:t>central teams for Supply Chain.</a:t>
            </a:r>
            <a:endParaRPr lang="en-AU" dirty="0">
              <a:solidFill>
                <a:schemeClr val="tx1"/>
              </a:solidFill>
              <a:ea typeface="+mn-lt"/>
              <a:cs typeface="+mn-lt"/>
            </a:endParaRPr>
          </a:p>
          <a:p>
            <a:pPr marL="171450" indent="-171450">
              <a:buClr>
                <a:srgbClr val="0070AD"/>
              </a:buClr>
              <a:buFont typeface="Wingdings"/>
              <a:buChar char="§"/>
              <a:defRPr/>
            </a:pPr>
            <a:r>
              <a:rPr kumimoji="0" lang="en-AU" sz="900" b="0" i="0" u="none" strike="noStrike" kern="1200" cap="none" spc="0" normalizeH="0" baseline="0" noProof="0" dirty="0">
                <a:ln>
                  <a:noFill/>
                </a:ln>
                <a:solidFill>
                  <a:schemeClr val="tx1"/>
                </a:solidFill>
                <a:effectLst/>
                <a:uLnTx/>
                <a:uFillTx/>
                <a:ea typeface="+mn-lt"/>
                <a:cs typeface="+mn-lt"/>
              </a:rPr>
              <a:t>Unreliable </a:t>
            </a:r>
            <a:r>
              <a:rPr lang="en-AU" sz="900" dirty="0">
                <a:solidFill>
                  <a:schemeClr val="tx1"/>
                </a:solidFill>
                <a:ea typeface="+mn-lt"/>
                <a:cs typeface="+mn-lt"/>
              </a:rPr>
              <a:t>operational indicators (e.g., MOQ, lead </a:t>
            </a:r>
            <a:r>
              <a:rPr kumimoji="0" lang="en-AU" sz="900" b="0" i="0" u="none" strike="noStrike" kern="1200" cap="none" spc="0" normalizeH="0" baseline="0" noProof="0" dirty="0">
                <a:ln>
                  <a:noFill/>
                </a:ln>
                <a:solidFill>
                  <a:schemeClr val="tx1"/>
                </a:solidFill>
                <a:effectLst/>
                <a:uLnTx/>
                <a:uFillTx/>
                <a:ea typeface="+mn-lt"/>
                <a:cs typeface="+mn-lt"/>
              </a:rPr>
              <a:t>times</a:t>
            </a:r>
            <a:r>
              <a:rPr lang="en-AU" sz="900" dirty="0">
                <a:solidFill>
                  <a:schemeClr val="tx1"/>
                </a:solidFill>
                <a:ea typeface="+mn-lt"/>
                <a:cs typeface="+mn-lt"/>
              </a:rPr>
              <a:t>).</a:t>
            </a:r>
            <a:endParaRPr lang="en-AU" dirty="0">
              <a:solidFill>
                <a:schemeClr val="tx1"/>
              </a:solidFill>
              <a:ea typeface="+mn-lt"/>
              <a:cs typeface="+mn-lt"/>
            </a:endParaRPr>
          </a:p>
          <a:p>
            <a:pPr marL="171450" indent="-171450">
              <a:buClr>
                <a:srgbClr val="0070AD"/>
              </a:buClr>
              <a:buFont typeface="Wingdings"/>
              <a:buChar char="§"/>
              <a:defRPr/>
            </a:pPr>
            <a:endParaRPr lang="en-AU" sz="900" dirty="0">
              <a:solidFill>
                <a:schemeClr val="tx1"/>
              </a:solidFill>
              <a:latin typeface="Ubuntu"/>
            </a:endParaRPr>
          </a:p>
          <a:p>
            <a:pPr>
              <a:buClr>
                <a:srgbClr val="0070AD"/>
              </a:buClr>
              <a:defRPr/>
            </a:pPr>
            <a:r>
              <a:rPr lang="en-AU" sz="900" b="1" dirty="0">
                <a:solidFill>
                  <a:schemeClr val="tx1"/>
                </a:solidFill>
                <a:latin typeface="Ubuntu"/>
              </a:rPr>
              <a:t>Objective:</a:t>
            </a:r>
            <a:r>
              <a:rPr lang="en-AU" sz="900" dirty="0">
                <a:solidFill>
                  <a:schemeClr val="tx1"/>
                </a:solidFill>
                <a:latin typeface="Ubuntu"/>
              </a:rPr>
              <a:t> </a:t>
            </a:r>
            <a:r>
              <a:rPr lang="en-AU" sz="900" dirty="0">
                <a:solidFill>
                  <a:schemeClr val="tx1"/>
                </a:solidFill>
                <a:ea typeface="+mn-lt"/>
                <a:cs typeface="+mn-lt"/>
              </a:rPr>
              <a:t>Design and implement an S&amp;OP process with defined meetings, agendas, templates, and KPIs.</a:t>
            </a:r>
            <a:endParaRPr lang="en-AU" sz="900" b="0" i="0" u="none" strike="noStrike" kern="1200" cap="none" spc="0" normalizeH="0" baseline="0" noProof="0" dirty="0">
              <a:ln>
                <a:noFill/>
              </a:ln>
              <a:solidFill>
                <a:schemeClr val="tx1"/>
              </a:solidFill>
              <a:effectLst/>
              <a:uLnTx/>
              <a:uFillTx/>
              <a:latin typeface="Ubuntu"/>
            </a:endParaRPr>
          </a:p>
          <a:p>
            <a:pPr marL="628650" lvl="1" indent="-171450">
              <a:buClr>
                <a:srgbClr val="0070AD"/>
              </a:buClr>
              <a:buFont typeface="Wingdings" panose="05000000000000000000" pitchFamily="2" charset="2"/>
              <a:buChar char="§"/>
              <a:defRPr/>
            </a:pPr>
            <a:endParaRPr lang="en-AU" sz="900" dirty="0">
              <a:solidFill>
                <a:schemeClr val="tx1"/>
              </a:solidFill>
              <a:latin typeface="Ubuntu"/>
            </a:endParaRPr>
          </a:p>
        </p:txBody>
      </p:sp>
      <p:sp>
        <p:nvSpPr>
          <p:cNvPr id="37" name="Rectangle: Rounded Corners 36">
            <a:extLst>
              <a:ext uri="{FF2B5EF4-FFF2-40B4-BE49-F238E27FC236}">
                <a16:creationId xmlns:a16="http://schemas.microsoft.com/office/drawing/2014/main" id="{CEA56A90-D4E0-BBC9-0780-4C9A624C55EA}"/>
              </a:ext>
            </a:extLst>
          </p:cNvPr>
          <p:cNvSpPr/>
          <p:nvPr/>
        </p:nvSpPr>
        <p:spPr>
          <a:xfrm>
            <a:off x="4799856" y="3355955"/>
            <a:ext cx="7056784" cy="1440000"/>
          </a:xfrm>
          <a:prstGeom prst="roundRect">
            <a:avLst>
              <a:gd name="adj" fmla="val 604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numCol="2" rtlCol="0" anchor="t"/>
          <a:lstStyle/>
          <a:p>
            <a:pPr>
              <a:buClr>
                <a:srgbClr val="0070AD"/>
              </a:buClr>
              <a:defRPr/>
            </a:pPr>
            <a:r>
              <a:rPr lang="en-AU" sz="900">
                <a:solidFill>
                  <a:schemeClr val="tx1"/>
                </a:solidFill>
                <a:latin typeface="Ubuntu"/>
              </a:rPr>
              <a:t>3 phases solution.</a:t>
            </a:r>
            <a:endParaRPr lang="en-US">
              <a:solidFill>
                <a:schemeClr val="tx1"/>
              </a:solidFill>
              <a:latin typeface="Ubuntu"/>
            </a:endParaRPr>
          </a:p>
          <a:p>
            <a:pPr marL="228600" indent="-228600">
              <a:buAutoNum type="arabicPeriod"/>
              <a:defRPr/>
            </a:pPr>
            <a:r>
              <a:rPr lang="en-AU" sz="900" b="1">
                <a:solidFill>
                  <a:schemeClr val="tx1"/>
                </a:solidFill>
                <a:latin typeface="Ubuntu"/>
              </a:rPr>
              <a:t>As-Is diagnosis</a:t>
            </a:r>
            <a:endParaRPr lang="en-AU" sz="900">
              <a:solidFill>
                <a:schemeClr val="tx1"/>
              </a:solidFill>
              <a:latin typeface="Ubuntu"/>
            </a:endParaRPr>
          </a:p>
          <a:p>
            <a:pPr>
              <a:defRPr/>
            </a:pPr>
            <a:r>
              <a:rPr lang="en-AU" sz="900">
                <a:solidFill>
                  <a:schemeClr val="tx1"/>
                </a:solidFill>
                <a:latin typeface="Ubuntu"/>
              </a:rPr>
              <a:t>Comprehensive</a:t>
            </a:r>
            <a:r>
              <a:rPr lang="en-AU" sz="900">
                <a:solidFill>
                  <a:schemeClr val="tx1"/>
                </a:solidFill>
                <a:ea typeface="+mn-lt"/>
                <a:cs typeface="+mn-lt"/>
              </a:rPr>
              <a:t> As-Is analysis of demand and supply planning processes, production platforms, markets, distribution, and finance.</a:t>
            </a:r>
            <a:endParaRPr lang="en-AU" sz="900" b="0" i="0" u="none" strike="noStrike" kern="1200" cap="none" spc="0" normalizeH="0" baseline="0" noProof="0">
              <a:ln>
                <a:noFill/>
              </a:ln>
              <a:solidFill>
                <a:schemeClr val="tx1"/>
              </a:solidFill>
              <a:effectLst/>
              <a:uLnTx/>
              <a:uFillTx/>
              <a:latin typeface="Ubuntu"/>
            </a:endParaRPr>
          </a:p>
          <a:p>
            <a:pPr>
              <a:defRPr/>
            </a:pPr>
            <a:r>
              <a:rPr lang="en-AU" sz="900" b="1">
                <a:solidFill>
                  <a:schemeClr val="tx1"/>
                </a:solidFill>
                <a:latin typeface="Ubuntu"/>
              </a:rPr>
              <a:t>2.     To- be definition</a:t>
            </a:r>
          </a:p>
          <a:p>
            <a:pPr>
              <a:defRPr/>
            </a:pPr>
            <a:r>
              <a:rPr lang="en-AU" sz="900">
                <a:solidFill>
                  <a:schemeClr val="tx1"/>
                </a:solidFill>
                <a:latin typeface="Ubuntu"/>
              </a:rPr>
              <a:t>Full</a:t>
            </a:r>
            <a:r>
              <a:rPr lang="en-AU" sz="900">
                <a:solidFill>
                  <a:schemeClr val="tx1"/>
                </a:solidFill>
                <a:ea typeface="+mn-lt"/>
                <a:cs typeface="+mn-lt"/>
              </a:rPr>
              <a:t> design of new processes, tools, and organization for S&amp;OP.</a:t>
            </a:r>
            <a:endParaRPr lang="en-AU" sz="900">
              <a:solidFill>
                <a:schemeClr val="tx1"/>
              </a:solidFill>
              <a:latin typeface="Ubuntu"/>
            </a:endParaRPr>
          </a:p>
          <a:p>
            <a:pPr>
              <a:defRPr/>
            </a:pPr>
            <a:r>
              <a:rPr lang="en-AU" sz="900">
                <a:solidFill>
                  <a:schemeClr val="tx1"/>
                </a:solidFill>
                <a:ea typeface="+mn-lt"/>
                <a:cs typeface="+mn-lt"/>
              </a:rPr>
              <a:t>Development of templates and KPIs based on updated supply data.</a:t>
            </a:r>
            <a:endParaRPr lang="en-AU">
              <a:solidFill>
                <a:schemeClr val="tx1"/>
              </a:solidFill>
            </a:endParaRPr>
          </a:p>
          <a:p>
            <a:pPr>
              <a:defRPr/>
            </a:pPr>
            <a:r>
              <a:rPr lang="en-AU" sz="900" b="1">
                <a:solidFill>
                  <a:schemeClr val="tx1"/>
                </a:solidFill>
                <a:latin typeface="Ubuntu"/>
              </a:rPr>
              <a:t>3.     Dry Run</a:t>
            </a:r>
            <a:br>
              <a:rPr lang="en-AU" sz="900">
                <a:solidFill>
                  <a:schemeClr val="tx1"/>
                </a:solidFill>
                <a:latin typeface="Ubuntu"/>
              </a:rPr>
            </a:br>
            <a:r>
              <a:rPr lang="en-AU" sz="900">
                <a:solidFill>
                  <a:schemeClr val="tx1"/>
                </a:solidFill>
                <a:ea typeface="+mn-lt"/>
                <a:cs typeface="+mn-lt"/>
              </a:rPr>
              <a:t>Workshops and pilot implementation on a limited scope.</a:t>
            </a:r>
            <a:endParaRPr lang="en-AU" sz="900">
              <a:solidFill>
                <a:schemeClr val="tx1"/>
              </a:solidFill>
              <a:latin typeface="Ubuntu"/>
            </a:endParaRPr>
          </a:p>
          <a:p>
            <a:pPr>
              <a:defRPr/>
            </a:pPr>
            <a:r>
              <a:rPr lang="en-AU" sz="900">
                <a:solidFill>
                  <a:schemeClr val="tx1"/>
                </a:solidFill>
                <a:ea typeface="+mn-lt"/>
                <a:cs typeface="+mn-lt"/>
              </a:rPr>
              <a:t>Action plan and deployment roadmap.</a:t>
            </a:r>
            <a:endParaRPr lang="en-AU">
              <a:solidFill>
                <a:schemeClr val="tx1"/>
              </a:solidFill>
            </a:endParaRPr>
          </a:p>
          <a:p>
            <a:pPr>
              <a:buClr>
                <a:srgbClr val="0070AD"/>
              </a:buClr>
              <a:defRPr/>
            </a:pPr>
            <a:endParaRPr lang="en-AU" sz="900">
              <a:solidFill>
                <a:schemeClr val="tx1"/>
              </a:solidFill>
              <a:latin typeface="Ubuntu"/>
            </a:endParaRPr>
          </a:p>
        </p:txBody>
      </p:sp>
      <p:sp>
        <p:nvSpPr>
          <p:cNvPr id="40" name="Rectangle: Rounded Corners 39">
            <a:extLst>
              <a:ext uri="{FF2B5EF4-FFF2-40B4-BE49-F238E27FC236}">
                <a16:creationId xmlns:a16="http://schemas.microsoft.com/office/drawing/2014/main" id="{DC2B3978-5130-B008-DFE7-C24A6AAAEC13}"/>
              </a:ext>
            </a:extLst>
          </p:cNvPr>
          <p:cNvSpPr/>
          <p:nvPr/>
        </p:nvSpPr>
        <p:spPr>
          <a:xfrm>
            <a:off x="4799856" y="5229200"/>
            <a:ext cx="7056784" cy="1440000"/>
          </a:xfrm>
          <a:prstGeom prst="roundRect">
            <a:avLst>
              <a:gd name="adj" fmla="val 80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rgbClr val="0070AD"/>
              </a:buClr>
              <a:buFont typeface="Arial"/>
              <a:buChar char="•"/>
              <a:defRPr/>
            </a:pPr>
            <a:r>
              <a:rPr lang="en-AU" sz="900">
                <a:solidFill>
                  <a:schemeClr val="tx1"/>
                </a:solidFill>
                <a:ea typeface="+mn-lt"/>
                <a:cs typeface="+mn-lt"/>
              </a:rPr>
              <a:t>Creation </a:t>
            </a:r>
            <a:r>
              <a:rPr kumimoji="0" lang="en-AU" sz="900" b="0" i="0" u="none" strike="noStrike" kern="1200" cap="none" spc="0" normalizeH="0" baseline="0" noProof="0">
                <a:ln>
                  <a:noFill/>
                </a:ln>
                <a:solidFill>
                  <a:schemeClr val="tx1"/>
                </a:solidFill>
                <a:effectLst/>
                <a:uLnTx/>
                <a:uFillTx/>
                <a:ea typeface="+mn-lt"/>
                <a:cs typeface="+mn-lt"/>
              </a:rPr>
              <a:t>of </a:t>
            </a:r>
            <a:r>
              <a:rPr lang="en-AU" sz="900">
                <a:solidFill>
                  <a:schemeClr val="tx1"/>
                </a:solidFill>
                <a:ea typeface="+mn-lt"/>
                <a:cs typeface="+mn-lt"/>
              </a:rPr>
              <a:t>two structured S&amp;OP frameworks: strategic and operational</a:t>
            </a:r>
            <a:r>
              <a:rPr kumimoji="0" lang="en-AU" sz="900" b="0" i="0" u="none" strike="noStrike" kern="1200" cap="none" spc="0" normalizeH="0" baseline="0" noProof="0">
                <a:ln>
                  <a:noFill/>
                </a:ln>
                <a:solidFill>
                  <a:schemeClr val="tx1"/>
                </a:solidFill>
                <a:effectLst/>
                <a:uLnTx/>
                <a:uFillTx/>
                <a:ea typeface="+mn-lt"/>
                <a:cs typeface="+mn-lt"/>
              </a:rPr>
              <a:t>, </a:t>
            </a:r>
            <a:r>
              <a:rPr lang="en-AU" sz="900">
                <a:solidFill>
                  <a:schemeClr val="tx1"/>
                </a:solidFill>
                <a:ea typeface="+mn-lt"/>
                <a:cs typeface="+mn-lt"/>
              </a:rPr>
              <a:t>supported by a monthly sequenced process</a:t>
            </a:r>
            <a:r>
              <a:rPr kumimoji="0" lang="en-AU" sz="900" b="0" i="0" u="none" strike="noStrike" kern="1200" cap="none" spc="0" normalizeH="0" baseline="0" noProof="0">
                <a:ln>
                  <a:noFill/>
                </a:ln>
                <a:solidFill>
                  <a:schemeClr val="tx1"/>
                </a:solidFill>
                <a:effectLst/>
                <a:uLnTx/>
                <a:uFillTx/>
                <a:ea typeface="+mn-lt"/>
                <a:cs typeface="+mn-lt"/>
              </a:rPr>
              <a:t>.</a:t>
            </a:r>
            <a:endParaRPr lang="en-US" err="1">
              <a:solidFill>
                <a:schemeClr val="tx1"/>
              </a:solidFill>
              <a:ea typeface="+mn-lt"/>
              <a:cs typeface="+mn-lt"/>
            </a:endParaRPr>
          </a:p>
          <a:p>
            <a:pPr marL="171450" indent="-171450">
              <a:buClr>
                <a:srgbClr val="0070AD"/>
              </a:buClr>
              <a:buFont typeface="Arial"/>
              <a:buChar char="•"/>
              <a:defRPr/>
            </a:pPr>
            <a:r>
              <a:rPr lang="en-AU" sz="900">
                <a:solidFill>
                  <a:schemeClr val="tx1"/>
                </a:solidFill>
                <a:ea typeface="+mn-lt"/>
                <a:cs typeface="+mn-lt"/>
              </a:rPr>
              <a:t>Implementation of templates and KPIs for supply and demand reviews </a:t>
            </a:r>
            <a:r>
              <a:rPr kumimoji="0" lang="en-AU" sz="900" b="0" i="0" u="none" strike="noStrike" kern="1200" cap="none" spc="0" normalizeH="0" baseline="0" noProof="0">
                <a:ln>
                  <a:noFill/>
                </a:ln>
                <a:solidFill>
                  <a:schemeClr val="tx1"/>
                </a:solidFill>
                <a:effectLst/>
                <a:uLnTx/>
                <a:uFillTx/>
                <a:ea typeface="+mn-lt"/>
                <a:cs typeface="+mn-lt"/>
              </a:rPr>
              <a:t>to </a:t>
            </a:r>
            <a:r>
              <a:rPr lang="en-AU" sz="900">
                <a:solidFill>
                  <a:schemeClr val="tx1"/>
                </a:solidFill>
                <a:ea typeface="+mn-lt"/>
                <a:cs typeface="+mn-lt"/>
              </a:rPr>
              <a:t>monitor performance</a:t>
            </a:r>
            <a:r>
              <a:rPr kumimoji="0" lang="en-AU" sz="900" b="0" i="0" u="none" strike="noStrike" kern="1200" cap="none" spc="0" normalizeH="0" baseline="0" noProof="0">
                <a:ln>
                  <a:noFill/>
                </a:ln>
                <a:solidFill>
                  <a:schemeClr val="tx1"/>
                </a:solidFill>
                <a:effectLst/>
                <a:uLnTx/>
                <a:uFillTx/>
                <a:ea typeface="+mn-lt"/>
                <a:cs typeface="+mn-lt"/>
              </a:rPr>
              <a:t>.</a:t>
            </a:r>
            <a:endParaRPr lang="en-AU">
              <a:solidFill>
                <a:schemeClr val="tx1"/>
              </a:solidFill>
              <a:ea typeface="+mn-lt"/>
              <a:cs typeface="+mn-lt"/>
            </a:endParaRPr>
          </a:p>
          <a:p>
            <a:pPr marL="171450" indent="-171450">
              <a:buClr>
                <a:srgbClr val="0070AD"/>
              </a:buClr>
              <a:buFont typeface="Arial"/>
              <a:buChar char="•"/>
              <a:defRPr/>
            </a:pPr>
            <a:r>
              <a:rPr lang="en-AU" sz="900">
                <a:solidFill>
                  <a:schemeClr val="tx1"/>
                </a:solidFill>
                <a:ea typeface="+mn-lt"/>
                <a:cs typeface="+mn-lt"/>
              </a:rPr>
              <a:t>Clear RACI governance model and team onboarding for process adoption</a:t>
            </a:r>
            <a:r>
              <a:rPr kumimoji="0" lang="en-AU" sz="900" b="0" i="0" u="none" strike="noStrike" kern="1200" cap="none" spc="0" normalizeH="0" baseline="0" noProof="0">
                <a:ln>
                  <a:noFill/>
                </a:ln>
                <a:solidFill>
                  <a:schemeClr val="tx1"/>
                </a:solidFill>
                <a:effectLst/>
                <a:uLnTx/>
                <a:uFillTx/>
                <a:ea typeface="+mn-lt"/>
                <a:cs typeface="+mn-lt"/>
              </a:rPr>
              <a:t>.</a:t>
            </a:r>
            <a:endParaRPr lang="en-AU">
              <a:solidFill>
                <a:schemeClr val="tx1"/>
              </a:solidFill>
              <a:ea typeface="+mn-lt"/>
              <a:cs typeface="+mn-lt"/>
            </a:endParaRPr>
          </a:p>
          <a:p>
            <a:pPr>
              <a:buClr>
                <a:srgbClr val="0070AD"/>
              </a:buClr>
              <a:defRPr/>
            </a:pPr>
            <a:endParaRPr lang="en-AU"/>
          </a:p>
          <a:p>
            <a:pPr>
              <a:defRPr/>
            </a:pPr>
            <a:endParaRPr lang="en-AU"/>
          </a:p>
        </p:txBody>
      </p:sp>
      <p:sp>
        <p:nvSpPr>
          <p:cNvPr id="49" name="Rectangle 48">
            <a:extLst>
              <a:ext uri="{FF2B5EF4-FFF2-40B4-BE49-F238E27FC236}">
                <a16:creationId xmlns:a16="http://schemas.microsoft.com/office/drawing/2014/main" id="{607198D2-C07C-8808-C856-9D2C6622D7B3}"/>
              </a:ext>
            </a:extLst>
          </p:cNvPr>
          <p:cNvSpPr/>
          <p:nvPr/>
        </p:nvSpPr>
        <p:spPr>
          <a:xfrm>
            <a:off x="4799856" y="1088999"/>
            <a:ext cx="2165978"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Context and objectives</a:t>
            </a:r>
          </a:p>
        </p:txBody>
      </p:sp>
      <p:sp>
        <p:nvSpPr>
          <p:cNvPr id="57" name="Rectangle 56">
            <a:extLst>
              <a:ext uri="{FF2B5EF4-FFF2-40B4-BE49-F238E27FC236}">
                <a16:creationId xmlns:a16="http://schemas.microsoft.com/office/drawing/2014/main" id="{13E4013C-27D7-6361-54E2-0B3D0B8A412B}"/>
              </a:ext>
            </a:extLst>
          </p:cNvPr>
          <p:cNvSpPr/>
          <p:nvPr/>
        </p:nvSpPr>
        <p:spPr>
          <a:xfrm>
            <a:off x="4799856" y="2985445"/>
            <a:ext cx="906017"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Solution</a:t>
            </a:r>
          </a:p>
        </p:txBody>
      </p:sp>
      <p:sp>
        <p:nvSpPr>
          <p:cNvPr id="58" name="Rectangle 57">
            <a:extLst>
              <a:ext uri="{FF2B5EF4-FFF2-40B4-BE49-F238E27FC236}">
                <a16:creationId xmlns:a16="http://schemas.microsoft.com/office/drawing/2014/main" id="{028BE036-C956-B93D-65A8-46270D8BF05E}"/>
              </a:ext>
            </a:extLst>
          </p:cNvPr>
          <p:cNvSpPr/>
          <p:nvPr/>
        </p:nvSpPr>
        <p:spPr>
          <a:xfrm>
            <a:off x="4799856" y="4858688"/>
            <a:ext cx="1952779"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Benefits and Results</a:t>
            </a:r>
          </a:p>
        </p:txBody>
      </p:sp>
      <p:sp>
        <p:nvSpPr>
          <p:cNvPr id="71" name="Rectangle 70">
            <a:extLst>
              <a:ext uri="{FF2B5EF4-FFF2-40B4-BE49-F238E27FC236}">
                <a16:creationId xmlns:a16="http://schemas.microsoft.com/office/drawing/2014/main" id="{D11C112B-11CB-C68D-B189-4145A3E3025D}"/>
              </a:ext>
            </a:extLst>
          </p:cNvPr>
          <p:cNvSpPr/>
          <p:nvPr/>
        </p:nvSpPr>
        <p:spPr>
          <a:xfrm>
            <a:off x="0" y="0"/>
            <a:ext cx="4533899" cy="424932"/>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72" name="Rectangle 71">
            <a:extLst>
              <a:ext uri="{FF2B5EF4-FFF2-40B4-BE49-F238E27FC236}">
                <a16:creationId xmlns:a16="http://schemas.microsoft.com/office/drawing/2014/main" id="{BC3F7A7A-037A-EEB9-2549-F9945225CF1E}"/>
              </a:ext>
            </a:extLst>
          </p:cNvPr>
          <p:cNvSpPr/>
          <p:nvPr/>
        </p:nvSpPr>
        <p:spPr>
          <a:xfrm>
            <a:off x="113051"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6E45AD"/>
                </a:solidFill>
                <a:effectLst/>
                <a:uLnTx/>
                <a:uFillTx/>
                <a:latin typeface="Ubuntu" panose="020B0504030602030204" pitchFamily="34" charset="0"/>
                <a:ea typeface="+mn-ea"/>
                <a:cs typeface="+mn-cs"/>
              </a:rPr>
              <a:t>CPRD</a:t>
            </a:r>
          </a:p>
        </p:txBody>
      </p:sp>
      <p:cxnSp>
        <p:nvCxnSpPr>
          <p:cNvPr id="73" name="Straight Connector 72">
            <a:extLst>
              <a:ext uri="{FF2B5EF4-FFF2-40B4-BE49-F238E27FC236}">
                <a16:creationId xmlns:a16="http://schemas.microsoft.com/office/drawing/2014/main" id="{F40FA469-9A34-773C-1306-80651C0BED23}"/>
              </a:ext>
            </a:extLst>
          </p:cNvPr>
          <p:cNvCxnSpPr/>
          <p:nvPr/>
        </p:nvCxnSpPr>
        <p:spPr>
          <a:xfrm>
            <a:off x="113051" y="415306"/>
            <a:ext cx="2160000" cy="0"/>
          </a:xfrm>
          <a:prstGeom prst="line">
            <a:avLst/>
          </a:prstGeom>
          <a:noFill/>
          <a:ln w="25400" cap="flat">
            <a:solidFill>
              <a:srgbClr val="6E45AD"/>
            </a:solidFill>
            <a:prstDash val="solid"/>
            <a:round/>
          </a:ln>
          <a:effectLst/>
          <a:sp3d/>
        </p:spPr>
        <p:style>
          <a:lnRef idx="0">
            <a:scrgbClr r="0" g="0" b="0"/>
          </a:lnRef>
          <a:fillRef idx="0">
            <a:scrgbClr r="0" g="0" b="0"/>
          </a:fillRef>
          <a:effectRef idx="0">
            <a:scrgbClr r="0" g="0" b="0"/>
          </a:effectRef>
          <a:fontRef idx="none"/>
        </p:style>
      </p:cxnSp>
      <p:sp>
        <p:nvSpPr>
          <p:cNvPr id="74" name="Rectangle 73">
            <a:extLst>
              <a:ext uri="{FF2B5EF4-FFF2-40B4-BE49-F238E27FC236}">
                <a16:creationId xmlns:a16="http://schemas.microsoft.com/office/drawing/2014/main" id="{61E9BD0B-ED39-BA80-4E0B-9AE7EFFDD326}"/>
              </a:ext>
            </a:extLst>
          </p:cNvPr>
          <p:cNvSpPr/>
          <p:nvPr/>
        </p:nvSpPr>
        <p:spPr>
          <a:xfrm>
            <a:off x="2306319"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12ABDB"/>
                </a:solidFill>
                <a:effectLst/>
                <a:uLnTx/>
                <a:uFillTx/>
                <a:latin typeface="Ubuntu" panose="020B0504030602030204" pitchFamily="34" charset="0"/>
                <a:ea typeface="+mn-ea"/>
                <a:cs typeface="+mn-cs"/>
              </a:rPr>
              <a:t>Demand Planning</a:t>
            </a:r>
          </a:p>
        </p:txBody>
      </p:sp>
      <p:cxnSp>
        <p:nvCxnSpPr>
          <p:cNvPr id="75" name="Straight Connector 74">
            <a:extLst>
              <a:ext uri="{FF2B5EF4-FFF2-40B4-BE49-F238E27FC236}">
                <a16:creationId xmlns:a16="http://schemas.microsoft.com/office/drawing/2014/main" id="{0246F90F-CD44-2B66-DC44-9E235131D367}"/>
              </a:ext>
            </a:extLst>
          </p:cNvPr>
          <p:cNvCxnSpPr/>
          <p:nvPr/>
        </p:nvCxnSpPr>
        <p:spPr>
          <a:xfrm>
            <a:off x="2306319" y="415306"/>
            <a:ext cx="2160000" cy="0"/>
          </a:xfrm>
          <a:prstGeom prst="line">
            <a:avLst/>
          </a:prstGeom>
          <a:noFill/>
          <a:ln w="25400" cap="flat">
            <a:solidFill>
              <a:schemeClr val="accent2"/>
            </a:solidFill>
            <a:prstDash val="solid"/>
            <a:round/>
          </a:ln>
          <a:effectLst/>
          <a:sp3d/>
        </p:spPr>
        <p:style>
          <a:lnRef idx="0">
            <a:scrgbClr r="0" g="0" b="0"/>
          </a:lnRef>
          <a:fillRef idx="0">
            <a:scrgbClr r="0" g="0" b="0"/>
          </a:fillRef>
          <a:effectRef idx="0">
            <a:scrgbClr r="0" g="0" b="0"/>
          </a:effectRef>
          <a:fontRef idx="none"/>
        </p:style>
      </p:cxnSp>
      <p:cxnSp>
        <p:nvCxnSpPr>
          <p:cNvPr id="76" name="Straight Connector 75">
            <a:extLst>
              <a:ext uri="{FF2B5EF4-FFF2-40B4-BE49-F238E27FC236}">
                <a16:creationId xmlns:a16="http://schemas.microsoft.com/office/drawing/2014/main" id="{D69F7FFC-7386-F259-E01C-A83EE484DD32}"/>
              </a:ext>
            </a:extLst>
          </p:cNvPr>
          <p:cNvCxnSpPr>
            <a:cxnSpLocks/>
          </p:cNvCxnSpPr>
          <p:nvPr/>
        </p:nvCxnSpPr>
        <p:spPr>
          <a:xfrm flipV="1">
            <a:off x="2289383" y="3231"/>
            <a:ext cx="0" cy="415305"/>
          </a:xfrm>
          <a:prstGeom prst="line">
            <a:avLst/>
          </a:prstGeom>
          <a:noFill/>
          <a:ln w="25400" cap="flat">
            <a:solidFill>
              <a:schemeClr val="bg1">
                <a:lumMod val="75000"/>
              </a:schemeClr>
            </a:solidFill>
            <a:prstDash val="solid"/>
            <a:round/>
          </a:ln>
          <a:effectLst/>
          <a:sp3d/>
        </p:spPr>
        <p:style>
          <a:lnRef idx="0">
            <a:scrgbClr r="0" g="0" b="0"/>
          </a:lnRef>
          <a:fillRef idx="0">
            <a:scrgbClr r="0" g="0" b="0"/>
          </a:fillRef>
          <a:effectRef idx="0">
            <a:scrgbClr r="0" g="0" b="0"/>
          </a:effectRef>
          <a:fontRef idx="none"/>
        </p:style>
      </p:cxnSp>
      <p:pic>
        <p:nvPicPr>
          <p:cNvPr id="3" name="Picture 2" descr="A close-up of a chart&#10;&#10;AI-generated content may be incorrect.">
            <a:extLst>
              <a:ext uri="{FF2B5EF4-FFF2-40B4-BE49-F238E27FC236}">
                <a16:creationId xmlns:a16="http://schemas.microsoft.com/office/drawing/2014/main" id="{BC3F7D34-B4C5-68B3-DC0B-2A874F646367}"/>
              </a:ext>
            </a:extLst>
          </p:cNvPr>
          <p:cNvPicPr>
            <a:picLocks noChangeAspect="1"/>
          </p:cNvPicPr>
          <p:nvPr/>
        </p:nvPicPr>
        <p:blipFill>
          <a:blip r:embed="rId2"/>
          <a:stretch>
            <a:fillRect/>
          </a:stretch>
        </p:blipFill>
        <p:spPr>
          <a:xfrm>
            <a:off x="5130820" y="5775490"/>
            <a:ext cx="1287112" cy="789462"/>
          </a:xfrm>
          <a:prstGeom prst="rect">
            <a:avLst/>
          </a:prstGeom>
        </p:spPr>
      </p:pic>
      <p:pic>
        <p:nvPicPr>
          <p:cNvPr id="4" name="Picture 3">
            <a:extLst>
              <a:ext uri="{FF2B5EF4-FFF2-40B4-BE49-F238E27FC236}">
                <a16:creationId xmlns:a16="http://schemas.microsoft.com/office/drawing/2014/main" id="{CCD6577F-9FAB-FFA6-B98C-2DC247F24E72}"/>
              </a:ext>
            </a:extLst>
          </p:cNvPr>
          <p:cNvPicPr>
            <a:picLocks noChangeAspect="1"/>
          </p:cNvPicPr>
          <p:nvPr/>
        </p:nvPicPr>
        <p:blipFill>
          <a:blip r:embed="rId3"/>
          <a:stretch>
            <a:fillRect/>
          </a:stretch>
        </p:blipFill>
        <p:spPr>
          <a:xfrm>
            <a:off x="6495865" y="5775861"/>
            <a:ext cx="1367518" cy="78872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794E295-66A1-C717-9660-76A8C7A28BA7}"/>
              </a:ext>
            </a:extLst>
          </p:cNvPr>
          <p:cNvPicPr>
            <a:picLocks noChangeAspect="1"/>
          </p:cNvPicPr>
          <p:nvPr/>
        </p:nvPicPr>
        <p:blipFill>
          <a:blip r:embed="rId4"/>
          <a:stretch>
            <a:fillRect/>
          </a:stretch>
        </p:blipFill>
        <p:spPr>
          <a:xfrm>
            <a:off x="7941438" y="5771098"/>
            <a:ext cx="1524372" cy="778453"/>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03617B66-A05A-38B8-CE7F-9486D4E4914A}"/>
              </a:ext>
            </a:extLst>
          </p:cNvPr>
          <p:cNvPicPr>
            <a:picLocks noChangeAspect="1"/>
          </p:cNvPicPr>
          <p:nvPr/>
        </p:nvPicPr>
        <p:blipFill>
          <a:blip r:embed="rId5"/>
          <a:stretch>
            <a:fillRect/>
          </a:stretch>
        </p:blipFill>
        <p:spPr>
          <a:xfrm>
            <a:off x="9473603" y="5771098"/>
            <a:ext cx="1775238" cy="778453"/>
          </a:xfrm>
          <a:prstGeom prst="rect">
            <a:avLst/>
          </a:prstGeom>
        </p:spPr>
      </p:pic>
      <p:pic>
        <p:nvPicPr>
          <p:cNvPr id="2" name="Picture 1" descr="Grocery store produce section">
            <a:extLst>
              <a:ext uri="{FF2B5EF4-FFF2-40B4-BE49-F238E27FC236}">
                <a16:creationId xmlns:a16="http://schemas.microsoft.com/office/drawing/2014/main" id="{1EEBBBB6-7E0C-BD74-CA7D-E8B156BD7E7D}"/>
              </a:ext>
            </a:extLst>
          </p:cNvPr>
          <p:cNvPicPr>
            <a:picLocks noChangeAspect="1"/>
          </p:cNvPicPr>
          <p:nvPr/>
        </p:nvPicPr>
        <p:blipFill>
          <a:blip r:embed="rId6"/>
          <a:srcRect/>
          <a:stretch/>
        </p:blipFill>
        <p:spPr>
          <a:xfrm>
            <a:off x="0" y="434556"/>
            <a:ext cx="4466319" cy="6423444"/>
          </a:xfrm>
          <a:prstGeom prst="rect">
            <a:avLst/>
          </a:prstGeom>
        </p:spPr>
      </p:pic>
    </p:spTree>
    <p:extLst>
      <p:ext uri="{BB962C8B-B14F-4D97-AF65-F5344CB8AC3E}">
        <p14:creationId xmlns:p14="http://schemas.microsoft.com/office/powerpoint/2010/main" val="545717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BF32-E0BE-7E45-2648-B1961521FD36}"/>
            </a:ext>
          </a:extLst>
        </p:cNvPr>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3BCFF7BC-3C50-B6B7-629E-324573CAEB5C}"/>
              </a:ext>
            </a:extLst>
          </p:cNvPr>
          <p:cNvSpPr/>
          <p:nvPr/>
        </p:nvSpPr>
        <p:spPr>
          <a:xfrm>
            <a:off x="4799856" y="1375003"/>
            <a:ext cx="7056784" cy="1662109"/>
          </a:xfrm>
          <a:prstGeom prst="roundRect">
            <a:avLst>
              <a:gd name="adj" fmla="val 73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defRPr/>
            </a:pPr>
            <a:r>
              <a:rPr lang="en-AU" sz="900" b="1" dirty="0">
                <a:solidFill>
                  <a:schemeClr val="tx1"/>
                </a:solidFill>
                <a:latin typeface="Ubuntu"/>
              </a:rPr>
              <a:t>Context:</a:t>
            </a:r>
            <a:endParaRPr lang="en-AU" sz="900" dirty="0">
              <a:solidFill>
                <a:schemeClr val="tx1"/>
              </a:solidFill>
              <a:latin typeface="Ubuntu"/>
            </a:endParaRPr>
          </a:p>
          <a:p>
            <a:pPr marL="171450" indent="-171450">
              <a:buFont typeface="Wingdings"/>
              <a:buChar char="§"/>
              <a:defRPr/>
            </a:pPr>
            <a:r>
              <a:rPr lang="en-AU" sz="900" dirty="0">
                <a:solidFill>
                  <a:schemeClr val="tx1"/>
                </a:solidFill>
                <a:ea typeface="+mn-lt"/>
                <a:cs typeface="+mn-lt"/>
              </a:rPr>
              <a:t>No existing S&amp;OP process or very low maturity.</a:t>
            </a:r>
            <a:endParaRPr lang="en-US" sz="900" dirty="0">
              <a:solidFill>
                <a:schemeClr val="tx1"/>
              </a:solidFill>
              <a:ea typeface="+mn-lt"/>
              <a:cs typeface="+mn-lt"/>
            </a:endParaRPr>
          </a:p>
          <a:p>
            <a:pPr marL="171450" indent="-171450">
              <a:buFont typeface="Wingdings"/>
              <a:buChar char="§"/>
              <a:defRPr/>
            </a:pPr>
            <a:r>
              <a:rPr lang="en-AU" sz="900" dirty="0">
                <a:solidFill>
                  <a:schemeClr val="tx1"/>
                </a:solidFill>
                <a:ea typeface="+mn-lt"/>
                <a:cs typeface="+mn-lt"/>
              </a:rPr>
              <a:t>Launch of an Operations Transformation Program (CHORUS).</a:t>
            </a:r>
            <a:endParaRPr lang="en-AU" dirty="0"/>
          </a:p>
          <a:p>
            <a:pPr marL="171450" indent="-171450">
              <a:buFont typeface="Wingdings"/>
              <a:buChar char="§"/>
              <a:defRPr/>
            </a:pPr>
            <a:r>
              <a:rPr lang="en-AU" sz="900" dirty="0">
                <a:solidFill>
                  <a:schemeClr val="tx1"/>
                </a:solidFill>
                <a:ea typeface="+mn-lt"/>
                <a:cs typeface="+mn-lt"/>
              </a:rPr>
              <a:t>Implementation of a core model across the three company Houses</a:t>
            </a:r>
            <a:endParaRPr lang="en-AU" dirty="0"/>
          </a:p>
          <a:p>
            <a:pPr>
              <a:defRPr/>
            </a:pPr>
            <a:endParaRPr lang="en-AU" sz="900" b="1" dirty="0">
              <a:solidFill>
                <a:schemeClr val="tx1"/>
              </a:solidFill>
            </a:endParaRPr>
          </a:p>
          <a:p>
            <a:pPr>
              <a:defRPr/>
            </a:pPr>
            <a:r>
              <a:rPr lang="en-AU" sz="900" b="1" dirty="0">
                <a:solidFill>
                  <a:schemeClr val="tx1"/>
                </a:solidFill>
                <a:latin typeface="Ubuntu"/>
              </a:rPr>
              <a:t>Objectives:</a:t>
            </a:r>
            <a:endParaRPr lang="en-AU" dirty="0">
              <a:solidFill>
                <a:schemeClr val="tx1"/>
              </a:solidFill>
              <a:latin typeface="Ubuntu"/>
            </a:endParaRPr>
          </a:p>
          <a:p>
            <a:pPr marL="171450" indent="-171450">
              <a:buFont typeface="Wingdings"/>
              <a:buChar char="§"/>
              <a:defRPr/>
            </a:pPr>
            <a:r>
              <a:rPr lang="en-AU" sz="900" dirty="0">
                <a:solidFill>
                  <a:schemeClr val="tx1"/>
                </a:solidFill>
                <a:ea typeface="+mn-lt"/>
                <a:cs typeface="+mn-lt"/>
              </a:rPr>
              <a:t>Organize and steer project committees</a:t>
            </a:r>
            <a:endParaRPr lang="en-AU" sz="900" dirty="0">
              <a:solidFill>
                <a:schemeClr val="tx1"/>
              </a:solidFill>
            </a:endParaRPr>
          </a:p>
          <a:p>
            <a:pPr marL="171450" indent="-171450">
              <a:buFont typeface="Wingdings"/>
              <a:buChar char="§"/>
              <a:defRPr/>
            </a:pPr>
            <a:r>
              <a:rPr lang="en-AU" sz="900" dirty="0">
                <a:solidFill>
                  <a:schemeClr val="tx1"/>
                </a:solidFill>
                <a:latin typeface="Ubuntu"/>
              </a:rPr>
              <a:t>Production of workshop materials</a:t>
            </a:r>
            <a:endParaRPr lang="en-AU" sz="900" b="0" i="0" u="none" strike="noStrike" kern="1200" cap="none" spc="0" normalizeH="0" baseline="0" noProof="0" dirty="0">
              <a:ln>
                <a:noFill/>
              </a:ln>
              <a:solidFill>
                <a:schemeClr val="tx1"/>
              </a:solidFill>
              <a:effectLst/>
              <a:uLnTx/>
              <a:uFillTx/>
              <a:latin typeface="Ubuntu"/>
            </a:endParaRPr>
          </a:p>
          <a:p>
            <a:pPr marL="171450" indent="-171450">
              <a:buFont typeface="Wingdings"/>
              <a:buChar char="§"/>
              <a:defRPr/>
            </a:pPr>
            <a:r>
              <a:rPr lang="en-AU" sz="900" dirty="0">
                <a:solidFill>
                  <a:schemeClr val="tx1"/>
                </a:solidFill>
                <a:latin typeface="Ubuntu"/>
              </a:rPr>
              <a:t>Detailed process design </a:t>
            </a:r>
          </a:p>
          <a:p>
            <a:pPr marL="171450" indent="-171450">
              <a:buFont typeface="Wingdings"/>
              <a:buChar char="§"/>
              <a:defRPr/>
            </a:pPr>
            <a:r>
              <a:rPr lang="en-AU" sz="900" dirty="0">
                <a:solidFill>
                  <a:schemeClr val="tx1"/>
                </a:solidFill>
                <a:latin typeface="Ubuntu"/>
              </a:rPr>
              <a:t>Drafting of user stories and backlog</a:t>
            </a:r>
          </a:p>
          <a:p>
            <a:pPr marL="628650" lvl="1" indent="-171450">
              <a:buClr>
                <a:srgbClr val="0070AD"/>
              </a:buClr>
              <a:buFont typeface="Wingdings" panose="05000000000000000000" pitchFamily="2" charset="2"/>
              <a:buChar char="§"/>
              <a:defRPr/>
            </a:pPr>
            <a:endParaRPr lang="en-AU" sz="900" dirty="0">
              <a:solidFill>
                <a:schemeClr val="tx1"/>
              </a:solidFill>
              <a:latin typeface="Ubuntu"/>
            </a:endParaRPr>
          </a:p>
        </p:txBody>
      </p:sp>
      <p:sp>
        <p:nvSpPr>
          <p:cNvPr id="37" name="Rectangle: Rounded Corners 36">
            <a:extLst>
              <a:ext uri="{FF2B5EF4-FFF2-40B4-BE49-F238E27FC236}">
                <a16:creationId xmlns:a16="http://schemas.microsoft.com/office/drawing/2014/main" id="{8601F830-C0C2-29DC-1713-D81DA218F180}"/>
              </a:ext>
            </a:extLst>
          </p:cNvPr>
          <p:cNvSpPr/>
          <p:nvPr/>
        </p:nvSpPr>
        <p:spPr>
          <a:xfrm>
            <a:off x="4799856" y="3355955"/>
            <a:ext cx="7056784" cy="1440000"/>
          </a:xfrm>
          <a:prstGeom prst="roundRect">
            <a:avLst>
              <a:gd name="adj" fmla="val 6048"/>
            </a:avLst>
          </a:prstGeom>
          <a:solidFill>
            <a:schemeClr val="bg1"/>
          </a:solidFill>
          <a:ln>
            <a:no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numCol="2" rtlCol="0" anchor="t"/>
          <a:lstStyle/>
          <a:p>
            <a:pPr>
              <a:defRPr/>
            </a:pPr>
            <a:r>
              <a:rPr lang="en-AU" sz="900" b="1">
                <a:solidFill>
                  <a:schemeClr val="tx1"/>
                </a:solidFill>
                <a:ea typeface="+mn-lt"/>
                <a:cs typeface="+mn-lt"/>
              </a:rPr>
              <a:t>1. Mobilization (1 month):</a:t>
            </a:r>
            <a:endParaRPr lang="en-US" sz="900" b="1">
              <a:solidFill>
                <a:schemeClr val="tx1"/>
              </a:solidFill>
              <a:ea typeface="+mn-lt"/>
              <a:cs typeface="+mn-lt"/>
            </a:endParaRPr>
          </a:p>
          <a:p>
            <a:pPr marL="171450" indent="-171450">
              <a:buFont typeface="Wingdings"/>
              <a:buChar char="§"/>
              <a:defRPr/>
            </a:pPr>
            <a:r>
              <a:rPr lang="en-AU" sz="900">
                <a:solidFill>
                  <a:schemeClr val="tx1"/>
                </a:solidFill>
                <a:ea typeface="+mn-lt"/>
                <a:cs typeface="+mn-lt"/>
              </a:rPr>
              <a:t>Define governance and project organization.</a:t>
            </a:r>
            <a:endParaRPr lang="en-AU">
              <a:solidFill>
                <a:schemeClr val="tx1"/>
              </a:solidFill>
              <a:ea typeface="+mn-lt"/>
              <a:cs typeface="+mn-lt"/>
            </a:endParaRPr>
          </a:p>
          <a:p>
            <a:pPr marL="171450" indent="-171450">
              <a:buFont typeface="Wingdings"/>
              <a:buChar char="§"/>
              <a:defRPr/>
            </a:pPr>
            <a:r>
              <a:rPr lang="en-AU" sz="900">
                <a:solidFill>
                  <a:schemeClr val="tx1"/>
                </a:solidFill>
                <a:ea typeface="+mn-lt"/>
                <a:cs typeface="+mn-lt"/>
              </a:rPr>
              <a:t>Map existing S&amp;OP processes and data sources.</a:t>
            </a:r>
          </a:p>
          <a:p>
            <a:pPr marL="171450" indent="-171450">
              <a:buFont typeface="Wingdings"/>
              <a:buChar char="§"/>
              <a:defRPr/>
            </a:pPr>
            <a:r>
              <a:rPr lang="en-AU" sz="900">
                <a:solidFill>
                  <a:schemeClr val="tx1"/>
                </a:solidFill>
                <a:ea typeface="+mn-lt"/>
                <a:cs typeface="+mn-lt"/>
              </a:rPr>
              <a:t>Prepare for design workshops.</a:t>
            </a:r>
          </a:p>
          <a:p>
            <a:pPr marL="171450" indent="-171450">
              <a:buFont typeface="Wingdings"/>
              <a:buChar char="§"/>
              <a:defRPr/>
            </a:pPr>
            <a:endParaRPr lang="en-AU" sz="900" b="1">
              <a:solidFill>
                <a:schemeClr val="tx1"/>
              </a:solidFill>
              <a:ea typeface="+mn-lt"/>
              <a:cs typeface="+mn-lt"/>
            </a:endParaRPr>
          </a:p>
          <a:p>
            <a:pPr>
              <a:defRPr/>
            </a:pPr>
            <a:r>
              <a:rPr lang="en-AU" sz="900" b="1">
                <a:solidFill>
                  <a:schemeClr val="tx1"/>
                </a:solidFill>
                <a:ea typeface="+mn-lt"/>
                <a:cs typeface="+mn-lt"/>
              </a:rPr>
              <a:t>2. Core Model Design (3 weeks):</a:t>
            </a:r>
            <a:endParaRPr lang="en-AU" b="1">
              <a:solidFill>
                <a:schemeClr val="tx1"/>
              </a:solidFill>
            </a:endParaRPr>
          </a:p>
          <a:p>
            <a:pPr marL="171450" indent="-171450">
              <a:buFont typeface="Wingdings"/>
              <a:buChar char="§"/>
              <a:defRPr/>
            </a:pPr>
            <a:r>
              <a:rPr lang="en-AU" sz="900">
                <a:solidFill>
                  <a:schemeClr val="tx1"/>
                </a:solidFill>
                <a:ea typeface="+mn-lt"/>
                <a:cs typeface="+mn-lt"/>
              </a:rPr>
              <a:t>Establish S&amp;OP guiding principles aligned with CHORUS program.</a:t>
            </a:r>
            <a:endParaRPr lang="en-AU">
              <a:solidFill>
                <a:schemeClr val="tx1"/>
              </a:solidFill>
              <a:ea typeface="+mn-lt"/>
              <a:cs typeface="+mn-lt"/>
            </a:endParaRPr>
          </a:p>
          <a:p>
            <a:pPr marL="171450" indent="-171450">
              <a:buFont typeface="Wingdings"/>
              <a:buChar char="§"/>
              <a:defRPr/>
            </a:pPr>
            <a:r>
              <a:rPr lang="en-AU" sz="900">
                <a:solidFill>
                  <a:schemeClr val="tx1"/>
                </a:solidFill>
                <a:ea typeface="+mn-lt"/>
                <a:cs typeface="+mn-lt"/>
              </a:rPr>
              <a:t>Identify planning hierarchies and integration points.</a:t>
            </a:r>
          </a:p>
          <a:p>
            <a:pPr>
              <a:defRPr/>
            </a:pPr>
            <a:r>
              <a:rPr lang="en-AU" sz="900" b="1">
                <a:solidFill>
                  <a:schemeClr val="tx1"/>
                </a:solidFill>
                <a:ea typeface="+mn-lt"/>
                <a:cs typeface="+mn-lt"/>
              </a:rPr>
              <a:t>3. Detailed Conception (2 months):</a:t>
            </a:r>
          </a:p>
          <a:p>
            <a:pPr marL="171450" indent="-171450">
              <a:buFont typeface="Wingdings"/>
              <a:buChar char="§"/>
              <a:defRPr/>
            </a:pPr>
            <a:r>
              <a:rPr lang="en-AU" sz="900">
                <a:solidFill>
                  <a:schemeClr val="tx1"/>
                </a:solidFill>
                <a:ea typeface="+mn-lt"/>
                <a:cs typeface="+mn-lt"/>
              </a:rPr>
              <a:t>Define business rules and architecture for Anaplan tool.</a:t>
            </a:r>
          </a:p>
          <a:p>
            <a:pPr marL="171450" indent="-171450">
              <a:buFont typeface="Wingdings"/>
              <a:buChar char="§"/>
              <a:defRPr/>
            </a:pPr>
            <a:r>
              <a:rPr lang="en-AU" sz="900">
                <a:solidFill>
                  <a:schemeClr val="tx1"/>
                </a:solidFill>
                <a:ea typeface="+mn-lt"/>
                <a:cs typeface="+mn-lt"/>
              </a:rPr>
              <a:t>Validate technical specifications and detailed design.</a:t>
            </a:r>
          </a:p>
          <a:p>
            <a:pPr marL="171450" indent="-171450">
              <a:buFont typeface="Wingdings"/>
              <a:buChar char="§"/>
              <a:defRPr/>
            </a:pPr>
            <a:r>
              <a:rPr lang="en-AU" sz="900">
                <a:solidFill>
                  <a:schemeClr val="tx1"/>
                </a:solidFill>
                <a:ea typeface="+mn-lt"/>
                <a:cs typeface="+mn-lt"/>
              </a:rPr>
              <a:t>Conduct design validation with operations managers.</a:t>
            </a:r>
          </a:p>
        </p:txBody>
      </p:sp>
      <p:sp>
        <p:nvSpPr>
          <p:cNvPr id="40" name="Rectangle: Rounded Corners 39">
            <a:extLst>
              <a:ext uri="{FF2B5EF4-FFF2-40B4-BE49-F238E27FC236}">
                <a16:creationId xmlns:a16="http://schemas.microsoft.com/office/drawing/2014/main" id="{E2B32D55-198A-FB6D-BD48-07638DA5928C}"/>
              </a:ext>
            </a:extLst>
          </p:cNvPr>
          <p:cNvSpPr/>
          <p:nvPr/>
        </p:nvSpPr>
        <p:spPr>
          <a:xfrm>
            <a:off x="4799856" y="5229200"/>
            <a:ext cx="7056784" cy="1440000"/>
          </a:xfrm>
          <a:prstGeom prst="roundRect">
            <a:avLst>
              <a:gd name="adj" fmla="val 80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buClr>
                <a:srgbClr val="0070AD"/>
              </a:buClr>
              <a:defRPr/>
            </a:pPr>
            <a:endParaRPr lang="en-AU" sz="900">
              <a:solidFill>
                <a:schemeClr val="tx1"/>
              </a:solidFill>
              <a:ea typeface="+mn-lt"/>
              <a:cs typeface="+mn-lt"/>
            </a:endParaRPr>
          </a:p>
          <a:p>
            <a:pPr>
              <a:buClr>
                <a:srgbClr val="0070AD"/>
              </a:buClr>
              <a:defRPr/>
            </a:pPr>
            <a:endParaRPr lang="en-AU" sz="900">
              <a:solidFill>
                <a:schemeClr val="tx1"/>
              </a:solidFill>
              <a:cs typeface="Segoe UI"/>
            </a:endParaRPr>
          </a:p>
        </p:txBody>
      </p:sp>
      <p:sp>
        <p:nvSpPr>
          <p:cNvPr id="49" name="Rectangle 48">
            <a:extLst>
              <a:ext uri="{FF2B5EF4-FFF2-40B4-BE49-F238E27FC236}">
                <a16:creationId xmlns:a16="http://schemas.microsoft.com/office/drawing/2014/main" id="{12B3D9C7-2157-7382-32F0-19528A43BF09}"/>
              </a:ext>
            </a:extLst>
          </p:cNvPr>
          <p:cNvSpPr/>
          <p:nvPr/>
        </p:nvSpPr>
        <p:spPr>
          <a:xfrm>
            <a:off x="4799856" y="1088999"/>
            <a:ext cx="2165978"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Context and objectives</a:t>
            </a:r>
          </a:p>
        </p:txBody>
      </p:sp>
      <p:sp>
        <p:nvSpPr>
          <p:cNvPr id="57" name="Rectangle 56">
            <a:extLst>
              <a:ext uri="{FF2B5EF4-FFF2-40B4-BE49-F238E27FC236}">
                <a16:creationId xmlns:a16="http://schemas.microsoft.com/office/drawing/2014/main" id="{22145705-6CE2-F3B5-C1CB-D9A1DE4E5904}"/>
              </a:ext>
            </a:extLst>
          </p:cNvPr>
          <p:cNvSpPr/>
          <p:nvPr/>
        </p:nvSpPr>
        <p:spPr>
          <a:xfrm>
            <a:off x="4799856" y="2985445"/>
            <a:ext cx="906017"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Solution</a:t>
            </a:r>
          </a:p>
        </p:txBody>
      </p:sp>
      <p:sp>
        <p:nvSpPr>
          <p:cNvPr id="58" name="Rectangle 57">
            <a:extLst>
              <a:ext uri="{FF2B5EF4-FFF2-40B4-BE49-F238E27FC236}">
                <a16:creationId xmlns:a16="http://schemas.microsoft.com/office/drawing/2014/main" id="{FB7C7238-A448-0D84-356F-37580C06296B}"/>
              </a:ext>
            </a:extLst>
          </p:cNvPr>
          <p:cNvSpPr/>
          <p:nvPr/>
        </p:nvSpPr>
        <p:spPr>
          <a:xfrm>
            <a:off x="4799856" y="4858688"/>
            <a:ext cx="1952779"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chemeClr val="accent1"/>
                </a:solidFill>
                <a:effectLst/>
                <a:uLnTx/>
                <a:uFillTx/>
                <a:latin typeface="Ubuntu"/>
                <a:ea typeface="+mn-ea"/>
                <a:cs typeface="+mn-cs"/>
              </a:rPr>
              <a:t>Benefits and Results</a:t>
            </a:r>
          </a:p>
        </p:txBody>
      </p:sp>
      <p:grpSp>
        <p:nvGrpSpPr>
          <p:cNvPr id="59" name="Group 58">
            <a:extLst>
              <a:ext uri="{FF2B5EF4-FFF2-40B4-BE49-F238E27FC236}">
                <a16:creationId xmlns:a16="http://schemas.microsoft.com/office/drawing/2014/main" id="{8FD9D908-696E-E40E-23C1-BEA10449B7CE}"/>
              </a:ext>
            </a:extLst>
          </p:cNvPr>
          <p:cNvGrpSpPr/>
          <p:nvPr/>
        </p:nvGrpSpPr>
        <p:grpSpPr>
          <a:xfrm>
            <a:off x="-37306" y="4951218"/>
            <a:ext cx="4608512" cy="1645101"/>
            <a:chOff x="6290619" y="1768012"/>
            <a:chExt cx="5516586" cy="2138071"/>
          </a:xfrm>
        </p:grpSpPr>
        <p:sp>
          <p:nvSpPr>
            <p:cNvPr id="60" name="Rectangle: Rounded Corners 59">
              <a:extLst>
                <a:ext uri="{FF2B5EF4-FFF2-40B4-BE49-F238E27FC236}">
                  <a16:creationId xmlns:a16="http://schemas.microsoft.com/office/drawing/2014/main" id="{BCDD75C5-E3C6-5AEF-54A4-B144FC915720}"/>
                </a:ext>
              </a:extLst>
            </p:cNvPr>
            <p:cNvSpPr/>
            <p:nvPr/>
          </p:nvSpPr>
          <p:spPr>
            <a:xfrm>
              <a:off x="6290619" y="1768012"/>
              <a:ext cx="5516586" cy="2138071"/>
            </a:xfrm>
            <a:prstGeom prst="roundRect">
              <a:avLst>
                <a:gd name="adj" fmla="val 544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pic>
          <p:nvPicPr>
            <p:cNvPr id="63" name="Picture 62">
              <a:extLst>
                <a:ext uri="{FF2B5EF4-FFF2-40B4-BE49-F238E27FC236}">
                  <a16:creationId xmlns:a16="http://schemas.microsoft.com/office/drawing/2014/main" id="{63E754C1-39F3-82CA-CEB7-20584F7BDF8B}"/>
                </a:ext>
              </a:extLst>
            </p:cNvPr>
            <p:cNvPicPr>
              <a:picLocks noChangeAspect="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10893" b="30251"/>
            <a:stretch/>
          </p:blipFill>
          <p:spPr>
            <a:xfrm>
              <a:off x="7423804" y="1938566"/>
              <a:ext cx="685473" cy="403435"/>
            </a:xfrm>
            <a:prstGeom prst="rect">
              <a:avLst/>
            </a:prstGeom>
          </p:spPr>
        </p:pic>
        <p:sp>
          <p:nvSpPr>
            <p:cNvPr id="64" name="TextBox 63">
              <a:extLst>
                <a:ext uri="{FF2B5EF4-FFF2-40B4-BE49-F238E27FC236}">
                  <a16:creationId xmlns:a16="http://schemas.microsoft.com/office/drawing/2014/main" id="{C716425F-31F2-16DC-C38F-C12A34A6FD5A}"/>
                </a:ext>
              </a:extLst>
            </p:cNvPr>
            <p:cNvSpPr txBox="1"/>
            <p:nvPr/>
          </p:nvSpPr>
          <p:spPr>
            <a:xfrm>
              <a:off x="7113338" y="2479525"/>
              <a:ext cx="1316532" cy="1160014"/>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600" b="1">
                  <a:solidFill>
                    <a:srgbClr val="12ABDB"/>
                  </a:solidFill>
                  <a:latin typeface="Verdana"/>
                </a:rPr>
                <a:t>3</a:t>
              </a:r>
              <a:endParaRPr kumimoji="0" lang="en-AU" sz="1600" b="1" i="0" u="none" strike="noStrike" kern="1200" cap="none" spc="0" normalizeH="0" baseline="0" noProof="0">
                <a:ln>
                  <a:noFill/>
                </a:ln>
                <a:solidFill>
                  <a:srgbClr val="12ABDB"/>
                </a:solidFill>
                <a:effectLst/>
                <a:uLnTx/>
                <a:uFillTx/>
                <a:latin typeface="Verdana"/>
                <a:ea typeface="+mn-ea"/>
                <a:cs typeface="+mn-cs"/>
              </a:endParaRPr>
            </a:p>
            <a:p>
              <a:pPr algn="ctr">
                <a:defRPr/>
              </a:pPr>
              <a:r>
                <a:rPr lang="en-AU" sz="900">
                  <a:solidFill>
                    <a:srgbClr val="12ABDB"/>
                  </a:solidFill>
                  <a:ea typeface="+mn-lt"/>
                  <a:cs typeface="+mn-lt"/>
                </a:rPr>
                <a:t>Warehouses</a:t>
              </a:r>
              <a:endParaRPr lang="en-AU"/>
            </a:p>
            <a:p>
              <a:pPr algn="ctr">
                <a:defRPr/>
              </a:pPr>
              <a:r>
                <a:rPr lang="en-AU" sz="900">
                  <a:solidFill>
                    <a:srgbClr val="12ABDB"/>
                  </a:solidFill>
                  <a:ea typeface="+mn-lt"/>
                  <a:cs typeface="+mn-lt"/>
                </a:rPr>
                <a:t>(Christian Dior, Guerlain, and Kenzo.)</a:t>
              </a:r>
              <a:endParaRPr lang="en-AU">
                <a:ea typeface="+mn-ea"/>
                <a:cs typeface="+mn-cs"/>
              </a:endParaRPr>
            </a:p>
          </p:txBody>
        </p:sp>
        <p:pic>
          <p:nvPicPr>
            <p:cNvPr id="67" name="Picture 2" descr="Budget premium icon">
              <a:extLst>
                <a:ext uri="{FF2B5EF4-FFF2-40B4-BE49-F238E27FC236}">
                  <a16:creationId xmlns:a16="http://schemas.microsoft.com/office/drawing/2014/main" id="{9D8E2FAB-BF1A-1710-EF55-DD1C7C01CBC2}"/>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62443" y="2046970"/>
              <a:ext cx="418987" cy="418987"/>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a:extLst>
                <a:ext uri="{FF2B5EF4-FFF2-40B4-BE49-F238E27FC236}">
                  <a16:creationId xmlns:a16="http://schemas.microsoft.com/office/drawing/2014/main" id="{753D1300-A526-4650-26E2-36F87DF58C0E}"/>
                </a:ext>
              </a:extLst>
            </p:cNvPr>
            <p:cNvSpPr txBox="1"/>
            <p:nvPr/>
          </p:nvSpPr>
          <p:spPr>
            <a:xfrm>
              <a:off x="8841062" y="2562052"/>
              <a:ext cx="2282972" cy="800009"/>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600" b="1">
                  <a:solidFill>
                    <a:srgbClr val="12ABDB"/>
                  </a:solidFill>
                  <a:latin typeface="Verdana"/>
                  <a:ea typeface="Verdana"/>
                </a:rPr>
                <a:t>Network</a:t>
              </a:r>
              <a:endParaRPr lang="en-AU" sz="1600" b="1" i="0" u="none" strike="noStrike" kern="1200" cap="none" spc="0" normalizeH="0" baseline="0" noProof="0">
                <a:ln>
                  <a:noFill/>
                </a:ln>
                <a:solidFill>
                  <a:srgbClr val="12ABDB"/>
                </a:solidFill>
                <a:effectLst/>
                <a:uLnTx/>
                <a:uFillTx/>
                <a:latin typeface="Verdana"/>
                <a:ea typeface="Verdana"/>
              </a:endParaRPr>
            </a:p>
            <a:p>
              <a:pPr algn="ctr">
                <a:defRPr/>
              </a:pPr>
              <a:r>
                <a:rPr lang="en-AU" sz="900">
                  <a:solidFill>
                    <a:srgbClr val="12ABDB"/>
                  </a:solidFill>
                  <a:latin typeface="Verdana"/>
                </a:rPr>
                <a:t>Complexified by international </a:t>
              </a:r>
              <a:r>
                <a:rPr lang="en-AU" sz="900" err="1">
                  <a:solidFill>
                    <a:srgbClr val="12ABDB"/>
                  </a:solidFill>
                  <a:latin typeface="Verdana"/>
                </a:rPr>
                <a:t>regulat</a:t>
              </a:r>
              <a:r>
                <a:rPr lang="en-AU" sz="900">
                  <a:solidFill>
                    <a:srgbClr val="12ABDB"/>
                  </a:solidFill>
                  <a:latin typeface="Verdana"/>
                </a:rPr>
                <a:t>ions</a:t>
              </a:r>
              <a:endParaRPr lang="en-AU" sz="900" b="0" i="0" u="none" strike="noStrike" kern="1200" cap="none" spc="0" normalizeH="0" baseline="0" noProof="0">
                <a:ln>
                  <a:noFill/>
                </a:ln>
                <a:solidFill>
                  <a:srgbClr val="12ABDB"/>
                </a:solidFill>
                <a:effectLst/>
                <a:uLnTx/>
                <a:uFillTx/>
                <a:latin typeface="Verdana"/>
                <a:ea typeface="Verdana"/>
              </a:endParaRPr>
            </a:p>
          </p:txBody>
        </p:sp>
      </p:grpSp>
      <p:sp>
        <p:nvSpPr>
          <p:cNvPr id="71" name="Rectangle 70">
            <a:extLst>
              <a:ext uri="{FF2B5EF4-FFF2-40B4-BE49-F238E27FC236}">
                <a16:creationId xmlns:a16="http://schemas.microsoft.com/office/drawing/2014/main" id="{8F400987-D83E-5B84-A3B7-6C5C692C026B}"/>
              </a:ext>
            </a:extLst>
          </p:cNvPr>
          <p:cNvSpPr/>
          <p:nvPr/>
        </p:nvSpPr>
        <p:spPr>
          <a:xfrm>
            <a:off x="0" y="0"/>
            <a:ext cx="4533899" cy="424932"/>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72" name="Rectangle 71">
            <a:extLst>
              <a:ext uri="{FF2B5EF4-FFF2-40B4-BE49-F238E27FC236}">
                <a16:creationId xmlns:a16="http://schemas.microsoft.com/office/drawing/2014/main" id="{FCEC42BC-A079-5B7A-4DD9-CEEAD21E1582}"/>
              </a:ext>
            </a:extLst>
          </p:cNvPr>
          <p:cNvSpPr/>
          <p:nvPr/>
        </p:nvSpPr>
        <p:spPr>
          <a:xfrm>
            <a:off x="113051"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6E45AD"/>
                </a:solidFill>
                <a:effectLst/>
                <a:uLnTx/>
                <a:uFillTx/>
                <a:latin typeface="Ubuntu" panose="020B0504030602030204" pitchFamily="34" charset="0"/>
                <a:ea typeface="+mn-ea"/>
                <a:cs typeface="+mn-cs"/>
              </a:rPr>
              <a:t>CPRD</a:t>
            </a:r>
          </a:p>
        </p:txBody>
      </p:sp>
      <p:cxnSp>
        <p:nvCxnSpPr>
          <p:cNvPr id="73" name="Straight Connector 72">
            <a:extLst>
              <a:ext uri="{FF2B5EF4-FFF2-40B4-BE49-F238E27FC236}">
                <a16:creationId xmlns:a16="http://schemas.microsoft.com/office/drawing/2014/main" id="{C19FDA30-CBF3-1F4B-57B2-10BFC3E841BD}"/>
              </a:ext>
            </a:extLst>
          </p:cNvPr>
          <p:cNvCxnSpPr/>
          <p:nvPr/>
        </p:nvCxnSpPr>
        <p:spPr>
          <a:xfrm>
            <a:off x="113051" y="415306"/>
            <a:ext cx="2160000" cy="0"/>
          </a:xfrm>
          <a:prstGeom prst="line">
            <a:avLst/>
          </a:prstGeom>
          <a:noFill/>
          <a:ln w="25400" cap="flat">
            <a:solidFill>
              <a:srgbClr val="6E45AD"/>
            </a:solidFill>
            <a:prstDash val="solid"/>
            <a:round/>
          </a:ln>
          <a:effectLst/>
          <a:sp3d/>
        </p:spPr>
        <p:style>
          <a:lnRef idx="0">
            <a:scrgbClr r="0" g="0" b="0"/>
          </a:lnRef>
          <a:fillRef idx="0">
            <a:scrgbClr r="0" g="0" b="0"/>
          </a:fillRef>
          <a:effectRef idx="0">
            <a:scrgbClr r="0" g="0" b="0"/>
          </a:effectRef>
          <a:fontRef idx="none"/>
        </p:style>
      </p:cxnSp>
      <p:sp>
        <p:nvSpPr>
          <p:cNvPr id="74" name="Rectangle 73">
            <a:extLst>
              <a:ext uri="{FF2B5EF4-FFF2-40B4-BE49-F238E27FC236}">
                <a16:creationId xmlns:a16="http://schemas.microsoft.com/office/drawing/2014/main" id="{4AF305C1-A9D0-2414-18E4-4E663F409A45}"/>
              </a:ext>
            </a:extLst>
          </p:cNvPr>
          <p:cNvSpPr/>
          <p:nvPr/>
        </p:nvSpPr>
        <p:spPr>
          <a:xfrm>
            <a:off x="2306319"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12ABDB"/>
                </a:solidFill>
                <a:effectLst/>
                <a:uLnTx/>
                <a:uFillTx/>
                <a:latin typeface="Ubuntu" panose="020B0504030602030204" pitchFamily="34" charset="0"/>
                <a:ea typeface="+mn-ea"/>
                <a:cs typeface="+mn-cs"/>
              </a:rPr>
              <a:t>Demand Planning</a:t>
            </a:r>
          </a:p>
        </p:txBody>
      </p:sp>
      <p:cxnSp>
        <p:nvCxnSpPr>
          <p:cNvPr id="75" name="Straight Connector 74">
            <a:extLst>
              <a:ext uri="{FF2B5EF4-FFF2-40B4-BE49-F238E27FC236}">
                <a16:creationId xmlns:a16="http://schemas.microsoft.com/office/drawing/2014/main" id="{F9FEED65-1993-4DD5-F9CA-DE7A73D1BAC1}"/>
              </a:ext>
            </a:extLst>
          </p:cNvPr>
          <p:cNvCxnSpPr/>
          <p:nvPr/>
        </p:nvCxnSpPr>
        <p:spPr>
          <a:xfrm>
            <a:off x="2306319" y="415306"/>
            <a:ext cx="2160000" cy="0"/>
          </a:xfrm>
          <a:prstGeom prst="line">
            <a:avLst/>
          </a:prstGeom>
          <a:noFill/>
          <a:ln w="25400" cap="flat">
            <a:solidFill>
              <a:schemeClr val="accent2"/>
            </a:solidFill>
            <a:prstDash val="solid"/>
            <a:round/>
          </a:ln>
          <a:effectLst/>
          <a:sp3d/>
        </p:spPr>
        <p:style>
          <a:lnRef idx="0">
            <a:scrgbClr r="0" g="0" b="0"/>
          </a:lnRef>
          <a:fillRef idx="0">
            <a:scrgbClr r="0" g="0" b="0"/>
          </a:fillRef>
          <a:effectRef idx="0">
            <a:scrgbClr r="0" g="0" b="0"/>
          </a:effectRef>
          <a:fontRef idx="none"/>
        </p:style>
      </p:cxnSp>
      <p:cxnSp>
        <p:nvCxnSpPr>
          <p:cNvPr id="76" name="Straight Connector 75">
            <a:extLst>
              <a:ext uri="{FF2B5EF4-FFF2-40B4-BE49-F238E27FC236}">
                <a16:creationId xmlns:a16="http://schemas.microsoft.com/office/drawing/2014/main" id="{7816DD6C-B6A6-B0B2-05B1-2CD36318BD11}"/>
              </a:ext>
            </a:extLst>
          </p:cNvPr>
          <p:cNvCxnSpPr>
            <a:cxnSpLocks/>
          </p:cNvCxnSpPr>
          <p:nvPr/>
        </p:nvCxnSpPr>
        <p:spPr>
          <a:xfrm flipV="1">
            <a:off x="2289383" y="3231"/>
            <a:ext cx="0" cy="415305"/>
          </a:xfrm>
          <a:prstGeom prst="line">
            <a:avLst/>
          </a:prstGeom>
          <a:noFill/>
          <a:ln w="25400" cap="flat">
            <a:solidFill>
              <a:schemeClr val="bg1">
                <a:lumMod val="75000"/>
              </a:schemeClr>
            </a:solidFill>
            <a:prstDash val="solid"/>
            <a:round/>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7E1A5F6C-B28D-C541-6C2F-B9A6D17A1B1F}"/>
              </a:ext>
            </a:extLst>
          </p:cNvPr>
          <p:cNvSpPr txBox="1"/>
          <p:nvPr/>
        </p:nvSpPr>
        <p:spPr>
          <a:xfrm>
            <a:off x="8675077" y="1398238"/>
            <a:ext cx="2855407" cy="1541064"/>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rtl="0">
              <a:lnSpc>
                <a:spcPts val="1200"/>
              </a:lnSpc>
            </a:pPr>
            <a:r>
              <a:rPr lang="en-AU" sz="900" b="1" baseline="0">
                <a:latin typeface="Ubuntu"/>
                <a:ea typeface="Segoe UI"/>
                <a:cs typeface="Segoe UI"/>
              </a:rPr>
              <a:t>S&amp;OP V1 CHORUS Challenges:</a:t>
            </a:r>
            <a:r>
              <a:rPr lang="en-US" sz="900">
                <a:latin typeface="Ubuntu"/>
                <a:ea typeface="Segoe UI"/>
                <a:cs typeface="Segoe UI"/>
              </a:rPr>
              <a:t>​</a:t>
            </a:r>
          </a:p>
          <a:p>
            <a:pPr marL="171450" lvl="0" indent="-171450" rtl="0">
              <a:lnSpc>
                <a:spcPts val="1200"/>
              </a:lnSpc>
              <a:buFont typeface="Wingdings"/>
              <a:buChar char="§"/>
            </a:pPr>
            <a:r>
              <a:rPr lang="en-AU" sz="900" baseline="0">
                <a:latin typeface="Ubuntu"/>
                <a:ea typeface="Arial"/>
                <a:cs typeface="Arial"/>
              </a:rPr>
              <a:t>Anticipate impact of growth, product launches and complexity of the catalogue on Operations.</a:t>
            </a:r>
            <a:r>
              <a:rPr lang="en-AU" sz="900">
                <a:latin typeface="Ubuntu"/>
                <a:ea typeface="Arial"/>
                <a:cs typeface="Arial"/>
              </a:rPr>
              <a:t>​</a:t>
            </a:r>
          </a:p>
          <a:p>
            <a:pPr marL="171450" lvl="0" indent="-171450" rtl="0">
              <a:lnSpc>
                <a:spcPts val="1200"/>
              </a:lnSpc>
              <a:buFont typeface="Wingdings"/>
              <a:buChar char="§"/>
            </a:pPr>
            <a:r>
              <a:rPr lang="en-AU" sz="900" baseline="0">
                <a:latin typeface="Ubuntu"/>
                <a:ea typeface="Arial"/>
                <a:cs typeface="Arial"/>
              </a:rPr>
              <a:t>Maturity in S&amp;OP stages.</a:t>
            </a:r>
            <a:r>
              <a:rPr lang="en-US" sz="900">
                <a:latin typeface="Ubuntu"/>
                <a:ea typeface="Arial"/>
                <a:cs typeface="Arial"/>
              </a:rPr>
              <a:t>​</a:t>
            </a:r>
          </a:p>
          <a:p>
            <a:pPr marL="171450" lvl="0" indent="-171450" rtl="0">
              <a:lnSpc>
                <a:spcPts val="1200"/>
              </a:lnSpc>
              <a:buFont typeface="Wingdings"/>
              <a:buChar char="§"/>
            </a:pPr>
            <a:r>
              <a:rPr lang="en-AU" sz="900" baseline="0">
                <a:latin typeface="Ubuntu"/>
                <a:ea typeface="Arial"/>
                <a:cs typeface="Arial"/>
              </a:rPr>
              <a:t>Managing complexity in demand, capacity, and budget alignment.</a:t>
            </a:r>
            <a:r>
              <a:rPr lang="en-AU" sz="900">
                <a:latin typeface="Ubuntu"/>
                <a:ea typeface="Arial"/>
                <a:cs typeface="Arial"/>
              </a:rPr>
              <a:t>​</a:t>
            </a:r>
          </a:p>
          <a:p>
            <a:pPr marL="171450" lvl="0" indent="-171450" rtl="0">
              <a:lnSpc>
                <a:spcPts val="1200"/>
              </a:lnSpc>
              <a:buFont typeface="Wingdings"/>
              <a:buChar char="§"/>
            </a:pPr>
            <a:r>
              <a:rPr lang="en-AU" sz="900" baseline="0">
                <a:latin typeface="Ubuntu"/>
                <a:ea typeface="Arial"/>
                <a:cs typeface="Arial"/>
              </a:rPr>
              <a:t>Enabling simulation scenarios to support high-level decision-making.</a:t>
            </a:r>
          </a:p>
          <a:p>
            <a:pPr algn="l">
              <a:spcBef>
                <a:spcPct val="0"/>
              </a:spcBef>
            </a:pPr>
            <a:endParaRPr lang="en-US" sz="1400" err="1"/>
          </a:p>
        </p:txBody>
      </p:sp>
      <p:sp>
        <p:nvSpPr>
          <p:cNvPr id="7" name="TextBox 6">
            <a:extLst>
              <a:ext uri="{FF2B5EF4-FFF2-40B4-BE49-F238E27FC236}">
                <a16:creationId xmlns:a16="http://schemas.microsoft.com/office/drawing/2014/main" id="{AF6085EE-D4F8-F7EB-B258-82E57E70CEA2}"/>
              </a:ext>
            </a:extLst>
          </p:cNvPr>
          <p:cNvSpPr txBox="1"/>
          <p:nvPr/>
        </p:nvSpPr>
        <p:spPr>
          <a:xfrm>
            <a:off x="8331757" y="5234112"/>
            <a:ext cx="3424814" cy="233270"/>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marL="171450" indent="-171450">
              <a:lnSpc>
                <a:spcPts val="1200"/>
              </a:lnSpc>
              <a:buFont typeface="Wingdings"/>
              <a:buChar char="§"/>
            </a:pPr>
            <a:r>
              <a:rPr lang="en-AU" sz="900">
                <a:latin typeface="Ubuntu"/>
                <a:ea typeface="Arial"/>
                <a:cs typeface="Segoe UI"/>
              </a:rPr>
              <a:t>Detailed</a:t>
            </a:r>
            <a:r>
              <a:rPr lang="en-AU" sz="900">
                <a:latin typeface="Ubuntu"/>
                <a:ea typeface="Arial"/>
                <a:cs typeface="Arial"/>
              </a:rPr>
              <a:t> design validation </a:t>
            </a:r>
            <a:r>
              <a:rPr lang="en-AU" sz="900" baseline="0">
                <a:latin typeface="Ubuntu"/>
                <a:ea typeface="Arial"/>
                <a:cs typeface="Arial"/>
              </a:rPr>
              <a:t>support </a:t>
            </a:r>
            <a:r>
              <a:rPr lang="en-AU" sz="900">
                <a:latin typeface="Ubuntu"/>
                <a:ea typeface="Arial"/>
                <a:cs typeface="Arial"/>
              </a:rPr>
              <a:t>to operations managers</a:t>
            </a:r>
            <a:endParaRPr lang="en-US"/>
          </a:p>
        </p:txBody>
      </p:sp>
      <p:sp>
        <p:nvSpPr>
          <p:cNvPr id="8" name="Rectangle: Rounded Corners 7">
            <a:extLst>
              <a:ext uri="{FF2B5EF4-FFF2-40B4-BE49-F238E27FC236}">
                <a16:creationId xmlns:a16="http://schemas.microsoft.com/office/drawing/2014/main" id="{66477E5C-50C9-D52F-E70A-5EAA89579BA0}"/>
              </a:ext>
            </a:extLst>
          </p:cNvPr>
          <p:cNvSpPr/>
          <p:nvPr/>
        </p:nvSpPr>
        <p:spPr>
          <a:xfrm>
            <a:off x="4799856" y="5237574"/>
            <a:ext cx="3372388" cy="401671"/>
          </a:xfrm>
          <a:prstGeom prst="roundRect">
            <a:avLst>
              <a:gd name="adj" fmla="val 80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rgbClr val="0070AD"/>
              </a:buClr>
              <a:buFont typeface="Wingdings" panose="05000000000000000000" pitchFamily="2" charset="2"/>
              <a:buChar char="§"/>
              <a:defRPr/>
            </a:pPr>
            <a:r>
              <a:rPr lang="en-AU" sz="900">
                <a:solidFill>
                  <a:schemeClr val="tx1"/>
                </a:solidFill>
                <a:ea typeface="+mn-lt"/>
                <a:cs typeface="+mn-lt"/>
              </a:rPr>
              <a:t>Detailed design documentation (Anaplan specifications </a:t>
            </a:r>
            <a:r>
              <a:rPr kumimoji="0" lang="en-AU" sz="900" b="0" i="0" u="none" strike="noStrike" kern="1200" cap="none" spc="0" normalizeH="0" baseline="0" noProof="0">
                <a:ln>
                  <a:noFill/>
                </a:ln>
                <a:solidFill>
                  <a:schemeClr val="tx1"/>
                </a:solidFill>
                <a:effectLst/>
                <a:uLnTx/>
                <a:uFillTx/>
                <a:ea typeface="+mn-lt"/>
                <a:cs typeface="+mn-lt"/>
              </a:rPr>
              <a:t>and </a:t>
            </a:r>
            <a:r>
              <a:rPr lang="en-AU" sz="900">
                <a:solidFill>
                  <a:schemeClr val="tx1"/>
                </a:solidFill>
                <a:ea typeface="+mn-lt"/>
                <a:cs typeface="+mn-lt"/>
              </a:rPr>
              <a:t>user stories).</a:t>
            </a:r>
          </a:p>
        </p:txBody>
      </p:sp>
      <p:pic>
        <p:nvPicPr>
          <p:cNvPr id="11" name="Picture 10" descr="A screenshot of a computer&#10;&#10;AI-generated content may be incorrect.">
            <a:extLst>
              <a:ext uri="{FF2B5EF4-FFF2-40B4-BE49-F238E27FC236}">
                <a16:creationId xmlns:a16="http://schemas.microsoft.com/office/drawing/2014/main" id="{67B841D1-11E1-243C-B805-3F41D8827D62}"/>
              </a:ext>
            </a:extLst>
          </p:cNvPr>
          <p:cNvPicPr>
            <a:picLocks noChangeAspect="1"/>
          </p:cNvPicPr>
          <p:nvPr/>
        </p:nvPicPr>
        <p:blipFill>
          <a:blip r:embed="rId4"/>
          <a:srcRect t="-300" r="1327" b="2317"/>
          <a:stretch>
            <a:fillRect/>
          </a:stretch>
        </p:blipFill>
        <p:spPr>
          <a:xfrm>
            <a:off x="9096428" y="5468574"/>
            <a:ext cx="1870317" cy="11384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A3BAB223-5208-6B8F-1ECD-4CE964B7A0FD}"/>
              </a:ext>
            </a:extLst>
          </p:cNvPr>
          <p:cNvPicPr>
            <a:picLocks noChangeAspect="1"/>
          </p:cNvPicPr>
          <p:nvPr/>
        </p:nvPicPr>
        <p:blipFill>
          <a:blip r:embed="rId5"/>
          <a:stretch>
            <a:fillRect/>
          </a:stretch>
        </p:blipFill>
        <p:spPr>
          <a:xfrm>
            <a:off x="5252044" y="5565220"/>
            <a:ext cx="1905000" cy="93345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ACE98092-A38F-2D33-696A-6F7C13F18A03}"/>
              </a:ext>
            </a:extLst>
          </p:cNvPr>
          <p:cNvPicPr>
            <a:picLocks noChangeAspect="1"/>
          </p:cNvPicPr>
          <p:nvPr/>
        </p:nvPicPr>
        <p:blipFill>
          <a:blip r:embed="rId6"/>
          <a:stretch>
            <a:fillRect/>
          </a:stretch>
        </p:blipFill>
        <p:spPr>
          <a:xfrm>
            <a:off x="5371387" y="5642474"/>
            <a:ext cx="1905000" cy="94297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515758CF-F0C4-ADFC-70B9-29BA26B32F19}"/>
              </a:ext>
            </a:extLst>
          </p:cNvPr>
          <p:cNvPicPr>
            <a:picLocks noChangeAspect="1"/>
          </p:cNvPicPr>
          <p:nvPr/>
        </p:nvPicPr>
        <p:blipFill>
          <a:blip r:embed="rId7"/>
          <a:stretch>
            <a:fillRect/>
          </a:stretch>
        </p:blipFill>
        <p:spPr>
          <a:xfrm>
            <a:off x="5532142" y="5726287"/>
            <a:ext cx="1914525" cy="942975"/>
          </a:xfrm>
          <a:prstGeom prst="rect">
            <a:avLst/>
          </a:prstGeom>
        </p:spPr>
      </p:pic>
      <p:pic>
        <p:nvPicPr>
          <p:cNvPr id="2" name="Picture 1" descr="Grocery store produce section">
            <a:extLst>
              <a:ext uri="{FF2B5EF4-FFF2-40B4-BE49-F238E27FC236}">
                <a16:creationId xmlns:a16="http://schemas.microsoft.com/office/drawing/2014/main" id="{C2AFC116-6158-DF26-3531-211B93310187}"/>
              </a:ext>
            </a:extLst>
          </p:cNvPr>
          <p:cNvPicPr>
            <a:picLocks noChangeAspect="1"/>
          </p:cNvPicPr>
          <p:nvPr/>
        </p:nvPicPr>
        <p:blipFill>
          <a:blip r:embed="rId8"/>
          <a:srcRect/>
          <a:stretch/>
        </p:blipFill>
        <p:spPr>
          <a:xfrm>
            <a:off x="0" y="434556"/>
            <a:ext cx="4466319" cy="4442723"/>
          </a:xfrm>
          <a:prstGeom prst="rect">
            <a:avLst/>
          </a:prstGeom>
        </p:spPr>
      </p:pic>
    </p:spTree>
    <p:extLst>
      <p:ext uri="{BB962C8B-B14F-4D97-AF65-F5344CB8AC3E}">
        <p14:creationId xmlns:p14="http://schemas.microsoft.com/office/powerpoint/2010/main" val="2293038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ocery store produce section">
            <a:extLst>
              <a:ext uri="{FF2B5EF4-FFF2-40B4-BE49-F238E27FC236}">
                <a16:creationId xmlns:a16="http://schemas.microsoft.com/office/drawing/2014/main" id="{B582FB52-5CA3-4741-AF82-D853980BB64B}"/>
              </a:ext>
            </a:extLst>
          </p:cNvPr>
          <p:cNvPicPr>
            <a:picLocks noChangeAspect="1"/>
          </p:cNvPicPr>
          <p:nvPr/>
        </p:nvPicPr>
        <p:blipFill>
          <a:blip r:embed="rId2"/>
          <a:srcRect/>
          <a:stretch/>
        </p:blipFill>
        <p:spPr>
          <a:xfrm>
            <a:off x="0" y="0"/>
            <a:ext cx="4466319" cy="6442694"/>
          </a:xfrm>
          <a:prstGeom prst="rect">
            <a:avLst/>
          </a:prstGeom>
        </p:spPr>
      </p:pic>
      <p:sp>
        <p:nvSpPr>
          <p:cNvPr id="7" name="Rectangle: Rounded Corners 6">
            <a:extLst>
              <a:ext uri="{FF2B5EF4-FFF2-40B4-BE49-F238E27FC236}">
                <a16:creationId xmlns:a16="http://schemas.microsoft.com/office/drawing/2014/main" id="{C72CAD58-C539-46F6-A073-3C1DD57950F0}"/>
              </a:ext>
            </a:extLst>
          </p:cNvPr>
          <p:cNvSpPr/>
          <p:nvPr/>
        </p:nvSpPr>
        <p:spPr>
          <a:xfrm>
            <a:off x="4799856" y="1590992"/>
            <a:ext cx="7056784" cy="851086"/>
          </a:xfrm>
          <a:prstGeom prst="roundRect">
            <a:avLst>
              <a:gd name="adj" fmla="val 73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lang="en-US" sz="1000" dirty="0">
                <a:solidFill>
                  <a:srgbClr val="000000"/>
                </a:solidFill>
              </a:rPr>
              <a:t>The project was a key initiative managed by </a:t>
            </a:r>
            <a:r>
              <a:rPr lang="en-US" sz="1000" b="1" dirty="0">
                <a:solidFill>
                  <a:srgbClr val="000000"/>
                </a:solidFill>
              </a:rPr>
              <a:t>Capgemini</a:t>
            </a:r>
            <a:r>
              <a:rPr lang="en-US" sz="1000" dirty="0">
                <a:solidFill>
                  <a:srgbClr val="000000"/>
                </a:solidFill>
              </a:rPr>
              <a:t> to support the company in the preparation for the roll-out of </a:t>
            </a:r>
            <a:r>
              <a:rPr lang="en-US" sz="1000" b="1" dirty="0">
                <a:solidFill>
                  <a:srgbClr val="000000"/>
                </a:solidFill>
              </a:rPr>
              <a:t>14 Core Model systems</a:t>
            </a:r>
            <a:r>
              <a:rPr lang="en-US" sz="1000" dirty="0">
                <a:solidFill>
                  <a:srgbClr val="000000"/>
                </a:solidFill>
              </a:rPr>
              <a:t>. The project spanned </a:t>
            </a:r>
            <a:r>
              <a:rPr lang="en-US" sz="1000" b="1" dirty="0">
                <a:solidFill>
                  <a:srgbClr val="000000"/>
                </a:solidFill>
              </a:rPr>
              <a:t>over a year</a:t>
            </a:r>
            <a:r>
              <a:rPr lang="en-US" sz="1000" dirty="0">
                <a:solidFill>
                  <a:srgbClr val="000000"/>
                </a:solidFill>
              </a:rPr>
              <a:t> and involved a </a:t>
            </a:r>
            <a:r>
              <a:rPr lang="en-US" sz="1000" b="1" dirty="0">
                <a:solidFill>
                  <a:srgbClr val="000000"/>
                </a:solidFill>
              </a:rPr>
              <a:t>team of 12 experienced consultants</a:t>
            </a:r>
            <a:r>
              <a:rPr lang="en-US" sz="1000" dirty="0">
                <a:solidFill>
                  <a:srgbClr val="000000"/>
                </a:solidFill>
              </a:rPr>
              <a:t> specializing in </a:t>
            </a:r>
            <a:r>
              <a:rPr lang="en-US" sz="1000" b="1" dirty="0">
                <a:solidFill>
                  <a:srgbClr val="000000"/>
                </a:solidFill>
              </a:rPr>
              <a:t>Commercial, Logistics, Performance, Product, Franchising, Store, Finance, and Supplier Management</a:t>
            </a:r>
            <a:r>
              <a:rPr lang="en-US" sz="1000" dirty="0">
                <a:solidFill>
                  <a:srgbClr val="000000"/>
                </a:solidFill>
              </a:rPr>
              <a:t>. However, the project was ultimately discontinued due to technical challenges with the Core Model.</a:t>
            </a:r>
          </a:p>
        </p:txBody>
      </p:sp>
      <p:sp>
        <p:nvSpPr>
          <p:cNvPr id="8" name="Rectangle: Rounded Corners 7">
            <a:extLst>
              <a:ext uri="{FF2B5EF4-FFF2-40B4-BE49-F238E27FC236}">
                <a16:creationId xmlns:a16="http://schemas.microsoft.com/office/drawing/2014/main" id="{AC8EBD17-0387-4A96-88B9-8EC32358D55A}"/>
              </a:ext>
            </a:extLst>
          </p:cNvPr>
          <p:cNvSpPr/>
          <p:nvPr/>
        </p:nvSpPr>
        <p:spPr>
          <a:xfrm>
            <a:off x="4851152" y="2722769"/>
            <a:ext cx="7056784" cy="1693154"/>
          </a:xfrm>
          <a:prstGeom prst="roundRect">
            <a:avLst>
              <a:gd name="adj" fmla="val 604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lvl="0" indent="-171450">
              <a:buFont typeface="Arial" panose="020B0604020202020204" pitchFamily="34" charset="0"/>
              <a:buChar char="•"/>
              <a:defRPr/>
            </a:pPr>
            <a:r>
              <a:rPr lang="en-US" sz="1000" dirty="0">
                <a:solidFill>
                  <a:srgbClr val="000000"/>
                </a:solidFill>
              </a:rPr>
              <a:t>Review and update business gaps identified in 2020 &amp; Align Corporate processes with local business needs.</a:t>
            </a:r>
          </a:p>
          <a:p>
            <a:pPr marL="171450" lvl="0" indent="-171450">
              <a:buFont typeface="Arial" panose="020B0604020202020204" pitchFamily="34" charset="0"/>
              <a:buChar char="•"/>
              <a:defRPr/>
            </a:pPr>
            <a:r>
              <a:rPr lang="en-US" sz="1000" dirty="0">
                <a:solidFill>
                  <a:srgbClr val="000000"/>
                </a:solidFill>
              </a:rPr>
              <a:t>Define and prioritize the implementation stakes for each gap.</a:t>
            </a:r>
          </a:p>
          <a:p>
            <a:pPr marL="171450" lvl="0" indent="-171450">
              <a:buFont typeface="Arial" panose="020B0604020202020204" pitchFamily="34" charset="0"/>
              <a:buChar char="•"/>
              <a:defRPr/>
            </a:pPr>
            <a:r>
              <a:rPr lang="en-US" sz="1000" dirty="0">
                <a:solidFill>
                  <a:srgbClr val="000000"/>
                </a:solidFill>
              </a:rPr>
              <a:t>Establish the use cases to be implemented in the Core Model.</a:t>
            </a:r>
          </a:p>
          <a:p>
            <a:pPr marL="171450" lvl="0" indent="-171450">
              <a:buFont typeface="Arial" panose="020B0604020202020204" pitchFamily="34" charset="0"/>
              <a:buChar char="•"/>
              <a:defRPr/>
            </a:pPr>
            <a:r>
              <a:rPr lang="en-US" sz="1000" dirty="0">
                <a:solidFill>
                  <a:srgbClr val="000000"/>
                </a:solidFill>
              </a:rPr>
              <a:t>Develop a data migration strategy and Master Data Management (MDM) framework.</a:t>
            </a:r>
          </a:p>
          <a:p>
            <a:pPr marL="171450" lvl="0" indent="-171450">
              <a:buFont typeface="Arial" panose="020B0604020202020204" pitchFamily="34" charset="0"/>
              <a:buChar char="•"/>
              <a:defRPr/>
            </a:pPr>
            <a:r>
              <a:rPr lang="en-US" sz="1000" dirty="0">
                <a:solidFill>
                  <a:srgbClr val="000000"/>
                </a:solidFill>
              </a:rPr>
              <a:t>Define an integration strategy between the company’s systems and the 14 Core Model systems.</a:t>
            </a:r>
          </a:p>
          <a:p>
            <a:pPr marL="171450" lvl="0" indent="-171450">
              <a:buFont typeface="Arial" panose="020B0604020202020204" pitchFamily="34" charset="0"/>
              <a:buChar char="•"/>
              <a:defRPr/>
            </a:pPr>
            <a:r>
              <a:rPr lang="en-US" sz="1000" dirty="0">
                <a:solidFill>
                  <a:srgbClr val="000000"/>
                </a:solidFill>
              </a:rPr>
              <a:t>Assess local architecture and its integration with the reference Core Model architecture.</a:t>
            </a:r>
          </a:p>
          <a:p>
            <a:pPr marL="171450" lvl="0" indent="-171450">
              <a:buFont typeface="Arial" panose="020B0604020202020204" pitchFamily="34" charset="0"/>
              <a:buChar char="•"/>
              <a:defRPr/>
            </a:pPr>
            <a:r>
              <a:rPr lang="en-US" sz="1000" dirty="0">
                <a:solidFill>
                  <a:srgbClr val="000000"/>
                </a:solidFill>
              </a:rPr>
              <a:t>Develop a roll-out strategy in coordination with Corporate.</a:t>
            </a:r>
          </a:p>
          <a:p>
            <a:pPr marL="171450" lvl="0" indent="-171450">
              <a:buFont typeface="Arial" panose="020B0604020202020204" pitchFamily="34" charset="0"/>
              <a:buChar char="•"/>
              <a:defRPr/>
            </a:pPr>
            <a:r>
              <a:rPr lang="en-US" sz="1000" dirty="0">
                <a:solidFill>
                  <a:srgbClr val="000000"/>
                </a:solidFill>
              </a:rPr>
              <a:t>Build a cost model for gap implementation.</a:t>
            </a:r>
          </a:p>
          <a:p>
            <a:pPr marL="171450" lvl="0" indent="-171450">
              <a:buFont typeface="Arial" panose="020B0604020202020204" pitchFamily="34" charset="0"/>
              <a:buChar char="•"/>
              <a:defRPr/>
            </a:pPr>
            <a:r>
              <a:rPr lang="en-US" sz="1000" dirty="0">
                <a:solidFill>
                  <a:srgbClr val="000000"/>
                </a:solidFill>
              </a:rPr>
              <a:t>Implement a Change Management stream to facilitate process adoption.</a:t>
            </a:r>
          </a:p>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endPar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endParaRPr>
          </a:p>
          <a:p>
            <a:pPr>
              <a:spcBef>
                <a:spcPts val="600"/>
              </a:spcBef>
              <a:buClr>
                <a:schemeClr val="accent1"/>
              </a:buClr>
            </a:pPr>
            <a:r>
              <a:rPr lang="en-AU" sz="900" noProof="0" dirty="0">
                <a:solidFill>
                  <a:schemeClr val="tx1"/>
                </a:solidFill>
              </a:rPr>
              <a:t>Note</a:t>
            </a:r>
            <a:r>
              <a:rPr lang="en-AU" sz="900" b="1" noProof="0" dirty="0">
                <a:solidFill>
                  <a:schemeClr val="tx1"/>
                </a:solidFill>
              </a:rPr>
              <a:t>: </a:t>
            </a:r>
            <a:r>
              <a:rPr lang="en-AU" sz="900" b="1" noProof="0" dirty="0" err="1">
                <a:solidFill>
                  <a:schemeClr val="tx1"/>
                </a:solidFill>
              </a:rPr>
              <a:t>Asssed</a:t>
            </a:r>
            <a:r>
              <a:rPr lang="en-AU" sz="900" b="1" noProof="0" dirty="0">
                <a:solidFill>
                  <a:schemeClr val="tx1"/>
                </a:solidFill>
              </a:rPr>
              <a:t> also Corporate the company Demand and Supply Planning Processes. Identifying with the Core team changes and Gaps</a:t>
            </a:r>
          </a:p>
        </p:txBody>
      </p:sp>
      <p:sp>
        <p:nvSpPr>
          <p:cNvPr id="9" name="Rectangle: Rounded Corners 8">
            <a:extLst>
              <a:ext uri="{FF2B5EF4-FFF2-40B4-BE49-F238E27FC236}">
                <a16:creationId xmlns:a16="http://schemas.microsoft.com/office/drawing/2014/main" id="{5ADF8EFA-29FC-4065-9FCA-0987EE1CD8D9}"/>
              </a:ext>
            </a:extLst>
          </p:cNvPr>
          <p:cNvSpPr/>
          <p:nvPr/>
        </p:nvSpPr>
        <p:spPr>
          <a:xfrm>
            <a:off x="4851152" y="5027675"/>
            <a:ext cx="7056784" cy="1732745"/>
          </a:xfrm>
          <a:prstGeom prst="roundRect">
            <a:avLst>
              <a:gd name="adj" fmla="val 80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spcBef>
                <a:spcPts val="600"/>
              </a:spcBef>
              <a:buClr>
                <a:srgbClr val="0070C0"/>
              </a:buClr>
              <a:buFont typeface="Wingdings" panose="05000000000000000000" pitchFamily="2" charset="2"/>
              <a:buChar char="§"/>
            </a:pPr>
            <a:r>
              <a:rPr lang="en-US" sz="1000" dirty="0">
                <a:solidFill>
                  <a:srgbClr val="000000"/>
                </a:solidFill>
              </a:rPr>
              <a:t>(</a:t>
            </a:r>
            <a:r>
              <a:rPr lang="en-US" sz="1000" dirty="0" err="1">
                <a:solidFill>
                  <a:srgbClr val="000000"/>
                </a:solidFill>
              </a:rPr>
              <a:t>i</a:t>
            </a:r>
            <a:r>
              <a:rPr lang="en-US" sz="1000" dirty="0">
                <a:solidFill>
                  <a:srgbClr val="000000"/>
                </a:solidFill>
              </a:rPr>
              <a:t>) Managed the project and led collaboration with Corporate and business teams (ii) Conducted business gap analysis and defined adaptation strategies (iii) Facilitated workshops across Business, IT, and Change Management streams (iv) Supported the Corporate steering committee in defining implementation priorities (v) Gained deep knowledge of the company’s business processes, Core Model architecture, and FINE system.</a:t>
            </a:r>
            <a:endParaRPr lang="en-AU" sz="1000" noProof="0" dirty="0">
              <a:solidFill>
                <a:schemeClr val="tx1"/>
              </a:solidFill>
            </a:endParaRPr>
          </a:p>
        </p:txBody>
      </p:sp>
      <p:sp>
        <p:nvSpPr>
          <p:cNvPr id="10" name="Rectangle 9">
            <a:extLst>
              <a:ext uri="{FF2B5EF4-FFF2-40B4-BE49-F238E27FC236}">
                <a16:creationId xmlns:a16="http://schemas.microsoft.com/office/drawing/2014/main" id="{F11C3585-1FAE-4AB2-BE3C-73543AA0414B}"/>
              </a:ext>
            </a:extLst>
          </p:cNvPr>
          <p:cNvSpPr/>
          <p:nvPr/>
        </p:nvSpPr>
        <p:spPr>
          <a:xfrm>
            <a:off x="4799856" y="1292202"/>
            <a:ext cx="2165978" cy="307777"/>
          </a:xfrm>
          <a:prstGeom prst="rect">
            <a:avLst/>
          </a:prstGeom>
        </p:spPr>
        <p:txBody>
          <a:bodyPr wrap="none">
            <a:spAutoFit/>
          </a:bodyPr>
          <a:lstStyle/>
          <a:p>
            <a:r>
              <a:rPr lang="en-AU" sz="1400" b="1" noProof="0">
                <a:solidFill>
                  <a:schemeClr val="accent1"/>
                </a:solidFill>
              </a:rPr>
              <a:t>Context and objectives</a:t>
            </a:r>
          </a:p>
        </p:txBody>
      </p:sp>
      <p:sp>
        <p:nvSpPr>
          <p:cNvPr id="11" name="Rectangle 10">
            <a:extLst>
              <a:ext uri="{FF2B5EF4-FFF2-40B4-BE49-F238E27FC236}">
                <a16:creationId xmlns:a16="http://schemas.microsoft.com/office/drawing/2014/main" id="{B14DE056-8356-4D55-B689-3F9E1AE54066}"/>
              </a:ext>
            </a:extLst>
          </p:cNvPr>
          <p:cNvSpPr/>
          <p:nvPr/>
        </p:nvSpPr>
        <p:spPr>
          <a:xfrm>
            <a:off x="4799856" y="2309971"/>
            <a:ext cx="906017" cy="307777"/>
          </a:xfrm>
          <a:prstGeom prst="rect">
            <a:avLst/>
          </a:prstGeom>
        </p:spPr>
        <p:txBody>
          <a:bodyPr wrap="none">
            <a:spAutoFit/>
          </a:bodyPr>
          <a:lstStyle/>
          <a:p>
            <a:r>
              <a:rPr lang="en-AU" sz="1400" b="1" noProof="0">
                <a:solidFill>
                  <a:schemeClr val="accent1"/>
                </a:solidFill>
              </a:rPr>
              <a:t>Solution</a:t>
            </a:r>
          </a:p>
        </p:txBody>
      </p:sp>
      <p:sp>
        <p:nvSpPr>
          <p:cNvPr id="12" name="Rectangle 11">
            <a:extLst>
              <a:ext uri="{FF2B5EF4-FFF2-40B4-BE49-F238E27FC236}">
                <a16:creationId xmlns:a16="http://schemas.microsoft.com/office/drawing/2014/main" id="{BD83D0C6-A1C9-4567-B7FB-5EA5F1A9DE7F}"/>
              </a:ext>
            </a:extLst>
          </p:cNvPr>
          <p:cNvSpPr/>
          <p:nvPr/>
        </p:nvSpPr>
        <p:spPr>
          <a:xfrm>
            <a:off x="4851152" y="4801096"/>
            <a:ext cx="1952779" cy="307777"/>
          </a:xfrm>
          <a:prstGeom prst="rect">
            <a:avLst/>
          </a:prstGeom>
        </p:spPr>
        <p:txBody>
          <a:bodyPr wrap="none">
            <a:spAutoFit/>
          </a:bodyPr>
          <a:lstStyle/>
          <a:p>
            <a:r>
              <a:rPr lang="en-AU" sz="1400" b="1" noProof="0">
                <a:solidFill>
                  <a:schemeClr val="accent1"/>
                </a:solidFill>
              </a:rPr>
              <a:t>Benefits and Results</a:t>
            </a:r>
          </a:p>
        </p:txBody>
      </p:sp>
      <p:sp>
        <p:nvSpPr>
          <p:cNvPr id="15" name="Rectangle 14">
            <a:extLst>
              <a:ext uri="{FF2B5EF4-FFF2-40B4-BE49-F238E27FC236}">
                <a16:creationId xmlns:a16="http://schemas.microsoft.com/office/drawing/2014/main" id="{5BBEF06B-57B2-CD12-0DDA-4CC31C5AE5C5}"/>
              </a:ext>
            </a:extLst>
          </p:cNvPr>
          <p:cNvSpPr/>
          <p:nvPr/>
        </p:nvSpPr>
        <p:spPr>
          <a:xfrm>
            <a:off x="0" y="0"/>
            <a:ext cx="4571206" cy="424932"/>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16" name="Rectangle 15">
            <a:extLst>
              <a:ext uri="{FF2B5EF4-FFF2-40B4-BE49-F238E27FC236}">
                <a16:creationId xmlns:a16="http://schemas.microsoft.com/office/drawing/2014/main" id="{B613EF4C-19BF-58AB-8250-9F4AA2C12C0B}"/>
              </a:ext>
            </a:extLst>
          </p:cNvPr>
          <p:cNvSpPr/>
          <p:nvPr/>
        </p:nvSpPr>
        <p:spPr>
          <a:xfrm>
            <a:off x="113051"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6E45AD"/>
                </a:solidFill>
                <a:effectLst/>
                <a:uLnTx/>
                <a:uFillTx/>
                <a:latin typeface="Ubuntu" panose="020B0504030602030204" pitchFamily="34" charset="0"/>
                <a:ea typeface="+mn-ea"/>
                <a:cs typeface="+mn-cs"/>
              </a:rPr>
              <a:t>CPRD</a:t>
            </a:r>
          </a:p>
        </p:txBody>
      </p:sp>
      <p:cxnSp>
        <p:nvCxnSpPr>
          <p:cNvPr id="17" name="Straight Connector 16">
            <a:extLst>
              <a:ext uri="{FF2B5EF4-FFF2-40B4-BE49-F238E27FC236}">
                <a16:creationId xmlns:a16="http://schemas.microsoft.com/office/drawing/2014/main" id="{F7B57ED9-0EAB-C3A9-2027-F9BA13DA5BA1}"/>
              </a:ext>
            </a:extLst>
          </p:cNvPr>
          <p:cNvCxnSpPr/>
          <p:nvPr/>
        </p:nvCxnSpPr>
        <p:spPr>
          <a:xfrm>
            <a:off x="113051" y="415306"/>
            <a:ext cx="2160000" cy="0"/>
          </a:xfrm>
          <a:prstGeom prst="line">
            <a:avLst/>
          </a:prstGeom>
          <a:noFill/>
          <a:ln w="25400" cap="flat">
            <a:solidFill>
              <a:srgbClr val="6E45AD"/>
            </a:solidFill>
            <a:prstDash val="solid"/>
            <a:round/>
          </a:ln>
          <a:effectLst/>
          <a:sp3d/>
        </p:spPr>
        <p:style>
          <a:lnRef idx="0">
            <a:scrgbClr r="0" g="0" b="0"/>
          </a:lnRef>
          <a:fillRef idx="0">
            <a:scrgbClr r="0" g="0" b="0"/>
          </a:fillRef>
          <a:effectRef idx="0">
            <a:scrgbClr r="0" g="0" b="0"/>
          </a:effectRef>
          <a:fontRef idx="none"/>
        </p:style>
      </p:cxnSp>
      <p:sp>
        <p:nvSpPr>
          <p:cNvPr id="18" name="Rectangle 17">
            <a:extLst>
              <a:ext uri="{FF2B5EF4-FFF2-40B4-BE49-F238E27FC236}">
                <a16:creationId xmlns:a16="http://schemas.microsoft.com/office/drawing/2014/main" id="{7B35FEE7-7735-9465-0994-FEA8BEC3F4D5}"/>
              </a:ext>
            </a:extLst>
          </p:cNvPr>
          <p:cNvSpPr/>
          <p:nvPr/>
        </p:nvSpPr>
        <p:spPr>
          <a:xfrm>
            <a:off x="2202428" y="117681"/>
            <a:ext cx="2263891"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400" b="1" noProof="0" dirty="0">
                <a:solidFill>
                  <a:srgbClr val="274C6C"/>
                </a:solidFill>
                <a:latin typeface="Ubuntu" panose="020B0504030602030204" pitchFamily="34" charset="0"/>
              </a:rPr>
              <a:t>ERP</a:t>
            </a:r>
            <a:endParaRPr kumimoji="0" lang="en-AU" sz="1400" b="1" i="0" u="none" strike="noStrike" kern="1200" cap="none" spc="0" normalizeH="0" baseline="0" noProof="0" dirty="0">
              <a:ln>
                <a:noFill/>
              </a:ln>
              <a:solidFill>
                <a:srgbClr val="274C6C"/>
              </a:solidFill>
              <a:effectLst/>
              <a:uLnTx/>
              <a:uFillTx/>
              <a:latin typeface="Ubuntu" panose="020B0504030602030204" pitchFamily="34" charset="0"/>
              <a:ea typeface="+mn-ea"/>
              <a:cs typeface="+mn-cs"/>
            </a:endParaRPr>
          </a:p>
        </p:txBody>
      </p:sp>
      <p:cxnSp>
        <p:nvCxnSpPr>
          <p:cNvPr id="19" name="Straight Connector 18">
            <a:extLst>
              <a:ext uri="{FF2B5EF4-FFF2-40B4-BE49-F238E27FC236}">
                <a16:creationId xmlns:a16="http://schemas.microsoft.com/office/drawing/2014/main" id="{38000F63-0403-18AC-8282-17282446FFAD}"/>
              </a:ext>
            </a:extLst>
          </p:cNvPr>
          <p:cNvCxnSpPr>
            <a:cxnSpLocks/>
          </p:cNvCxnSpPr>
          <p:nvPr/>
        </p:nvCxnSpPr>
        <p:spPr>
          <a:xfrm>
            <a:off x="2306319" y="415306"/>
            <a:ext cx="2160000" cy="0"/>
          </a:xfrm>
          <a:prstGeom prst="line">
            <a:avLst/>
          </a:prstGeom>
          <a:noFill/>
          <a:ln w="25400" cap="flat">
            <a:solidFill>
              <a:srgbClr val="274C6C"/>
            </a:solidFill>
            <a:prstDash val="solid"/>
            <a:round/>
          </a:ln>
          <a:effectLst/>
          <a:sp3d/>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ED36EECA-9290-C4B2-1334-58E9524F342C}"/>
              </a:ext>
            </a:extLst>
          </p:cNvPr>
          <p:cNvCxnSpPr>
            <a:cxnSpLocks/>
          </p:cNvCxnSpPr>
          <p:nvPr/>
        </p:nvCxnSpPr>
        <p:spPr>
          <a:xfrm flipV="1">
            <a:off x="2289383" y="3231"/>
            <a:ext cx="0" cy="415305"/>
          </a:xfrm>
          <a:prstGeom prst="line">
            <a:avLst/>
          </a:prstGeom>
          <a:noFill/>
          <a:ln w="25400" cap="flat">
            <a:solidFill>
              <a:schemeClr val="bg1">
                <a:lumMod val="75000"/>
              </a:schemeClr>
            </a:solidFill>
            <a:prstDash val="solid"/>
            <a:round/>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80596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415B3-E590-D37D-75B7-7C2C79ADD209}"/>
            </a:ext>
          </a:extLst>
        </p:cNvPr>
        <p:cNvGrpSpPr/>
        <p:nvPr/>
      </p:nvGrpSpPr>
      <p:grpSpPr>
        <a:xfrm>
          <a:off x="0" y="0"/>
          <a:ext cx="0" cy="0"/>
          <a:chOff x="0" y="0"/>
          <a:chExt cx="0" cy="0"/>
        </a:xfrm>
      </p:grpSpPr>
      <p:pic>
        <p:nvPicPr>
          <p:cNvPr id="4" name="Picture 3" descr="Grocery store produce section">
            <a:extLst>
              <a:ext uri="{FF2B5EF4-FFF2-40B4-BE49-F238E27FC236}">
                <a16:creationId xmlns:a16="http://schemas.microsoft.com/office/drawing/2014/main" id="{1D721298-932E-B65B-FA92-94D4F655FC42}"/>
              </a:ext>
            </a:extLst>
          </p:cNvPr>
          <p:cNvPicPr>
            <a:picLocks noChangeAspect="1"/>
          </p:cNvPicPr>
          <p:nvPr/>
        </p:nvPicPr>
        <p:blipFill>
          <a:blip r:embed="rId2"/>
          <a:srcRect/>
          <a:stretch/>
        </p:blipFill>
        <p:spPr>
          <a:xfrm>
            <a:off x="0" y="0"/>
            <a:ext cx="4466319" cy="6442694"/>
          </a:xfrm>
          <a:prstGeom prst="rect">
            <a:avLst/>
          </a:prstGeom>
        </p:spPr>
      </p:pic>
      <p:sp>
        <p:nvSpPr>
          <p:cNvPr id="7" name="Rectangle: Rounded Corners 6">
            <a:extLst>
              <a:ext uri="{FF2B5EF4-FFF2-40B4-BE49-F238E27FC236}">
                <a16:creationId xmlns:a16="http://schemas.microsoft.com/office/drawing/2014/main" id="{F6CC2D06-5E2A-90E2-7E82-EA98E1A5BCB5}"/>
              </a:ext>
            </a:extLst>
          </p:cNvPr>
          <p:cNvSpPr/>
          <p:nvPr/>
        </p:nvSpPr>
        <p:spPr>
          <a:xfrm>
            <a:off x="4799856" y="1590992"/>
            <a:ext cx="7056784" cy="851086"/>
          </a:xfrm>
          <a:prstGeom prst="roundRect">
            <a:avLst>
              <a:gd name="adj" fmla="val 73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lang="pt-PT" sz="1000" dirty="0">
                <a:solidFill>
                  <a:srgbClr val="000000"/>
                </a:solidFill>
              </a:rPr>
              <a:t>Capgemini led a </a:t>
            </a:r>
            <a:r>
              <a:rPr lang="pt-PT" sz="1000" b="1" dirty="0">
                <a:solidFill>
                  <a:srgbClr val="000000"/>
                </a:solidFill>
              </a:rPr>
              <a:t>diagnostic study</a:t>
            </a:r>
            <a:r>
              <a:rPr lang="pt-PT" sz="1000" dirty="0">
                <a:solidFill>
                  <a:srgbClr val="000000"/>
                </a:solidFill>
              </a:rPr>
              <a:t> on </a:t>
            </a:r>
            <a:r>
              <a:rPr lang="pt-PT" sz="1000" b="1" dirty="0">
                <a:solidFill>
                  <a:srgbClr val="000000"/>
                </a:solidFill>
              </a:rPr>
              <a:t>article master data processes</a:t>
            </a:r>
            <a:r>
              <a:rPr lang="pt-PT" sz="1000" dirty="0">
                <a:solidFill>
                  <a:srgbClr val="000000"/>
                </a:solidFill>
              </a:rPr>
              <a:t>, mapping governance across stakeholders—from suppliers to </a:t>
            </a:r>
            <a:r>
              <a:rPr lang="pt-PT" sz="1000" b="1" dirty="0">
                <a:solidFill>
                  <a:srgbClr val="000000"/>
                </a:solidFill>
              </a:rPr>
              <a:t>internal company’s management</a:t>
            </a:r>
            <a:r>
              <a:rPr lang="pt-PT" sz="1000" dirty="0">
                <a:solidFill>
                  <a:srgbClr val="000000"/>
                </a:solidFill>
              </a:rPr>
              <a:t>. The project aimed to improve </a:t>
            </a:r>
            <a:r>
              <a:rPr lang="pt-PT" sz="1000" b="1" dirty="0">
                <a:solidFill>
                  <a:srgbClr val="000000"/>
                </a:solidFill>
              </a:rPr>
              <a:t>data consistency, governance, and operational efficiency</a:t>
            </a:r>
            <a:r>
              <a:rPr lang="pt-PT" sz="1000" dirty="0">
                <a:solidFill>
                  <a:srgbClr val="000000"/>
                </a:solidFill>
              </a:rPr>
              <a:t> within the company’s </a:t>
            </a:r>
            <a:r>
              <a:rPr lang="pt-PT" sz="1000" b="1" dirty="0">
                <a:solidFill>
                  <a:srgbClr val="000000"/>
                </a:solidFill>
              </a:rPr>
              <a:t>master data framework</a:t>
            </a:r>
            <a:r>
              <a:rPr lang="pt-PT" sz="1000" dirty="0">
                <a:solidFill>
                  <a:srgbClr val="000000"/>
                </a:solidFill>
              </a:rPr>
              <a:t>.</a:t>
            </a:r>
          </a:p>
        </p:txBody>
      </p:sp>
      <p:sp>
        <p:nvSpPr>
          <p:cNvPr id="8" name="Rectangle: Rounded Corners 7">
            <a:extLst>
              <a:ext uri="{FF2B5EF4-FFF2-40B4-BE49-F238E27FC236}">
                <a16:creationId xmlns:a16="http://schemas.microsoft.com/office/drawing/2014/main" id="{1759E83E-33B3-1F32-698B-8D5A3D5B8BBE}"/>
              </a:ext>
            </a:extLst>
          </p:cNvPr>
          <p:cNvSpPr/>
          <p:nvPr/>
        </p:nvSpPr>
        <p:spPr>
          <a:xfrm>
            <a:off x="4851152" y="2722769"/>
            <a:ext cx="7056784" cy="1693154"/>
          </a:xfrm>
          <a:prstGeom prst="roundRect">
            <a:avLst>
              <a:gd name="adj" fmla="val 604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lvl="0" indent="-171450">
              <a:buFont typeface="Arial" panose="020B0604020202020204" pitchFamily="34" charset="0"/>
              <a:buChar char="•"/>
              <a:defRPr/>
            </a:pPr>
            <a:r>
              <a:rPr lang="en-US" sz="1000">
                <a:solidFill>
                  <a:srgbClr val="000000"/>
                </a:solidFill>
              </a:rPr>
              <a:t>Map master data governance across stakeholders.</a:t>
            </a:r>
          </a:p>
          <a:p>
            <a:pPr marL="171450" lvl="0" indent="-171450">
              <a:buFont typeface="Arial" panose="020B0604020202020204" pitchFamily="34" charset="0"/>
              <a:buChar char="•"/>
              <a:defRPr/>
            </a:pPr>
            <a:r>
              <a:rPr lang="en-US" sz="1000">
                <a:solidFill>
                  <a:srgbClr val="000000"/>
                </a:solidFill>
              </a:rPr>
              <a:t>Identify gaps and inefficiencies in master data creation and modification.</a:t>
            </a:r>
          </a:p>
          <a:p>
            <a:pPr marL="171450" lvl="0" indent="-171450">
              <a:buFont typeface="Arial" panose="020B0604020202020204" pitchFamily="34" charset="0"/>
              <a:buChar char="•"/>
              <a:defRPr/>
            </a:pPr>
            <a:r>
              <a:rPr lang="en-US" sz="1000">
                <a:solidFill>
                  <a:srgbClr val="000000"/>
                </a:solidFill>
              </a:rPr>
              <a:t>Improve data validation and governance rules.</a:t>
            </a:r>
          </a:p>
          <a:p>
            <a:pPr marL="171450" lvl="0" indent="-171450">
              <a:buFont typeface="Arial" panose="020B0604020202020204" pitchFamily="34" charset="0"/>
              <a:buChar char="•"/>
              <a:defRPr/>
            </a:pPr>
            <a:r>
              <a:rPr lang="en-US" sz="1000">
                <a:solidFill>
                  <a:srgbClr val="000000"/>
                </a:solidFill>
              </a:rPr>
              <a:t>Address operational inefficiencies caused by incorrect data.</a:t>
            </a:r>
          </a:p>
          <a:p>
            <a:pPr marL="171450" lvl="0" indent="-171450">
              <a:buFont typeface="Arial" panose="020B0604020202020204" pitchFamily="34" charset="0"/>
              <a:buChar char="•"/>
              <a:defRPr/>
            </a:pPr>
            <a:r>
              <a:rPr lang="en-US" sz="1000">
                <a:solidFill>
                  <a:srgbClr val="000000"/>
                </a:solidFill>
              </a:rPr>
              <a:t>Provide transformation recommendations for master data management.</a:t>
            </a:r>
          </a:p>
          <a:p>
            <a:pPr marL="171450" lvl="0" indent="-171450">
              <a:buFont typeface="Arial" panose="020B0604020202020204" pitchFamily="34" charset="0"/>
              <a:buChar char="•"/>
              <a:defRPr/>
            </a:pPr>
            <a:r>
              <a:rPr lang="en-US" sz="1050">
                <a:solidFill>
                  <a:srgbClr val="000000"/>
                </a:solidFill>
              </a:rPr>
              <a:t>Covered consumer unit logistics data (weight, dimensions, EAN13).</a:t>
            </a:r>
          </a:p>
          <a:p>
            <a:pPr marL="171450" lvl="0" indent="-171450">
              <a:buFont typeface="Arial" panose="020B0604020202020204" pitchFamily="34" charset="0"/>
              <a:buChar char="•"/>
              <a:defRPr/>
            </a:pPr>
            <a:r>
              <a:rPr lang="en-US" sz="1050">
                <a:solidFill>
                  <a:srgbClr val="000000"/>
                </a:solidFill>
              </a:rPr>
              <a:t>Included box/store pack data (ITF14) and pallet data.</a:t>
            </a:r>
          </a:p>
          <a:p>
            <a:pPr marL="171450" lvl="0" indent="-171450">
              <a:buFont typeface="Arial" panose="020B0604020202020204" pitchFamily="34" charset="0"/>
              <a:buChar char="•"/>
              <a:defRPr/>
            </a:pPr>
            <a:r>
              <a:rPr lang="en-US" sz="1050">
                <a:solidFill>
                  <a:srgbClr val="000000"/>
                </a:solidFill>
              </a:rPr>
              <a:t>Mapped processes and governance across:</a:t>
            </a:r>
          </a:p>
          <a:p>
            <a:pPr marL="628650" lvl="1" indent="-171450">
              <a:buFont typeface="Arial" panose="020B0604020202020204" pitchFamily="34" charset="0"/>
              <a:buChar char="•"/>
              <a:defRPr/>
            </a:pPr>
            <a:r>
              <a:rPr lang="en-US" sz="1050">
                <a:solidFill>
                  <a:srgbClr val="000000"/>
                </a:solidFill>
              </a:rPr>
              <a:t>Commercial/Product</a:t>
            </a:r>
          </a:p>
          <a:p>
            <a:pPr marL="628650" lvl="1" indent="-171450">
              <a:buFont typeface="Arial" panose="020B0604020202020204" pitchFamily="34" charset="0"/>
              <a:buChar char="•"/>
              <a:defRPr/>
            </a:pPr>
            <a:r>
              <a:rPr lang="en-US" sz="1050">
                <a:solidFill>
                  <a:srgbClr val="000000"/>
                </a:solidFill>
              </a:rPr>
              <a:t>Purchasing</a:t>
            </a:r>
          </a:p>
          <a:p>
            <a:pPr marL="628650" lvl="1" indent="-171450">
              <a:buFont typeface="Arial" panose="020B0604020202020204" pitchFamily="34" charset="0"/>
              <a:buChar char="•"/>
              <a:defRPr/>
            </a:pPr>
            <a:r>
              <a:rPr lang="en-US" sz="1050">
                <a:solidFill>
                  <a:srgbClr val="000000"/>
                </a:solidFill>
              </a:rPr>
              <a:t>E-Commerce</a:t>
            </a:r>
          </a:p>
          <a:p>
            <a:pPr marL="628650" lvl="1" indent="-171450">
              <a:buFont typeface="Arial" panose="020B0604020202020204" pitchFamily="34" charset="0"/>
              <a:buChar char="•"/>
              <a:defRPr/>
            </a:pPr>
            <a:r>
              <a:rPr lang="en-US" sz="1050">
                <a:solidFill>
                  <a:srgbClr val="000000"/>
                </a:solidFill>
              </a:rPr>
              <a:t>Supply Chain &amp; Logistics</a:t>
            </a:r>
          </a:p>
          <a:p>
            <a:pPr marL="628650" lvl="1" indent="-171450">
              <a:buFont typeface="Arial" panose="020B0604020202020204" pitchFamily="34" charset="0"/>
              <a:buChar char="•"/>
              <a:defRPr/>
            </a:pPr>
            <a:r>
              <a:rPr lang="en-US" sz="1050">
                <a:solidFill>
                  <a:srgbClr val="000000"/>
                </a:solidFill>
              </a:rPr>
              <a:t>Suppliers &amp; GS1 Portugal</a:t>
            </a:r>
          </a:p>
          <a:p>
            <a:pPr marL="171450" lvl="0" indent="-171450">
              <a:buFont typeface="Arial" panose="020B0604020202020204" pitchFamily="34" charset="0"/>
              <a:buChar char="•"/>
              <a:defRPr/>
            </a:pPr>
            <a:r>
              <a:rPr lang="en-US" sz="1050">
                <a:solidFill>
                  <a:srgbClr val="000000"/>
                </a:solidFill>
              </a:rPr>
              <a:t>Addressed data inconsistencies across systems like WMS and SIRIUS.A</a:t>
            </a:r>
          </a:p>
          <a:p>
            <a:pPr marL="171450" lvl="0" indent="-171450">
              <a:buFont typeface="Arial" panose="020B0604020202020204" pitchFamily="34" charset="0"/>
              <a:buChar char="•"/>
              <a:defRPr/>
            </a:pPr>
            <a:r>
              <a:rPr lang="en-US" sz="1050" err="1">
                <a:solidFill>
                  <a:srgbClr val="000000"/>
                </a:solidFill>
              </a:rPr>
              <a:t>ssessed</a:t>
            </a:r>
            <a:r>
              <a:rPr lang="en-US" sz="1050">
                <a:solidFill>
                  <a:srgbClr val="000000"/>
                </a:solidFill>
              </a:rPr>
              <a:t> risks related to GS1 PT’s Synch PT project and poor documentation of complex processes.</a:t>
            </a:r>
          </a:p>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endParaRPr kumimoji="0" lang="en-AU" sz="900" b="0" i="0" u="none" strike="noStrike" kern="0" cap="none" spc="0" normalizeH="0" baseline="0" noProof="0">
              <a:ln>
                <a:noFill/>
              </a:ln>
              <a:solidFill>
                <a:srgbClr val="000000"/>
              </a:solidFill>
              <a:effectLst/>
              <a:uLnTx/>
              <a:uFillTx/>
              <a:latin typeface="Ubuntu" panose="020B0504030602030204" pitchFamily="34" charset="0"/>
              <a:ea typeface="+mn-ea"/>
              <a:cs typeface="+mn-cs"/>
            </a:endParaRPr>
          </a:p>
        </p:txBody>
      </p:sp>
      <p:sp>
        <p:nvSpPr>
          <p:cNvPr id="9" name="Rectangle: Rounded Corners 8">
            <a:extLst>
              <a:ext uri="{FF2B5EF4-FFF2-40B4-BE49-F238E27FC236}">
                <a16:creationId xmlns:a16="http://schemas.microsoft.com/office/drawing/2014/main" id="{79BA4207-0335-C3C2-5CAE-F0FB831F2083}"/>
              </a:ext>
            </a:extLst>
          </p:cNvPr>
          <p:cNvSpPr/>
          <p:nvPr/>
        </p:nvSpPr>
        <p:spPr>
          <a:xfrm>
            <a:off x="4851152" y="5738139"/>
            <a:ext cx="7056784" cy="704555"/>
          </a:xfrm>
          <a:prstGeom prst="roundRect">
            <a:avLst>
              <a:gd name="adj" fmla="val 80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lvl="0" indent="-171450">
              <a:buFont typeface="Arial" panose="020B0604020202020204" pitchFamily="34" charset="0"/>
              <a:buChar char="•"/>
              <a:defRPr/>
            </a:pPr>
            <a:r>
              <a:rPr lang="en-US" sz="1000">
                <a:solidFill>
                  <a:srgbClr val="000000"/>
                </a:solidFill>
              </a:rPr>
              <a:t>Conducted a comprehensive analysis of master data governance.</a:t>
            </a:r>
          </a:p>
          <a:p>
            <a:pPr marL="171450" lvl="0" indent="-171450">
              <a:buFont typeface="Arial" panose="020B0604020202020204" pitchFamily="34" charset="0"/>
              <a:buChar char="•"/>
              <a:defRPr/>
            </a:pPr>
            <a:r>
              <a:rPr lang="en-US" sz="1000">
                <a:solidFill>
                  <a:srgbClr val="000000"/>
                </a:solidFill>
              </a:rPr>
              <a:t>Identified roles, responsibilities, and process inefficiencies.</a:t>
            </a:r>
          </a:p>
          <a:p>
            <a:pPr marL="171450" lvl="0" indent="-171450">
              <a:buFont typeface="Arial" panose="020B0604020202020204" pitchFamily="34" charset="0"/>
              <a:buChar char="•"/>
              <a:defRPr/>
            </a:pPr>
            <a:r>
              <a:rPr lang="en-US" sz="1000">
                <a:solidFill>
                  <a:srgbClr val="000000"/>
                </a:solidFill>
              </a:rPr>
              <a:t>Provided transformation recommendations for governance and data management.</a:t>
            </a:r>
            <a:br>
              <a:rPr lang="en-GB" sz="1000">
                <a:solidFill>
                  <a:srgbClr val="000000"/>
                </a:solidFill>
              </a:rPr>
            </a:br>
            <a:endParaRPr lang="en-GB" sz="1000">
              <a:solidFill>
                <a:srgbClr val="000000"/>
              </a:solidFill>
            </a:endParaRPr>
          </a:p>
        </p:txBody>
      </p:sp>
      <p:sp>
        <p:nvSpPr>
          <p:cNvPr id="10" name="Rectangle 9">
            <a:extLst>
              <a:ext uri="{FF2B5EF4-FFF2-40B4-BE49-F238E27FC236}">
                <a16:creationId xmlns:a16="http://schemas.microsoft.com/office/drawing/2014/main" id="{C8362D6B-9DEE-2DAF-43C7-95432A9F81AA}"/>
              </a:ext>
            </a:extLst>
          </p:cNvPr>
          <p:cNvSpPr/>
          <p:nvPr/>
        </p:nvSpPr>
        <p:spPr>
          <a:xfrm>
            <a:off x="4799856" y="1292202"/>
            <a:ext cx="2165978" cy="307777"/>
          </a:xfrm>
          <a:prstGeom prst="rect">
            <a:avLst/>
          </a:prstGeom>
        </p:spPr>
        <p:txBody>
          <a:bodyPr wrap="none">
            <a:spAutoFit/>
          </a:bodyPr>
          <a:lstStyle/>
          <a:p>
            <a:r>
              <a:rPr lang="en-AU" sz="1400" b="1" noProof="0">
                <a:solidFill>
                  <a:schemeClr val="accent1"/>
                </a:solidFill>
              </a:rPr>
              <a:t>Context and objectives</a:t>
            </a:r>
          </a:p>
        </p:txBody>
      </p:sp>
      <p:sp>
        <p:nvSpPr>
          <p:cNvPr id="11" name="Rectangle 10">
            <a:extLst>
              <a:ext uri="{FF2B5EF4-FFF2-40B4-BE49-F238E27FC236}">
                <a16:creationId xmlns:a16="http://schemas.microsoft.com/office/drawing/2014/main" id="{9EBF817F-2DF1-581D-42FB-354E561F5298}"/>
              </a:ext>
            </a:extLst>
          </p:cNvPr>
          <p:cNvSpPr/>
          <p:nvPr/>
        </p:nvSpPr>
        <p:spPr>
          <a:xfrm>
            <a:off x="4799856" y="2309971"/>
            <a:ext cx="906017" cy="307777"/>
          </a:xfrm>
          <a:prstGeom prst="rect">
            <a:avLst/>
          </a:prstGeom>
        </p:spPr>
        <p:txBody>
          <a:bodyPr wrap="none">
            <a:spAutoFit/>
          </a:bodyPr>
          <a:lstStyle/>
          <a:p>
            <a:r>
              <a:rPr lang="en-AU" sz="1400" b="1" noProof="0">
                <a:solidFill>
                  <a:schemeClr val="accent1"/>
                </a:solidFill>
              </a:rPr>
              <a:t>Solution</a:t>
            </a:r>
          </a:p>
        </p:txBody>
      </p:sp>
      <p:sp>
        <p:nvSpPr>
          <p:cNvPr id="12" name="Rectangle 11">
            <a:extLst>
              <a:ext uri="{FF2B5EF4-FFF2-40B4-BE49-F238E27FC236}">
                <a16:creationId xmlns:a16="http://schemas.microsoft.com/office/drawing/2014/main" id="{CE622CB3-F041-98A9-A63D-88B26F126CB2}"/>
              </a:ext>
            </a:extLst>
          </p:cNvPr>
          <p:cNvSpPr/>
          <p:nvPr/>
        </p:nvSpPr>
        <p:spPr>
          <a:xfrm>
            <a:off x="4851152" y="5430362"/>
            <a:ext cx="1952779" cy="307777"/>
          </a:xfrm>
          <a:prstGeom prst="rect">
            <a:avLst/>
          </a:prstGeom>
        </p:spPr>
        <p:txBody>
          <a:bodyPr wrap="none">
            <a:spAutoFit/>
          </a:bodyPr>
          <a:lstStyle/>
          <a:p>
            <a:r>
              <a:rPr lang="en-AU" sz="1400" b="1" noProof="0">
                <a:solidFill>
                  <a:schemeClr val="accent1"/>
                </a:solidFill>
              </a:rPr>
              <a:t>Benefits and Results</a:t>
            </a:r>
          </a:p>
        </p:txBody>
      </p:sp>
      <p:sp>
        <p:nvSpPr>
          <p:cNvPr id="15" name="Rectangle 14">
            <a:extLst>
              <a:ext uri="{FF2B5EF4-FFF2-40B4-BE49-F238E27FC236}">
                <a16:creationId xmlns:a16="http://schemas.microsoft.com/office/drawing/2014/main" id="{A4DE19B0-817B-4D75-AF49-EFDE9AE8D568}"/>
              </a:ext>
            </a:extLst>
          </p:cNvPr>
          <p:cNvSpPr/>
          <p:nvPr/>
        </p:nvSpPr>
        <p:spPr>
          <a:xfrm>
            <a:off x="0" y="0"/>
            <a:ext cx="4571206" cy="424932"/>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16" name="Rectangle 15">
            <a:extLst>
              <a:ext uri="{FF2B5EF4-FFF2-40B4-BE49-F238E27FC236}">
                <a16:creationId xmlns:a16="http://schemas.microsoft.com/office/drawing/2014/main" id="{12991ACE-0157-4072-CE08-F204F7CEB791}"/>
              </a:ext>
            </a:extLst>
          </p:cNvPr>
          <p:cNvSpPr/>
          <p:nvPr/>
        </p:nvSpPr>
        <p:spPr>
          <a:xfrm>
            <a:off x="113051" y="117681"/>
            <a:ext cx="2160000"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6E45AD"/>
                </a:solidFill>
                <a:effectLst/>
                <a:uLnTx/>
                <a:uFillTx/>
                <a:latin typeface="Ubuntu" panose="020B0504030602030204" pitchFamily="34" charset="0"/>
                <a:ea typeface="+mn-ea"/>
                <a:cs typeface="+mn-cs"/>
              </a:rPr>
              <a:t>CPRD</a:t>
            </a:r>
          </a:p>
        </p:txBody>
      </p:sp>
      <p:cxnSp>
        <p:nvCxnSpPr>
          <p:cNvPr id="17" name="Straight Connector 16">
            <a:extLst>
              <a:ext uri="{FF2B5EF4-FFF2-40B4-BE49-F238E27FC236}">
                <a16:creationId xmlns:a16="http://schemas.microsoft.com/office/drawing/2014/main" id="{2046ACF9-67B5-9EDA-7B58-28FFFCA363B9}"/>
              </a:ext>
            </a:extLst>
          </p:cNvPr>
          <p:cNvCxnSpPr/>
          <p:nvPr/>
        </p:nvCxnSpPr>
        <p:spPr>
          <a:xfrm>
            <a:off x="113051" y="415306"/>
            <a:ext cx="2160000" cy="0"/>
          </a:xfrm>
          <a:prstGeom prst="line">
            <a:avLst/>
          </a:prstGeom>
          <a:noFill/>
          <a:ln w="25400" cap="flat">
            <a:solidFill>
              <a:srgbClr val="6E45AD"/>
            </a:solidFill>
            <a:prstDash val="solid"/>
            <a:round/>
          </a:ln>
          <a:effectLst/>
          <a:sp3d/>
        </p:spPr>
        <p:style>
          <a:lnRef idx="0">
            <a:scrgbClr r="0" g="0" b="0"/>
          </a:lnRef>
          <a:fillRef idx="0">
            <a:scrgbClr r="0" g="0" b="0"/>
          </a:fillRef>
          <a:effectRef idx="0">
            <a:scrgbClr r="0" g="0" b="0"/>
          </a:effectRef>
          <a:fontRef idx="none"/>
        </p:style>
      </p:cxnSp>
      <p:sp>
        <p:nvSpPr>
          <p:cNvPr id="18" name="Rectangle 17">
            <a:extLst>
              <a:ext uri="{FF2B5EF4-FFF2-40B4-BE49-F238E27FC236}">
                <a16:creationId xmlns:a16="http://schemas.microsoft.com/office/drawing/2014/main" id="{D94C5BAC-334B-BBE8-8C45-D85450674B8F}"/>
              </a:ext>
            </a:extLst>
          </p:cNvPr>
          <p:cNvSpPr/>
          <p:nvPr/>
        </p:nvSpPr>
        <p:spPr>
          <a:xfrm>
            <a:off x="2202428" y="117681"/>
            <a:ext cx="2263891"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400" b="1" noProof="0">
                <a:solidFill>
                  <a:srgbClr val="274C6C"/>
                </a:solidFill>
                <a:latin typeface="Ubuntu" panose="020B0504030602030204" pitchFamily="34" charset="0"/>
              </a:rPr>
              <a:t>Product Master Data</a:t>
            </a:r>
            <a:endParaRPr kumimoji="0" lang="en-AU" sz="1400" b="1" i="0" u="none" strike="noStrike" kern="1200" cap="none" spc="0" normalizeH="0" baseline="0" noProof="0">
              <a:ln>
                <a:noFill/>
              </a:ln>
              <a:solidFill>
                <a:srgbClr val="274C6C"/>
              </a:solidFill>
              <a:effectLst/>
              <a:uLnTx/>
              <a:uFillTx/>
              <a:latin typeface="Ubuntu" panose="020B0504030602030204" pitchFamily="34" charset="0"/>
              <a:ea typeface="+mn-ea"/>
              <a:cs typeface="+mn-cs"/>
            </a:endParaRPr>
          </a:p>
        </p:txBody>
      </p:sp>
      <p:cxnSp>
        <p:nvCxnSpPr>
          <p:cNvPr id="19" name="Straight Connector 18">
            <a:extLst>
              <a:ext uri="{FF2B5EF4-FFF2-40B4-BE49-F238E27FC236}">
                <a16:creationId xmlns:a16="http://schemas.microsoft.com/office/drawing/2014/main" id="{FBC6567F-964B-9D92-6797-62C20568EBBA}"/>
              </a:ext>
            </a:extLst>
          </p:cNvPr>
          <p:cNvCxnSpPr>
            <a:cxnSpLocks/>
          </p:cNvCxnSpPr>
          <p:nvPr/>
        </p:nvCxnSpPr>
        <p:spPr>
          <a:xfrm>
            <a:off x="2306319" y="415306"/>
            <a:ext cx="2160000" cy="0"/>
          </a:xfrm>
          <a:prstGeom prst="line">
            <a:avLst/>
          </a:prstGeom>
          <a:noFill/>
          <a:ln w="25400" cap="flat">
            <a:solidFill>
              <a:srgbClr val="274C6C"/>
            </a:solidFill>
            <a:prstDash val="solid"/>
            <a:round/>
          </a:ln>
          <a:effectLst/>
          <a:sp3d/>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CC1572C6-B7AB-12B5-2A93-01DF3CF452BE}"/>
              </a:ext>
            </a:extLst>
          </p:cNvPr>
          <p:cNvCxnSpPr>
            <a:cxnSpLocks/>
          </p:cNvCxnSpPr>
          <p:nvPr/>
        </p:nvCxnSpPr>
        <p:spPr>
          <a:xfrm flipV="1">
            <a:off x="2289383" y="3231"/>
            <a:ext cx="0" cy="415305"/>
          </a:xfrm>
          <a:prstGeom prst="line">
            <a:avLst/>
          </a:prstGeom>
          <a:noFill/>
          <a:ln w="25400" cap="flat">
            <a:solidFill>
              <a:schemeClr val="bg1">
                <a:lumMod val="75000"/>
              </a:schemeClr>
            </a:solidFill>
            <a:prstDash val="solid"/>
            <a:round/>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206068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BBC1A-89FB-D3D7-F6EE-D307B698E4F3}"/>
            </a:ext>
          </a:extLst>
        </p:cNvPr>
        <p:cNvGrpSpPr/>
        <p:nvPr/>
      </p:nvGrpSpPr>
      <p:grpSpPr>
        <a:xfrm>
          <a:off x="0" y="0"/>
          <a:ext cx="0" cy="0"/>
          <a:chOff x="0" y="0"/>
          <a:chExt cx="0" cy="0"/>
        </a:xfrm>
      </p:grpSpPr>
      <p:pic>
        <p:nvPicPr>
          <p:cNvPr id="4" name="Picture 3" descr="Grocery store produce section">
            <a:extLst>
              <a:ext uri="{FF2B5EF4-FFF2-40B4-BE49-F238E27FC236}">
                <a16:creationId xmlns:a16="http://schemas.microsoft.com/office/drawing/2014/main" id="{D06C27AD-09FE-442D-E59B-A950F45AE474}"/>
              </a:ext>
            </a:extLst>
          </p:cNvPr>
          <p:cNvPicPr>
            <a:picLocks noChangeAspect="1"/>
          </p:cNvPicPr>
          <p:nvPr/>
        </p:nvPicPr>
        <p:blipFill>
          <a:blip r:embed="rId2"/>
          <a:srcRect/>
          <a:stretch/>
        </p:blipFill>
        <p:spPr>
          <a:xfrm>
            <a:off x="0" y="0"/>
            <a:ext cx="4466319" cy="6442694"/>
          </a:xfrm>
          <a:prstGeom prst="rect">
            <a:avLst/>
          </a:prstGeom>
        </p:spPr>
      </p:pic>
      <p:sp>
        <p:nvSpPr>
          <p:cNvPr id="7" name="Rectangle: Rounded Corners 6">
            <a:extLst>
              <a:ext uri="{FF2B5EF4-FFF2-40B4-BE49-F238E27FC236}">
                <a16:creationId xmlns:a16="http://schemas.microsoft.com/office/drawing/2014/main" id="{4414A610-163B-A4F0-309D-3C01ADEE3A44}"/>
              </a:ext>
            </a:extLst>
          </p:cNvPr>
          <p:cNvSpPr/>
          <p:nvPr/>
        </p:nvSpPr>
        <p:spPr>
          <a:xfrm>
            <a:off x="4799856" y="1590992"/>
            <a:ext cx="7056784" cy="851086"/>
          </a:xfrm>
          <a:prstGeom prst="roundRect">
            <a:avLst>
              <a:gd name="adj" fmla="val 73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lang="en-US" sz="1000" dirty="0">
                <a:solidFill>
                  <a:srgbClr val="000000"/>
                </a:solidFill>
              </a:rPr>
              <a:t>Capgemini supported the company in documenting </a:t>
            </a:r>
            <a:r>
              <a:rPr lang="en-US" sz="1000" b="1" dirty="0">
                <a:solidFill>
                  <a:srgbClr val="000000"/>
                </a:solidFill>
              </a:rPr>
              <a:t> information flows</a:t>
            </a:r>
            <a:r>
              <a:rPr lang="en-US" sz="1000" dirty="0">
                <a:solidFill>
                  <a:srgbClr val="000000"/>
                </a:solidFill>
              </a:rPr>
              <a:t> to enhance </a:t>
            </a:r>
            <a:r>
              <a:rPr lang="en-US" sz="1000" b="1" dirty="0">
                <a:solidFill>
                  <a:srgbClr val="000000"/>
                </a:solidFill>
              </a:rPr>
              <a:t>Supply Chain and IT understanding</a:t>
            </a:r>
            <a:r>
              <a:rPr lang="en-US" sz="1000" dirty="0">
                <a:solidFill>
                  <a:srgbClr val="000000"/>
                </a:solidFill>
              </a:rPr>
              <a:t> of implemented solutions. The project aimed to </a:t>
            </a:r>
            <a:r>
              <a:rPr lang="en-US" sz="1000" b="1" dirty="0">
                <a:solidFill>
                  <a:srgbClr val="000000"/>
                </a:solidFill>
              </a:rPr>
              <a:t>complement existing process documentation</a:t>
            </a:r>
            <a:r>
              <a:rPr lang="en-US" sz="1000" dirty="0">
                <a:solidFill>
                  <a:srgbClr val="000000"/>
                </a:solidFill>
              </a:rPr>
              <a:t> but was ultimately </a:t>
            </a:r>
            <a:r>
              <a:rPr lang="en-US" sz="1000" b="1" dirty="0">
                <a:solidFill>
                  <a:srgbClr val="000000"/>
                </a:solidFill>
              </a:rPr>
              <a:t>limited to the Goods Receipt process for the Distribution Center</a:t>
            </a:r>
            <a:r>
              <a:rPr lang="en-US" sz="1000" dirty="0">
                <a:solidFill>
                  <a:srgbClr val="000000"/>
                </a:solidFill>
              </a:rPr>
              <a:t> due to internal ARP constraints.</a:t>
            </a:r>
          </a:p>
        </p:txBody>
      </p:sp>
      <p:sp>
        <p:nvSpPr>
          <p:cNvPr id="8" name="Rectangle: Rounded Corners 7">
            <a:extLst>
              <a:ext uri="{FF2B5EF4-FFF2-40B4-BE49-F238E27FC236}">
                <a16:creationId xmlns:a16="http://schemas.microsoft.com/office/drawing/2014/main" id="{47BFAD2C-2115-327D-628B-9C7A4379D0D8}"/>
              </a:ext>
            </a:extLst>
          </p:cNvPr>
          <p:cNvSpPr/>
          <p:nvPr/>
        </p:nvSpPr>
        <p:spPr>
          <a:xfrm>
            <a:off x="4851152" y="2722769"/>
            <a:ext cx="7056784" cy="1693154"/>
          </a:xfrm>
          <a:prstGeom prst="roundRect">
            <a:avLst>
              <a:gd name="adj" fmla="val 604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lvl="0" indent="-171450">
              <a:buFont typeface="Arial" panose="020B0604020202020204" pitchFamily="34" charset="0"/>
              <a:buChar char="•"/>
              <a:defRPr/>
            </a:pPr>
            <a:r>
              <a:rPr lang="en-US" sz="1000" dirty="0">
                <a:solidFill>
                  <a:srgbClr val="000000"/>
                </a:solidFill>
              </a:rPr>
              <a:t>Map master data governance across stakeholders.</a:t>
            </a:r>
          </a:p>
          <a:p>
            <a:pPr marL="171450" lvl="0" indent="-171450">
              <a:buFont typeface="Arial" panose="020B0604020202020204" pitchFamily="34" charset="0"/>
              <a:buChar char="•"/>
              <a:defRPr/>
            </a:pPr>
            <a:r>
              <a:rPr lang="en-US" sz="1000" dirty="0">
                <a:solidFill>
                  <a:srgbClr val="000000"/>
                </a:solidFill>
              </a:rPr>
              <a:t>Identify gaps and inefficiencies in master data creation and modification.</a:t>
            </a:r>
          </a:p>
          <a:p>
            <a:pPr marL="171450" lvl="0" indent="-171450">
              <a:buFont typeface="Arial" panose="020B0604020202020204" pitchFamily="34" charset="0"/>
              <a:buChar char="•"/>
              <a:defRPr/>
            </a:pPr>
            <a:r>
              <a:rPr lang="en-US" sz="1000" dirty="0">
                <a:solidFill>
                  <a:srgbClr val="000000"/>
                </a:solidFill>
              </a:rPr>
              <a:t>Improve data validation and governance rules.</a:t>
            </a:r>
          </a:p>
          <a:p>
            <a:pPr marL="171450" lvl="0" indent="-171450">
              <a:buFont typeface="Arial" panose="020B0604020202020204" pitchFamily="34" charset="0"/>
              <a:buChar char="•"/>
              <a:defRPr/>
            </a:pPr>
            <a:r>
              <a:rPr lang="en-US" sz="1000" dirty="0">
                <a:solidFill>
                  <a:srgbClr val="000000"/>
                </a:solidFill>
              </a:rPr>
              <a:t>Address operational inefficiencies caused by incorrect data.</a:t>
            </a:r>
          </a:p>
          <a:p>
            <a:pPr marL="171450" lvl="0" indent="-171450">
              <a:buFont typeface="Arial" panose="020B0604020202020204" pitchFamily="34" charset="0"/>
              <a:buChar char="•"/>
              <a:defRPr/>
            </a:pPr>
            <a:r>
              <a:rPr lang="en-US" sz="1000" dirty="0">
                <a:solidFill>
                  <a:srgbClr val="000000"/>
                </a:solidFill>
              </a:rPr>
              <a:t>Provide transformation recommendations for master data management.</a:t>
            </a:r>
          </a:p>
          <a:p>
            <a:pPr marL="171450" lvl="0" indent="-171450">
              <a:buFont typeface="Arial" panose="020B0604020202020204" pitchFamily="34" charset="0"/>
              <a:buChar char="•"/>
              <a:defRPr/>
            </a:pPr>
            <a:r>
              <a:rPr lang="en-US" sz="1050" dirty="0">
                <a:solidFill>
                  <a:srgbClr val="000000"/>
                </a:solidFill>
              </a:rPr>
              <a:t>Covered consumer unit logistics data (weight, dimensions, EAN13).</a:t>
            </a:r>
          </a:p>
          <a:p>
            <a:pPr marL="171450" lvl="0" indent="-171450">
              <a:buFont typeface="Arial" panose="020B0604020202020204" pitchFamily="34" charset="0"/>
              <a:buChar char="•"/>
              <a:defRPr/>
            </a:pPr>
            <a:r>
              <a:rPr lang="en-US" sz="1050" dirty="0">
                <a:solidFill>
                  <a:srgbClr val="000000"/>
                </a:solidFill>
              </a:rPr>
              <a:t>Included box/store pack data (ITF14) and pallet data.</a:t>
            </a:r>
          </a:p>
          <a:p>
            <a:pPr marL="171450" lvl="0" indent="-171450">
              <a:buFont typeface="Arial" panose="020B0604020202020204" pitchFamily="34" charset="0"/>
              <a:buChar char="•"/>
              <a:defRPr/>
            </a:pPr>
            <a:r>
              <a:rPr lang="en-US" sz="1050" dirty="0">
                <a:solidFill>
                  <a:srgbClr val="000000"/>
                </a:solidFill>
              </a:rPr>
              <a:t>Mapped processes and governance across:</a:t>
            </a:r>
          </a:p>
          <a:p>
            <a:pPr marL="628650" lvl="1" indent="-171450">
              <a:buFont typeface="Arial" panose="020B0604020202020204" pitchFamily="34" charset="0"/>
              <a:buChar char="•"/>
              <a:defRPr/>
            </a:pPr>
            <a:r>
              <a:rPr lang="en-US" sz="1050" dirty="0">
                <a:solidFill>
                  <a:srgbClr val="000000"/>
                </a:solidFill>
              </a:rPr>
              <a:t>Commercial/Product</a:t>
            </a:r>
          </a:p>
          <a:p>
            <a:pPr marL="628650" lvl="1" indent="-171450">
              <a:buFont typeface="Arial" panose="020B0604020202020204" pitchFamily="34" charset="0"/>
              <a:buChar char="•"/>
              <a:defRPr/>
            </a:pPr>
            <a:r>
              <a:rPr lang="en-US" sz="1050" dirty="0">
                <a:solidFill>
                  <a:srgbClr val="000000"/>
                </a:solidFill>
              </a:rPr>
              <a:t>Purchasing</a:t>
            </a:r>
          </a:p>
          <a:p>
            <a:pPr marL="628650" lvl="1" indent="-171450">
              <a:buFont typeface="Arial" panose="020B0604020202020204" pitchFamily="34" charset="0"/>
              <a:buChar char="•"/>
              <a:defRPr/>
            </a:pPr>
            <a:r>
              <a:rPr lang="en-US" sz="1050" dirty="0">
                <a:solidFill>
                  <a:srgbClr val="000000"/>
                </a:solidFill>
              </a:rPr>
              <a:t>E-Commerce</a:t>
            </a:r>
          </a:p>
          <a:p>
            <a:pPr marL="628650" lvl="1" indent="-171450">
              <a:buFont typeface="Arial" panose="020B0604020202020204" pitchFamily="34" charset="0"/>
              <a:buChar char="•"/>
              <a:defRPr/>
            </a:pPr>
            <a:r>
              <a:rPr lang="en-US" sz="1050" dirty="0">
                <a:solidFill>
                  <a:srgbClr val="000000"/>
                </a:solidFill>
              </a:rPr>
              <a:t>Supply Chain &amp; Logistics</a:t>
            </a:r>
          </a:p>
          <a:p>
            <a:pPr marL="628650" lvl="1" indent="-171450">
              <a:buFont typeface="Arial" panose="020B0604020202020204" pitchFamily="34" charset="0"/>
              <a:buChar char="•"/>
              <a:defRPr/>
            </a:pPr>
            <a:r>
              <a:rPr lang="en-US" sz="1050" dirty="0">
                <a:solidFill>
                  <a:srgbClr val="000000"/>
                </a:solidFill>
              </a:rPr>
              <a:t>Suppliers &amp; GS1 Portugal</a:t>
            </a:r>
          </a:p>
          <a:p>
            <a:pPr marL="171450" lvl="0" indent="-171450">
              <a:buFont typeface="Arial" panose="020B0604020202020204" pitchFamily="34" charset="0"/>
              <a:buChar char="•"/>
              <a:defRPr/>
            </a:pPr>
            <a:r>
              <a:rPr lang="en-US" sz="1050" dirty="0">
                <a:solidFill>
                  <a:srgbClr val="000000"/>
                </a:solidFill>
              </a:rPr>
              <a:t>Addressed data inconsistencies across systems like WMS and SIRIUS.A</a:t>
            </a:r>
          </a:p>
          <a:p>
            <a:pPr marL="171450" lvl="0" indent="-171450">
              <a:buFont typeface="Arial" panose="020B0604020202020204" pitchFamily="34" charset="0"/>
              <a:buChar char="•"/>
              <a:defRPr/>
            </a:pPr>
            <a:r>
              <a:rPr lang="en-US" sz="1050" dirty="0" err="1">
                <a:solidFill>
                  <a:srgbClr val="000000"/>
                </a:solidFill>
              </a:rPr>
              <a:t>ssessed</a:t>
            </a:r>
            <a:r>
              <a:rPr lang="en-US" sz="1050" dirty="0">
                <a:solidFill>
                  <a:srgbClr val="000000"/>
                </a:solidFill>
              </a:rPr>
              <a:t> risks related to GS1 PT’s Synch PT project and poor documentation of complex processes.</a:t>
            </a:r>
          </a:p>
          <a:p>
            <a:pPr marL="179388" marR="0" lvl="1" indent="-179388" algn="l" defTabSz="914400" rtl="0" eaLnBrk="1" fontAlgn="auto" latinLnBrk="0" hangingPunct="1">
              <a:lnSpc>
                <a:spcPct val="100000"/>
              </a:lnSpc>
              <a:spcBef>
                <a:spcPts val="300"/>
              </a:spcBef>
              <a:spcAft>
                <a:spcPts val="0"/>
              </a:spcAft>
              <a:buClr>
                <a:schemeClr val="accent1"/>
              </a:buClr>
              <a:buSzPct val="100000"/>
              <a:buFont typeface="Wingdings" panose="05000000000000000000" pitchFamily="2" charset="2"/>
              <a:buChar char="§"/>
              <a:tabLst/>
              <a:defRPr/>
            </a:pPr>
            <a:endParaRPr kumimoji="0" lang="en-AU" sz="900" b="0" i="0" u="none" strike="noStrike" kern="0" cap="none" spc="0" normalizeH="0" baseline="0" noProof="0" dirty="0">
              <a:ln>
                <a:noFill/>
              </a:ln>
              <a:solidFill>
                <a:srgbClr val="000000"/>
              </a:solidFill>
              <a:effectLst/>
              <a:uLnTx/>
              <a:uFillTx/>
              <a:latin typeface="Ubuntu" panose="020B0504030602030204" pitchFamily="34" charset="0"/>
              <a:ea typeface="+mn-ea"/>
              <a:cs typeface="+mn-cs"/>
            </a:endParaRPr>
          </a:p>
        </p:txBody>
      </p:sp>
      <p:sp>
        <p:nvSpPr>
          <p:cNvPr id="9" name="Rectangle: Rounded Corners 8">
            <a:extLst>
              <a:ext uri="{FF2B5EF4-FFF2-40B4-BE49-F238E27FC236}">
                <a16:creationId xmlns:a16="http://schemas.microsoft.com/office/drawing/2014/main" id="{9A52793E-9C32-6C5F-432E-2072F47F2F88}"/>
              </a:ext>
            </a:extLst>
          </p:cNvPr>
          <p:cNvSpPr/>
          <p:nvPr/>
        </p:nvSpPr>
        <p:spPr>
          <a:xfrm>
            <a:off x="4851152" y="5738139"/>
            <a:ext cx="7056784" cy="704555"/>
          </a:xfrm>
          <a:prstGeom prst="roundRect">
            <a:avLst>
              <a:gd name="adj" fmla="val 80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lvl="0" indent="-171450">
              <a:buFont typeface="Arial" panose="020B0604020202020204" pitchFamily="34" charset="0"/>
              <a:buChar char="•"/>
              <a:defRPr/>
            </a:pPr>
            <a:r>
              <a:rPr lang="en-US" sz="1000">
                <a:solidFill>
                  <a:srgbClr val="000000"/>
                </a:solidFill>
              </a:rPr>
              <a:t>Conducted a comprehensive analysis of master data governance.</a:t>
            </a:r>
          </a:p>
          <a:p>
            <a:pPr marL="171450" lvl="0" indent="-171450">
              <a:buFont typeface="Arial" panose="020B0604020202020204" pitchFamily="34" charset="0"/>
              <a:buChar char="•"/>
              <a:defRPr/>
            </a:pPr>
            <a:r>
              <a:rPr lang="en-US" sz="1000">
                <a:solidFill>
                  <a:srgbClr val="000000"/>
                </a:solidFill>
              </a:rPr>
              <a:t>Identified roles, responsibilities, and process inefficiencies.</a:t>
            </a:r>
          </a:p>
          <a:p>
            <a:pPr marL="171450" lvl="0" indent="-171450">
              <a:buFont typeface="Arial" panose="020B0604020202020204" pitchFamily="34" charset="0"/>
              <a:buChar char="•"/>
              <a:defRPr/>
            </a:pPr>
            <a:r>
              <a:rPr lang="en-US" sz="1000">
                <a:solidFill>
                  <a:srgbClr val="000000"/>
                </a:solidFill>
              </a:rPr>
              <a:t>Provided transformation recommendations for governance and data management.</a:t>
            </a:r>
            <a:br>
              <a:rPr lang="en-GB" sz="1000">
                <a:solidFill>
                  <a:srgbClr val="000000"/>
                </a:solidFill>
              </a:rPr>
            </a:br>
            <a:endParaRPr lang="en-GB" sz="1000">
              <a:solidFill>
                <a:srgbClr val="000000"/>
              </a:solidFill>
            </a:endParaRPr>
          </a:p>
        </p:txBody>
      </p:sp>
      <p:sp>
        <p:nvSpPr>
          <p:cNvPr id="10" name="Rectangle 9">
            <a:extLst>
              <a:ext uri="{FF2B5EF4-FFF2-40B4-BE49-F238E27FC236}">
                <a16:creationId xmlns:a16="http://schemas.microsoft.com/office/drawing/2014/main" id="{4F3499F0-8D63-E9FA-8B69-BD08D6DD4BCE}"/>
              </a:ext>
            </a:extLst>
          </p:cNvPr>
          <p:cNvSpPr/>
          <p:nvPr/>
        </p:nvSpPr>
        <p:spPr>
          <a:xfrm>
            <a:off x="4799856" y="1292202"/>
            <a:ext cx="2165978" cy="307777"/>
          </a:xfrm>
          <a:prstGeom prst="rect">
            <a:avLst/>
          </a:prstGeom>
        </p:spPr>
        <p:txBody>
          <a:bodyPr wrap="none">
            <a:spAutoFit/>
          </a:bodyPr>
          <a:lstStyle/>
          <a:p>
            <a:r>
              <a:rPr lang="en-AU" sz="1400" b="1" noProof="0">
                <a:solidFill>
                  <a:schemeClr val="accent1"/>
                </a:solidFill>
              </a:rPr>
              <a:t>Context and objectives</a:t>
            </a:r>
          </a:p>
        </p:txBody>
      </p:sp>
      <p:sp>
        <p:nvSpPr>
          <p:cNvPr id="11" name="Rectangle 10">
            <a:extLst>
              <a:ext uri="{FF2B5EF4-FFF2-40B4-BE49-F238E27FC236}">
                <a16:creationId xmlns:a16="http://schemas.microsoft.com/office/drawing/2014/main" id="{7AFBF0E8-5EDA-6FEA-8BB4-0AD624BAC599}"/>
              </a:ext>
            </a:extLst>
          </p:cNvPr>
          <p:cNvSpPr/>
          <p:nvPr/>
        </p:nvSpPr>
        <p:spPr>
          <a:xfrm>
            <a:off x="4799856" y="2309971"/>
            <a:ext cx="906017" cy="307777"/>
          </a:xfrm>
          <a:prstGeom prst="rect">
            <a:avLst/>
          </a:prstGeom>
        </p:spPr>
        <p:txBody>
          <a:bodyPr wrap="none">
            <a:spAutoFit/>
          </a:bodyPr>
          <a:lstStyle/>
          <a:p>
            <a:r>
              <a:rPr lang="en-AU" sz="1400" b="1" noProof="0">
                <a:solidFill>
                  <a:schemeClr val="accent1"/>
                </a:solidFill>
              </a:rPr>
              <a:t>Solution</a:t>
            </a:r>
          </a:p>
        </p:txBody>
      </p:sp>
      <p:sp>
        <p:nvSpPr>
          <p:cNvPr id="12" name="Rectangle 11">
            <a:extLst>
              <a:ext uri="{FF2B5EF4-FFF2-40B4-BE49-F238E27FC236}">
                <a16:creationId xmlns:a16="http://schemas.microsoft.com/office/drawing/2014/main" id="{4F94AD00-ABEB-2C21-A6B6-DB09BCDEBB6E}"/>
              </a:ext>
            </a:extLst>
          </p:cNvPr>
          <p:cNvSpPr/>
          <p:nvPr/>
        </p:nvSpPr>
        <p:spPr>
          <a:xfrm>
            <a:off x="4851152" y="5430362"/>
            <a:ext cx="1952779" cy="307777"/>
          </a:xfrm>
          <a:prstGeom prst="rect">
            <a:avLst/>
          </a:prstGeom>
        </p:spPr>
        <p:txBody>
          <a:bodyPr wrap="none">
            <a:spAutoFit/>
          </a:bodyPr>
          <a:lstStyle/>
          <a:p>
            <a:r>
              <a:rPr lang="en-AU" sz="1400" b="1" noProof="0">
                <a:solidFill>
                  <a:schemeClr val="accent1"/>
                </a:solidFill>
              </a:rPr>
              <a:t>Benefits and Results</a:t>
            </a:r>
          </a:p>
        </p:txBody>
      </p:sp>
      <p:sp>
        <p:nvSpPr>
          <p:cNvPr id="15" name="Rectangle 14">
            <a:extLst>
              <a:ext uri="{FF2B5EF4-FFF2-40B4-BE49-F238E27FC236}">
                <a16:creationId xmlns:a16="http://schemas.microsoft.com/office/drawing/2014/main" id="{18027B58-DECC-844F-5DF7-8CDA3533AE81}"/>
              </a:ext>
            </a:extLst>
          </p:cNvPr>
          <p:cNvSpPr/>
          <p:nvPr/>
        </p:nvSpPr>
        <p:spPr>
          <a:xfrm>
            <a:off x="0" y="0"/>
            <a:ext cx="4571206" cy="424932"/>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Verdana"/>
              <a:ea typeface="+mn-ea"/>
              <a:cs typeface="+mn-cs"/>
            </a:endParaRPr>
          </a:p>
        </p:txBody>
      </p:sp>
      <p:sp>
        <p:nvSpPr>
          <p:cNvPr id="16" name="Rectangle 15">
            <a:extLst>
              <a:ext uri="{FF2B5EF4-FFF2-40B4-BE49-F238E27FC236}">
                <a16:creationId xmlns:a16="http://schemas.microsoft.com/office/drawing/2014/main" id="{22A458F4-AF7F-9307-600D-14D39665A78C}"/>
              </a:ext>
            </a:extLst>
          </p:cNvPr>
          <p:cNvSpPr/>
          <p:nvPr/>
        </p:nvSpPr>
        <p:spPr>
          <a:xfrm>
            <a:off x="113051" y="117681"/>
            <a:ext cx="1842795"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6E45AD"/>
                </a:solidFill>
                <a:effectLst/>
                <a:uLnTx/>
                <a:uFillTx/>
                <a:latin typeface="Ubuntu" panose="020B0504030602030204" pitchFamily="34" charset="0"/>
                <a:ea typeface="+mn-ea"/>
                <a:cs typeface="+mn-cs"/>
              </a:rPr>
              <a:t>CPRD</a:t>
            </a:r>
          </a:p>
        </p:txBody>
      </p:sp>
      <p:cxnSp>
        <p:nvCxnSpPr>
          <p:cNvPr id="17" name="Straight Connector 16">
            <a:extLst>
              <a:ext uri="{FF2B5EF4-FFF2-40B4-BE49-F238E27FC236}">
                <a16:creationId xmlns:a16="http://schemas.microsoft.com/office/drawing/2014/main" id="{3C3396ED-3F1E-2A89-DAB1-95653485E9C1}"/>
              </a:ext>
            </a:extLst>
          </p:cNvPr>
          <p:cNvCxnSpPr/>
          <p:nvPr/>
        </p:nvCxnSpPr>
        <p:spPr>
          <a:xfrm>
            <a:off x="113051" y="415306"/>
            <a:ext cx="2160000" cy="0"/>
          </a:xfrm>
          <a:prstGeom prst="line">
            <a:avLst/>
          </a:prstGeom>
          <a:noFill/>
          <a:ln w="25400" cap="flat">
            <a:solidFill>
              <a:srgbClr val="6E45AD"/>
            </a:solidFill>
            <a:prstDash val="solid"/>
            <a:round/>
          </a:ln>
          <a:effectLst/>
          <a:sp3d/>
        </p:spPr>
        <p:style>
          <a:lnRef idx="0">
            <a:scrgbClr r="0" g="0" b="0"/>
          </a:lnRef>
          <a:fillRef idx="0">
            <a:scrgbClr r="0" g="0" b="0"/>
          </a:fillRef>
          <a:effectRef idx="0">
            <a:scrgbClr r="0" g="0" b="0"/>
          </a:effectRef>
          <a:fontRef idx="none"/>
        </p:style>
      </p:cxnSp>
      <p:sp>
        <p:nvSpPr>
          <p:cNvPr id="18" name="Rectangle 17">
            <a:extLst>
              <a:ext uri="{FF2B5EF4-FFF2-40B4-BE49-F238E27FC236}">
                <a16:creationId xmlns:a16="http://schemas.microsoft.com/office/drawing/2014/main" id="{0F058631-FC2E-C182-78E6-CE306FA44E4F}"/>
              </a:ext>
            </a:extLst>
          </p:cNvPr>
          <p:cNvSpPr/>
          <p:nvPr/>
        </p:nvSpPr>
        <p:spPr>
          <a:xfrm>
            <a:off x="2123768" y="117681"/>
            <a:ext cx="2342551" cy="288000"/>
          </a:xfrm>
          <a:prstGeom prst="rect">
            <a:avLst/>
          </a:prstGeom>
          <a:no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400" b="1" noProof="0">
                <a:solidFill>
                  <a:srgbClr val="274C6C"/>
                </a:solidFill>
                <a:latin typeface="Ubuntu" panose="020B0504030602030204" pitchFamily="34" charset="0"/>
              </a:rPr>
              <a:t>Inbound Logistics Process</a:t>
            </a:r>
            <a:endParaRPr kumimoji="0" lang="en-AU" sz="1400" b="1" i="0" u="none" strike="noStrike" kern="1200" cap="none" spc="0" normalizeH="0" baseline="0" noProof="0">
              <a:ln>
                <a:noFill/>
              </a:ln>
              <a:solidFill>
                <a:srgbClr val="274C6C"/>
              </a:solidFill>
              <a:effectLst/>
              <a:uLnTx/>
              <a:uFillTx/>
              <a:latin typeface="Ubuntu" panose="020B0504030602030204" pitchFamily="34" charset="0"/>
              <a:ea typeface="+mn-ea"/>
              <a:cs typeface="+mn-cs"/>
            </a:endParaRPr>
          </a:p>
        </p:txBody>
      </p:sp>
      <p:cxnSp>
        <p:nvCxnSpPr>
          <p:cNvPr id="19" name="Straight Connector 18">
            <a:extLst>
              <a:ext uri="{FF2B5EF4-FFF2-40B4-BE49-F238E27FC236}">
                <a16:creationId xmlns:a16="http://schemas.microsoft.com/office/drawing/2014/main" id="{646073E1-9B13-1D06-6460-9120BC540C4F}"/>
              </a:ext>
            </a:extLst>
          </p:cNvPr>
          <p:cNvCxnSpPr>
            <a:cxnSpLocks/>
          </p:cNvCxnSpPr>
          <p:nvPr/>
        </p:nvCxnSpPr>
        <p:spPr>
          <a:xfrm>
            <a:off x="2306319" y="415306"/>
            <a:ext cx="2160000" cy="0"/>
          </a:xfrm>
          <a:prstGeom prst="line">
            <a:avLst/>
          </a:prstGeom>
          <a:noFill/>
          <a:ln w="25400" cap="flat">
            <a:solidFill>
              <a:srgbClr val="274C6C"/>
            </a:solidFill>
            <a:prstDash val="solid"/>
            <a:round/>
          </a:ln>
          <a:effectLst/>
          <a:sp3d/>
        </p:spPr>
        <p:style>
          <a:lnRef idx="0">
            <a:scrgbClr r="0" g="0" b="0"/>
          </a:lnRef>
          <a:fillRef idx="0">
            <a:scrgbClr r="0" g="0" b="0"/>
          </a:fillRef>
          <a:effectRef idx="0">
            <a:scrgbClr r="0" g="0" b="0"/>
          </a:effectRef>
          <a:fontRef idx="none"/>
        </p:style>
      </p:cxnSp>
      <p:cxnSp>
        <p:nvCxnSpPr>
          <p:cNvPr id="20" name="Straight Connector 19">
            <a:extLst>
              <a:ext uri="{FF2B5EF4-FFF2-40B4-BE49-F238E27FC236}">
                <a16:creationId xmlns:a16="http://schemas.microsoft.com/office/drawing/2014/main" id="{F79E4196-6C9D-A90C-8DC4-0A96432B5FFB}"/>
              </a:ext>
            </a:extLst>
          </p:cNvPr>
          <p:cNvCxnSpPr>
            <a:cxnSpLocks/>
          </p:cNvCxnSpPr>
          <p:nvPr/>
        </p:nvCxnSpPr>
        <p:spPr>
          <a:xfrm flipV="1">
            <a:off x="1719111" y="3231"/>
            <a:ext cx="0" cy="415305"/>
          </a:xfrm>
          <a:prstGeom prst="line">
            <a:avLst/>
          </a:prstGeom>
          <a:noFill/>
          <a:ln w="25400" cap="flat">
            <a:solidFill>
              <a:schemeClr val="bg1">
                <a:lumMod val="75000"/>
              </a:schemeClr>
            </a:solidFill>
            <a:prstDash val="solid"/>
            <a:round/>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82301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121F796-8398-0745-F50A-DC1DE7E45586}"/>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7661E96A-F04F-C6DA-7CAD-922761B8AEF3}"/>
              </a:ext>
            </a:extLst>
          </p:cNvPr>
          <p:cNvSpPr>
            <a:spLocks noGrp="1"/>
          </p:cNvSpPr>
          <p:nvPr>
            <p:ph type="title"/>
          </p:nvPr>
        </p:nvSpPr>
        <p:spPr/>
        <p:txBody>
          <a:bodyPr/>
          <a:lstStyle/>
          <a:p>
            <a:r>
              <a:rPr lang="en-AU" noProof="0"/>
              <a:t>Agenda</a:t>
            </a:r>
          </a:p>
        </p:txBody>
      </p:sp>
      <p:sp>
        <p:nvSpPr>
          <p:cNvPr id="4" name="Espace réservé du texte 3">
            <a:extLst>
              <a:ext uri="{FF2B5EF4-FFF2-40B4-BE49-F238E27FC236}">
                <a16:creationId xmlns:a16="http://schemas.microsoft.com/office/drawing/2014/main" id="{15A0CE4F-D92A-D3F9-9560-82D66B8BFB39}"/>
              </a:ext>
            </a:extLst>
          </p:cNvPr>
          <p:cNvSpPr>
            <a:spLocks noGrp="1"/>
          </p:cNvSpPr>
          <p:nvPr>
            <p:ph type="body" sz="quarter" idx="12"/>
          </p:nvPr>
        </p:nvSpPr>
        <p:spPr/>
        <p:txBody>
          <a:bodyPr/>
          <a:lstStyle/>
          <a:p>
            <a:r>
              <a:rPr lang="en-AU" noProof="0">
                <a:solidFill>
                  <a:schemeClr val="bg1">
                    <a:lumMod val="65000"/>
                  </a:schemeClr>
                </a:solidFill>
              </a:rPr>
              <a:t>Context and objectives</a:t>
            </a:r>
          </a:p>
          <a:p>
            <a:r>
              <a:rPr lang="en-AU" noProof="0">
                <a:solidFill>
                  <a:schemeClr val="bg1">
                    <a:lumMod val="65000"/>
                  </a:schemeClr>
                </a:solidFill>
              </a:rPr>
              <a:t>Why Capgemini</a:t>
            </a:r>
          </a:p>
          <a:p>
            <a:r>
              <a:rPr lang="en-AU" noProof="0">
                <a:solidFill>
                  <a:schemeClr val="bg1">
                    <a:lumMod val="65000"/>
                  </a:schemeClr>
                </a:solidFill>
              </a:rPr>
              <a:t>Our vision and methodology</a:t>
            </a:r>
          </a:p>
          <a:p>
            <a:r>
              <a:rPr lang="en-AU" noProof="0">
                <a:solidFill>
                  <a:schemeClr val="bg1">
                    <a:lumMod val="65000"/>
                  </a:schemeClr>
                </a:solidFill>
              </a:rPr>
              <a:t>Project plan</a:t>
            </a:r>
          </a:p>
          <a:p>
            <a:r>
              <a:rPr lang="en-AU" noProof="0">
                <a:solidFill>
                  <a:schemeClr val="bg1">
                    <a:lumMod val="65000"/>
                  </a:schemeClr>
                </a:solidFill>
              </a:rPr>
              <a:t>Proposed team and governance model</a:t>
            </a:r>
          </a:p>
          <a:p>
            <a:r>
              <a:rPr lang="en-AU" noProof="0">
                <a:solidFill>
                  <a:schemeClr val="bg1">
                    <a:lumMod val="65000"/>
                  </a:schemeClr>
                </a:solidFill>
              </a:rPr>
              <a:t>Economics</a:t>
            </a:r>
          </a:p>
          <a:p>
            <a:r>
              <a:rPr lang="en-AU">
                <a:solidFill>
                  <a:schemeClr val="bg1">
                    <a:lumMod val="65000"/>
                  </a:schemeClr>
                </a:solidFill>
              </a:rPr>
              <a:t>Credentials</a:t>
            </a:r>
          </a:p>
          <a:p>
            <a:r>
              <a:rPr lang="en-AU" b="1"/>
              <a:t>CVs (phases 1-5)</a:t>
            </a:r>
          </a:p>
        </p:txBody>
      </p:sp>
      <p:grpSp>
        <p:nvGrpSpPr>
          <p:cNvPr id="5" name="Group 12">
            <a:extLst>
              <a:ext uri="{FF2B5EF4-FFF2-40B4-BE49-F238E27FC236}">
                <a16:creationId xmlns:a16="http://schemas.microsoft.com/office/drawing/2014/main" id="{2377D5DD-2A04-92A8-ABF0-E230D8FFD05F}"/>
              </a:ext>
              <a:ext uri="{C183D7F6-B498-43B3-948B-1728B52AA6E4}">
                <adec:decorative xmlns:adec="http://schemas.microsoft.com/office/drawing/2017/decorative" val="1"/>
              </a:ext>
            </a:extLst>
          </p:cNvPr>
          <p:cNvGrpSpPr/>
          <p:nvPr/>
        </p:nvGrpSpPr>
        <p:grpSpPr>
          <a:xfrm>
            <a:off x="407988" y="4810996"/>
            <a:ext cx="5399980" cy="432048"/>
            <a:chOff x="407988" y="1844824"/>
            <a:chExt cx="5399980" cy="432048"/>
          </a:xfrm>
        </p:grpSpPr>
        <p:cxnSp>
          <p:nvCxnSpPr>
            <p:cNvPr id="6" name="Straight Connector 9">
              <a:extLst>
                <a:ext uri="{FF2B5EF4-FFF2-40B4-BE49-F238E27FC236}">
                  <a16:creationId xmlns:a16="http://schemas.microsoft.com/office/drawing/2014/main" id="{188A8D85-BAFA-1D16-7ABB-1D0B06734F5A}"/>
                </a:ext>
              </a:extLst>
            </p:cNvPr>
            <p:cNvCxnSpPr>
              <a:cxnSpLocks/>
            </p:cNvCxnSpPr>
            <p:nvPr>
              <p:custDataLst>
                <p:tags r:id="rId2"/>
              </p:custDataLst>
            </p:nvPr>
          </p:nvCxnSpPr>
          <p:spPr>
            <a:xfrm>
              <a:off x="407988" y="2276872"/>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7" name="Straight Connector 11">
              <a:extLst>
                <a:ext uri="{FF2B5EF4-FFF2-40B4-BE49-F238E27FC236}">
                  <a16:creationId xmlns:a16="http://schemas.microsoft.com/office/drawing/2014/main" id="{9D256C38-E8A9-97AB-E638-35424836FEF4}"/>
                </a:ext>
              </a:extLst>
            </p:cNvPr>
            <p:cNvCxnSpPr>
              <a:cxnSpLocks/>
            </p:cNvCxnSpPr>
            <p:nvPr>
              <p:custDataLst>
                <p:tags r:id="rId3"/>
              </p:custDataLst>
            </p:nvPr>
          </p:nvCxnSpPr>
          <p:spPr>
            <a:xfrm>
              <a:off x="407988" y="1844824"/>
              <a:ext cx="5399980" cy="0"/>
            </a:xfrm>
            <a:prstGeom prst="line">
              <a:avLst/>
            </a:prstGeom>
            <a:noFill/>
            <a:ln w="12700" cap="flat" cmpd="sng" algn="ctr">
              <a:solidFill>
                <a:schemeClr val="accent2"/>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pSp>
      <p:pic>
        <p:nvPicPr>
          <p:cNvPr id="14" name="Picture 13" descr="A fruit and vegetables in a grocery store&#10;&#10;AI-generated content may be incorrect.">
            <a:extLst>
              <a:ext uri="{FF2B5EF4-FFF2-40B4-BE49-F238E27FC236}">
                <a16:creationId xmlns:a16="http://schemas.microsoft.com/office/drawing/2014/main" id="{164CDB78-4E28-C8F3-664A-E8B6CD70D4CE}"/>
              </a:ext>
            </a:extLst>
          </p:cNvPr>
          <p:cNvPicPr>
            <a:picLocks noChangeAspect="1"/>
          </p:cNvPicPr>
          <p:nvPr/>
        </p:nvPicPr>
        <p:blipFill>
          <a:blip r:embed="rId5"/>
          <a:srcRect l="19443" r="59004"/>
          <a:stretch>
            <a:fillRect/>
          </a:stretch>
        </p:blipFill>
        <p:spPr>
          <a:xfrm>
            <a:off x="7032107" y="0"/>
            <a:ext cx="5159893" cy="6858000"/>
          </a:xfrm>
          <a:prstGeom prst="rect">
            <a:avLst/>
          </a:prstGeom>
        </p:spPr>
      </p:pic>
    </p:spTree>
    <p:extLst>
      <p:ext uri="{BB962C8B-B14F-4D97-AF65-F5344CB8AC3E}">
        <p14:creationId xmlns:p14="http://schemas.microsoft.com/office/powerpoint/2010/main" val="3458179702"/>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67466BA1-3B49-06D2-2344-FD81216D2CDF}"/>
              </a:ext>
            </a:extLst>
          </p:cNvPr>
          <p:cNvSpPr>
            <a:spLocks noGrp="1"/>
          </p:cNvSpPr>
          <p:nvPr>
            <p:ph type="pic" sz="quarter" idx="10"/>
          </p:nvPr>
        </p:nvSpPr>
        <p:spPr/>
        <p:txBody>
          <a:bodyPr/>
          <a:lstStyle/>
          <a:p>
            <a:endParaRPr lang="en-US"/>
          </a:p>
        </p:txBody>
      </p:sp>
      <p:sp>
        <p:nvSpPr>
          <p:cNvPr id="3" name="Title 2">
            <a:extLst>
              <a:ext uri="{FF2B5EF4-FFF2-40B4-BE49-F238E27FC236}">
                <a16:creationId xmlns:a16="http://schemas.microsoft.com/office/drawing/2014/main" id="{5141D6FB-1B70-AFB2-A3FA-401EA47E6440}"/>
              </a:ext>
            </a:extLst>
          </p:cNvPr>
          <p:cNvSpPr>
            <a:spLocks noGrp="1"/>
          </p:cNvSpPr>
          <p:nvPr>
            <p:ph type="title"/>
          </p:nvPr>
        </p:nvSpPr>
        <p:spPr/>
        <p:txBody>
          <a:bodyPr/>
          <a:lstStyle/>
          <a:p>
            <a:endParaRPr lang="en-US" dirty="0"/>
          </a:p>
        </p:txBody>
      </p:sp>
      <p:sp>
        <p:nvSpPr>
          <p:cNvPr id="4" name="Text Placeholder 3">
            <a:extLst>
              <a:ext uri="{FF2B5EF4-FFF2-40B4-BE49-F238E27FC236}">
                <a16:creationId xmlns:a16="http://schemas.microsoft.com/office/drawing/2014/main" id="{AED74510-67E1-EE65-B8FF-A0C16E0C0135}"/>
              </a:ext>
            </a:extLst>
          </p:cNvPr>
          <p:cNvSpPr>
            <a:spLocks noGrp="1"/>
          </p:cNvSpPr>
          <p:nvPr>
            <p:ph type="body" sz="quarter" idx="12"/>
          </p:nvPr>
        </p:nvSpPr>
        <p:spPr/>
        <p:txBody>
          <a:bodyPr/>
          <a:lstStyle/>
          <a:p>
            <a:r>
              <a:rPr lang="en-IN" dirty="0"/>
              <a:t>CVs excluded as a part </a:t>
            </a:r>
            <a:r>
              <a:rPr lang="en-IN"/>
              <a:t>of sanitization </a:t>
            </a:r>
            <a:r>
              <a:rPr lang="en-IN" dirty="0"/>
              <a:t>process</a:t>
            </a:r>
            <a:endParaRPr lang="en-US" dirty="0"/>
          </a:p>
        </p:txBody>
      </p:sp>
    </p:spTree>
    <p:extLst>
      <p:ext uri="{BB962C8B-B14F-4D97-AF65-F5344CB8AC3E}">
        <p14:creationId xmlns:p14="http://schemas.microsoft.com/office/powerpoint/2010/main" val="2526856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3478D-0D93-7F60-DDBA-454D93B2DB87}"/>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924EDFAD-4FE0-FC8F-474A-CA918A6342EF}"/>
              </a:ext>
            </a:extLst>
          </p:cNvPr>
          <p:cNvSpPr>
            <a:spLocks noGrp="1"/>
          </p:cNvSpPr>
          <p:nvPr>
            <p:ph type="title"/>
          </p:nvPr>
        </p:nvSpPr>
        <p:spPr/>
        <p:txBody>
          <a:bodyPr/>
          <a:lstStyle/>
          <a:p>
            <a:r>
              <a:rPr lang="en-AU" noProof="0"/>
              <a:t>Agenda</a:t>
            </a:r>
          </a:p>
        </p:txBody>
      </p:sp>
      <p:sp>
        <p:nvSpPr>
          <p:cNvPr id="4" name="Espace réservé du texte 3">
            <a:extLst>
              <a:ext uri="{FF2B5EF4-FFF2-40B4-BE49-F238E27FC236}">
                <a16:creationId xmlns:a16="http://schemas.microsoft.com/office/drawing/2014/main" id="{51578A1F-8B90-A55A-E979-A837E411F005}"/>
              </a:ext>
            </a:extLst>
          </p:cNvPr>
          <p:cNvSpPr>
            <a:spLocks noGrp="1"/>
          </p:cNvSpPr>
          <p:nvPr>
            <p:ph type="body" sz="quarter" idx="12"/>
          </p:nvPr>
        </p:nvSpPr>
        <p:spPr/>
        <p:txBody>
          <a:bodyPr/>
          <a:lstStyle/>
          <a:p>
            <a:r>
              <a:rPr lang="en-AU" noProof="0" dirty="0">
                <a:solidFill>
                  <a:schemeClr val="bg1">
                    <a:lumMod val="65000"/>
                  </a:schemeClr>
                </a:solidFill>
              </a:rPr>
              <a:t>Context and objectives</a:t>
            </a:r>
          </a:p>
          <a:p>
            <a:r>
              <a:rPr lang="en-AU" noProof="0" dirty="0">
                <a:solidFill>
                  <a:schemeClr val="bg1">
                    <a:lumMod val="65000"/>
                  </a:schemeClr>
                </a:solidFill>
              </a:rPr>
              <a:t>Why Capgemini</a:t>
            </a:r>
          </a:p>
          <a:p>
            <a:r>
              <a:rPr lang="en-AU" noProof="0" dirty="0">
                <a:solidFill>
                  <a:schemeClr val="bg1">
                    <a:lumMod val="65000"/>
                  </a:schemeClr>
                </a:solidFill>
              </a:rPr>
              <a:t>Our vision and methodology</a:t>
            </a:r>
          </a:p>
          <a:p>
            <a:r>
              <a:rPr lang="en-AU" noProof="0" dirty="0">
                <a:solidFill>
                  <a:schemeClr val="bg1">
                    <a:lumMod val="65000"/>
                  </a:schemeClr>
                </a:solidFill>
              </a:rPr>
              <a:t>Project plan</a:t>
            </a:r>
          </a:p>
          <a:p>
            <a:r>
              <a:rPr lang="en-AU" noProof="0" dirty="0">
                <a:solidFill>
                  <a:schemeClr val="bg1">
                    <a:lumMod val="65000"/>
                  </a:schemeClr>
                </a:solidFill>
              </a:rPr>
              <a:t>Proposed team and governance model</a:t>
            </a:r>
          </a:p>
          <a:p>
            <a:r>
              <a:rPr lang="en-AU" noProof="0" dirty="0">
                <a:solidFill>
                  <a:schemeClr val="bg1">
                    <a:lumMod val="65000"/>
                  </a:schemeClr>
                </a:solidFill>
              </a:rPr>
              <a:t>Economics</a:t>
            </a:r>
          </a:p>
          <a:p>
            <a:r>
              <a:rPr lang="en-AU" dirty="0">
                <a:solidFill>
                  <a:schemeClr val="bg1">
                    <a:lumMod val="65000"/>
                  </a:schemeClr>
                </a:solidFill>
              </a:rPr>
              <a:t>Credentials</a:t>
            </a:r>
          </a:p>
          <a:p>
            <a:pPr>
              <a:buClr>
                <a:schemeClr val="accent2"/>
              </a:buClr>
              <a:defRPr/>
            </a:pPr>
            <a:r>
              <a:rPr lang="pt-BR" dirty="0">
                <a:solidFill>
                  <a:schemeClr val="tx1"/>
                </a:solidFill>
                <a:highlight>
                  <a:srgbClr val="00FFFF"/>
                </a:highlight>
              </a:rPr>
              <a:t>Annex I – </a:t>
            </a:r>
            <a:r>
              <a:rPr lang="en-US" dirty="0">
                <a:solidFill>
                  <a:schemeClr val="tx1"/>
                </a:solidFill>
                <a:highlight>
                  <a:srgbClr val="00FFFF"/>
                </a:highlight>
              </a:rPr>
              <a:t>Corporate Responsibility and Sustainability Commitment of Capgemini Portugal</a:t>
            </a:r>
            <a:endParaRPr lang="pt-BR" dirty="0">
              <a:solidFill>
                <a:schemeClr val="tx1"/>
              </a:solidFill>
              <a:highlight>
                <a:srgbClr val="00FFFF"/>
              </a:highlight>
            </a:endParaRPr>
          </a:p>
        </p:txBody>
      </p:sp>
      <p:pic>
        <p:nvPicPr>
          <p:cNvPr id="14" name="Picture 13" descr="A fruit and vegetables in a grocery store&#10;&#10;AI-generated content may be incorrect.">
            <a:extLst>
              <a:ext uri="{FF2B5EF4-FFF2-40B4-BE49-F238E27FC236}">
                <a16:creationId xmlns:a16="http://schemas.microsoft.com/office/drawing/2014/main" id="{91CA2B9F-711C-44C9-4418-C028255D8E8F}"/>
              </a:ext>
            </a:extLst>
          </p:cNvPr>
          <p:cNvPicPr>
            <a:picLocks noChangeAspect="1"/>
          </p:cNvPicPr>
          <p:nvPr/>
        </p:nvPicPr>
        <p:blipFill>
          <a:blip r:embed="rId2"/>
          <a:srcRect l="19443" r="59004"/>
          <a:stretch>
            <a:fillRect/>
          </a:stretch>
        </p:blipFill>
        <p:spPr>
          <a:xfrm>
            <a:off x="7032107" y="0"/>
            <a:ext cx="5159893" cy="6858000"/>
          </a:xfrm>
          <a:prstGeom prst="rect">
            <a:avLst/>
          </a:prstGeom>
        </p:spPr>
      </p:pic>
    </p:spTree>
    <p:extLst>
      <p:ext uri="{BB962C8B-B14F-4D97-AF65-F5344CB8AC3E}">
        <p14:creationId xmlns:p14="http://schemas.microsoft.com/office/powerpoint/2010/main" val="121132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50862" y="549270"/>
            <a:ext cx="10690357" cy="576267"/>
          </a:xfrm>
        </p:spPr>
        <p:txBody>
          <a:bodyPr>
            <a:noAutofit/>
          </a:bodyPr>
          <a:lstStyle/>
          <a:p>
            <a:r>
              <a:rPr lang="en-US" sz="2400" b="0">
                <a:solidFill>
                  <a:schemeClr val="bg1"/>
                </a:solidFill>
              </a:rPr>
              <a:t>Corporate Responsibility and Sustainability Commitment</a:t>
            </a:r>
            <a:endParaRPr lang="pt-PT" b="0">
              <a:solidFill>
                <a:schemeClr val="bg1"/>
              </a:solidFill>
            </a:endParaRPr>
          </a:p>
        </p:txBody>
      </p:sp>
      <p:sp>
        <p:nvSpPr>
          <p:cNvPr id="7" name="Content Placeholder 2"/>
          <p:cNvSpPr>
            <a:spLocks noGrp="1"/>
          </p:cNvSpPr>
          <p:nvPr>
            <p:ph idx="4294967295"/>
          </p:nvPr>
        </p:nvSpPr>
        <p:spPr bwMode="auto">
          <a:xfrm>
            <a:off x="550862" y="1268416"/>
            <a:ext cx="3571059" cy="5040313"/>
          </a:xfrm>
          <a:prstGeom prst="rect">
            <a:avLst/>
          </a:prstGeom>
          <a:noFill/>
          <a:ln w="9525">
            <a:noFill/>
            <a:miter lim="800000"/>
            <a:headEnd/>
            <a:tailEnd/>
          </a:ln>
          <a:effectLst/>
        </p:spPr>
        <p:txBody>
          <a:bodyPr vert="horz" lIns="0" tIns="0" rIns="36000" bIns="0" rtlCol="0">
            <a:noAutofit/>
          </a:bodyPr>
          <a:lstStyle/>
          <a:p>
            <a:pPr marL="177800" indent="-177800" defTabSz="914342">
              <a:spcBef>
                <a:spcPts val="400"/>
              </a:spcBef>
              <a:buClr>
                <a:srgbClr val="0098C7"/>
              </a:buClr>
              <a:buFont typeface="Wingdings" pitchFamily="2" charset="2"/>
              <a:buChar char="§"/>
              <a:defRPr/>
            </a:pPr>
            <a:r>
              <a:rPr lang="pt-PT" sz="1000" kern="0">
                <a:solidFill>
                  <a:schemeClr val="bg1"/>
                </a:solidFill>
                <a:ea typeface="+mn-ea"/>
                <a:cs typeface="+mn-cs"/>
              </a:rPr>
              <a:t>Our approach to corporate responsibility and sustainability practices add value to our stakeholders and are based on 6 pillars:</a:t>
            </a:r>
          </a:p>
          <a:p>
            <a:pPr marL="355600" lvl="1" indent="-177800" defTabSz="914342">
              <a:spcBef>
                <a:spcPts val="400"/>
              </a:spcBef>
              <a:buFont typeface="Arial Narrow" pitchFamily="34" charset="0"/>
              <a:buChar char="―"/>
            </a:pPr>
            <a:r>
              <a:rPr lang="pt-PT" sz="900">
                <a:solidFill>
                  <a:schemeClr val="bg1"/>
                </a:solidFill>
              </a:rPr>
              <a:t>Leadership, Values and Ethics;</a:t>
            </a:r>
          </a:p>
          <a:p>
            <a:pPr marL="355600" lvl="1" indent="-177800" defTabSz="914342">
              <a:spcBef>
                <a:spcPts val="400"/>
              </a:spcBef>
              <a:buFont typeface="Arial Narrow" pitchFamily="34" charset="0"/>
              <a:buChar char="―"/>
            </a:pPr>
            <a:r>
              <a:rPr lang="pt-PT" sz="900">
                <a:solidFill>
                  <a:schemeClr val="bg1"/>
                </a:solidFill>
              </a:rPr>
              <a:t>Out people;</a:t>
            </a:r>
          </a:p>
          <a:p>
            <a:pPr marL="355600" lvl="1" indent="-177800" defTabSz="914342">
              <a:spcBef>
                <a:spcPts val="400"/>
              </a:spcBef>
              <a:buFont typeface="Arial Narrow" pitchFamily="34" charset="0"/>
              <a:buChar char="―"/>
            </a:pPr>
            <a:r>
              <a:rPr lang="pt-PT" sz="900">
                <a:solidFill>
                  <a:schemeClr val="bg1"/>
                </a:solidFill>
              </a:rPr>
              <a:t>Out </a:t>
            </a:r>
            <a:r>
              <a:rPr lang="pt-PT" sz="900" err="1">
                <a:solidFill>
                  <a:schemeClr val="bg1"/>
                </a:solidFill>
              </a:rPr>
              <a:t>clients</a:t>
            </a:r>
            <a:r>
              <a:rPr lang="pt-PT" sz="900">
                <a:solidFill>
                  <a:schemeClr val="bg1"/>
                </a:solidFill>
              </a:rPr>
              <a:t>;</a:t>
            </a:r>
          </a:p>
          <a:p>
            <a:pPr marL="355600" lvl="1" indent="-177800" defTabSz="914342">
              <a:spcBef>
                <a:spcPts val="400"/>
              </a:spcBef>
              <a:buFont typeface="Arial Narrow" pitchFamily="34" charset="0"/>
              <a:buChar char="―"/>
            </a:pPr>
            <a:r>
              <a:rPr lang="pt-PT" sz="900">
                <a:solidFill>
                  <a:schemeClr val="bg1"/>
                </a:solidFill>
              </a:rPr>
              <a:t>Environment;</a:t>
            </a:r>
          </a:p>
          <a:p>
            <a:pPr marL="355600" lvl="1" indent="-177800" defTabSz="914342">
              <a:spcBef>
                <a:spcPts val="400"/>
              </a:spcBef>
              <a:buFont typeface="Arial Narrow" pitchFamily="34" charset="0"/>
              <a:buChar char="―"/>
            </a:pPr>
            <a:r>
              <a:rPr lang="pt-PT" sz="900">
                <a:solidFill>
                  <a:schemeClr val="bg1"/>
                </a:solidFill>
              </a:rPr>
              <a:t>Community; </a:t>
            </a:r>
          </a:p>
          <a:p>
            <a:pPr marL="355600" lvl="1" indent="-177800" defTabSz="914342">
              <a:spcBef>
                <a:spcPts val="400"/>
              </a:spcBef>
              <a:buFont typeface="Arial Narrow" pitchFamily="34" charset="0"/>
              <a:buChar char="―"/>
            </a:pPr>
            <a:r>
              <a:rPr lang="pt-PT" sz="900">
                <a:solidFill>
                  <a:schemeClr val="bg1"/>
                </a:solidFill>
              </a:rPr>
              <a:t>Suppliers &amp; Partners.</a:t>
            </a:r>
          </a:p>
          <a:p>
            <a:pPr marL="177800" indent="-177800" defTabSz="914342">
              <a:spcBef>
                <a:spcPts val="400"/>
              </a:spcBef>
              <a:buClr>
                <a:srgbClr val="0098C7"/>
              </a:buClr>
              <a:buFont typeface="Wingdings" pitchFamily="2" charset="2"/>
              <a:buChar char="§"/>
              <a:defRPr/>
            </a:pPr>
            <a:r>
              <a:rPr lang="pt-PT" sz="1000" kern="0">
                <a:solidFill>
                  <a:schemeClr val="bg1"/>
                </a:solidFill>
                <a:ea typeface="+mn-ea"/>
                <a:cs typeface="+mn-cs"/>
              </a:rPr>
              <a:t>As a service supplier we have the opportunity to help our clients, that face their own sustainability challenges, by offering tested solutions developed and deployed by us, generating value through our experience and knowledge.</a:t>
            </a:r>
          </a:p>
          <a:p>
            <a:pPr marL="177800" indent="-177800" defTabSz="914342">
              <a:spcBef>
                <a:spcPts val="400"/>
              </a:spcBef>
              <a:buClr>
                <a:srgbClr val="0098C7"/>
              </a:buClr>
              <a:buFont typeface="Wingdings" pitchFamily="2" charset="2"/>
              <a:buChar char="§"/>
              <a:defRPr/>
            </a:pPr>
            <a:r>
              <a:rPr lang="pt-PT" sz="1000" kern="0">
                <a:solidFill>
                  <a:schemeClr val="bg1"/>
                </a:solidFill>
                <a:ea typeface="+mn-ea"/>
                <a:cs typeface="+mn-cs"/>
              </a:rPr>
              <a:t>We recognize operational efficiency as a key factor to guarantee our clients' business longevity. Accordingly, by applying our sustainability principles to our service offers, we ensure that our clients answer to the growing demands in terms of regulation, competition, operational cost control and resources usage and consumption control.</a:t>
            </a:r>
          </a:p>
          <a:p>
            <a:pPr marL="177800" indent="-177800" defTabSz="914342">
              <a:spcBef>
                <a:spcPts val="400"/>
              </a:spcBef>
              <a:buClr>
                <a:srgbClr val="0098C7"/>
              </a:buClr>
              <a:buFont typeface="Wingdings" pitchFamily="2" charset="2"/>
              <a:buChar char="§"/>
              <a:defRPr/>
            </a:pPr>
            <a:r>
              <a:rPr lang="pt-PT" sz="1000" kern="0">
                <a:solidFill>
                  <a:schemeClr val="bg1"/>
                </a:solidFill>
                <a:ea typeface="+mn-ea"/>
                <a:cs typeface="+mn-cs"/>
              </a:rPr>
              <a:t>As a services supplier we guarantee that, whenever a client reaches us to perform their business outsourcing, we pro actively mitigate every possible risk.</a:t>
            </a:r>
          </a:p>
          <a:p>
            <a:pPr marL="177800" indent="-177800" defTabSz="914342">
              <a:spcBef>
                <a:spcPts val="400"/>
              </a:spcBef>
              <a:buClr>
                <a:srgbClr val="0098C7"/>
              </a:buClr>
              <a:buFont typeface="Wingdings" pitchFamily="2" charset="2"/>
              <a:buChar char="§"/>
              <a:defRPr/>
            </a:pPr>
            <a:r>
              <a:rPr lang="pt-PT" sz="1000" kern="0">
                <a:solidFill>
                  <a:schemeClr val="bg1"/>
                </a:solidFill>
                <a:ea typeface="+mn-ea"/>
                <a:cs typeface="+mn-cs"/>
              </a:rPr>
              <a:t>Deployment of Green IT,  a decrease in our own internal impact through the application of energetically efficient technologies and focusing on a reduction in commuting whenever it is not mandatory, are some examples of actions that are daily performed by our teams.</a:t>
            </a:r>
          </a:p>
          <a:p>
            <a:pPr marL="177800" indent="-177800" defTabSz="914342">
              <a:spcBef>
                <a:spcPts val="400"/>
              </a:spcBef>
              <a:buClr>
                <a:srgbClr val="0098C7"/>
              </a:buClr>
              <a:buFont typeface="Wingdings" pitchFamily="2" charset="2"/>
              <a:buChar char="§"/>
              <a:defRPr/>
            </a:pPr>
            <a:r>
              <a:rPr lang="pt-PT" sz="1000" kern="0" err="1">
                <a:solidFill>
                  <a:schemeClr val="bg1"/>
                </a:solidFill>
                <a:ea typeface="+mn-ea"/>
                <a:cs typeface="+mn-cs"/>
              </a:rPr>
              <a:t>Although</a:t>
            </a:r>
            <a:r>
              <a:rPr lang="pt-PT" sz="1000" kern="0">
                <a:solidFill>
                  <a:schemeClr val="bg1"/>
                </a:solidFill>
                <a:ea typeface="+mn-ea"/>
                <a:cs typeface="+mn-cs"/>
              </a:rPr>
              <a:t> </a:t>
            </a:r>
            <a:r>
              <a:rPr lang="pt-PT" sz="1000" kern="0" err="1">
                <a:solidFill>
                  <a:schemeClr val="bg1"/>
                </a:solidFill>
                <a:ea typeface="+mn-ea"/>
                <a:cs typeface="+mn-cs"/>
              </a:rPr>
              <a:t>our</a:t>
            </a:r>
            <a:r>
              <a:rPr lang="pt-PT" sz="1000" kern="0">
                <a:solidFill>
                  <a:schemeClr val="bg1"/>
                </a:solidFill>
                <a:ea typeface="+mn-ea"/>
                <a:cs typeface="+mn-cs"/>
              </a:rPr>
              <a:t> </a:t>
            </a:r>
            <a:r>
              <a:rPr lang="pt-PT" sz="1000" kern="0" err="1">
                <a:solidFill>
                  <a:schemeClr val="bg1"/>
                </a:solidFill>
                <a:ea typeface="+mn-ea"/>
                <a:cs typeface="+mn-cs"/>
              </a:rPr>
              <a:t>business'core</a:t>
            </a:r>
            <a:r>
              <a:rPr lang="pt-PT" sz="1000" kern="0">
                <a:solidFill>
                  <a:schemeClr val="bg1"/>
                </a:solidFill>
                <a:ea typeface="+mn-ea"/>
                <a:cs typeface="+mn-cs"/>
              </a:rPr>
              <a:t> </a:t>
            </a:r>
            <a:r>
              <a:rPr lang="pt-PT" sz="1000" kern="0" err="1">
                <a:solidFill>
                  <a:schemeClr val="bg1"/>
                </a:solidFill>
                <a:ea typeface="+mn-ea"/>
                <a:cs typeface="+mn-cs"/>
              </a:rPr>
              <a:t>is</a:t>
            </a:r>
            <a:r>
              <a:rPr lang="pt-PT" sz="1000" kern="0">
                <a:solidFill>
                  <a:schemeClr val="bg1"/>
                </a:solidFill>
                <a:ea typeface="+mn-ea"/>
                <a:cs typeface="+mn-cs"/>
              </a:rPr>
              <a:t> </a:t>
            </a:r>
            <a:r>
              <a:rPr lang="pt-PT" sz="1000" kern="0" err="1">
                <a:solidFill>
                  <a:schemeClr val="bg1"/>
                </a:solidFill>
                <a:ea typeface="+mn-ea"/>
                <a:cs typeface="+mn-cs"/>
              </a:rPr>
              <a:t>not</a:t>
            </a:r>
            <a:r>
              <a:rPr lang="pt-PT" sz="1000" kern="0">
                <a:solidFill>
                  <a:schemeClr val="bg1"/>
                </a:solidFill>
                <a:ea typeface="+mn-ea"/>
                <a:cs typeface="+mn-cs"/>
              </a:rPr>
              <a:t> </a:t>
            </a:r>
            <a:r>
              <a:rPr lang="pt-PT" sz="1000" kern="0" err="1">
                <a:solidFill>
                  <a:schemeClr val="bg1"/>
                </a:solidFill>
                <a:ea typeface="+mn-ea"/>
                <a:cs typeface="+mn-cs"/>
              </a:rPr>
              <a:t>product</a:t>
            </a:r>
            <a:r>
              <a:rPr lang="pt-PT" sz="1000" kern="0">
                <a:solidFill>
                  <a:schemeClr val="bg1"/>
                </a:solidFill>
                <a:ea typeface="+mn-ea"/>
                <a:cs typeface="+mn-cs"/>
              </a:rPr>
              <a:t> </a:t>
            </a:r>
            <a:r>
              <a:rPr lang="pt-PT" sz="1000" kern="0" err="1">
                <a:solidFill>
                  <a:schemeClr val="bg1"/>
                </a:solidFill>
                <a:ea typeface="+mn-ea"/>
                <a:cs typeface="+mn-cs"/>
              </a:rPr>
              <a:t>manufacturing</a:t>
            </a:r>
            <a:r>
              <a:rPr lang="pt-PT" sz="1000" kern="0">
                <a:solidFill>
                  <a:schemeClr val="bg1"/>
                </a:solidFill>
                <a:ea typeface="+mn-ea"/>
                <a:cs typeface="+mn-cs"/>
              </a:rPr>
              <a:t>, </a:t>
            </a:r>
            <a:r>
              <a:rPr lang="pt-PT" sz="1000" kern="0" err="1">
                <a:solidFill>
                  <a:schemeClr val="bg1"/>
                </a:solidFill>
                <a:ea typeface="+mn-ea"/>
                <a:cs typeface="+mn-cs"/>
              </a:rPr>
              <a:t>we</a:t>
            </a:r>
            <a:r>
              <a:rPr lang="pt-PT" sz="1000" kern="0">
                <a:solidFill>
                  <a:schemeClr val="bg1"/>
                </a:solidFill>
                <a:ea typeface="+mn-ea"/>
                <a:cs typeface="+mn-cs"/>
              </a:rPr>
              <a:t> </a:t>
            </a:r>
            <a:r>
              <a:rPr lang="pt-PT" sz="1000" kern="0" err="1">
                <a:solidFill>
                  <a:schemeClr val="bg1"/>
                </a:solidFill>
                <a:ea typeface="+mn-ea"/>
                <a:cs typeface="+mn-cs"/>
              </a:rPr>
              <a:t>acknowledge</a:t>
            </a:r>
            <a:r>
              <a:rPr lang="pt-PT" sz="1000" kern="0">
                <a:solidFill>
                  <a:schemeClr val="bg1"/>
                </a:solidFill>
                <a:ea typeface="+mn-ea"/>
                <a:cs typeface="+mn-cs"/>
              </a:rPr>
              <a:t> </a:t>
            </a:r>
            <a:r>
              <a:rPr lang="pt-PT" sz="1000" kern="0" err="1">
                <a:solidFill>
                  <a:schemeClr val="bg1"/>
                </a:solidFill>
                <a:ea typeface="+mn-ea"/>
                <a:cs typeface="+mn-cs"/>
              </a:rPr>
              <a:t>that</a:t>
            </a:r>
            <a:r>
              <a:rPr lang="pt-PT" sz="1000" kern="0">
                <a:solidFill>
                  <a:schemeClr val="bg1"/>
                </a:solidFill>
                <a:ea typeface="+mn-ea"/>
                <a:cs typeface="+mn-cs"/>
              </a:rPr>
              <a:t> </a:t>
            </a:r>
            <a:r>
              <a:rPr lang="pt-PT" sz="1000" kern="0" err="1">
                <a:solidFill>
                  <a:schemeClr val="bg1"/>
                </a:solidFill>
                <a:ea typeface="+mn-ea"/>
                <a:cs typeface="+mn-cs"/>
              </a:rPr>
              <a:t>our</a:t>
            </a:r>
            <a:r>
              <a:rPr lang="pt-PT" sz="1000" kern="0">
                <a:solidFill>
                  <a:schemeClr val="bg1"/>
                </a:solidFill>
                <a:ea typeface="+mn-ea"/>
                <a:cs typeface="+mn-cs"/>
              </a:rPr>
              <a:t> </a:t>
            </a:r>
            <a:r>
              <a:rPr lang="pt-PT" sz="1000" kern="0" err="1">
                <a:solidFill>
                  <a:schemeClr val="bg1"/>
                </a:solidFill>
                <a:ea typeface="+mn-ea"/>
                <a:cs typeface="+mn-cs"/>
              </a:rPr>
              <a:t>activity</a:t>
            </a:r>
            <a:r>
              <a:rPr lang="pt-PT" sz="1000" kern="0">
                <a:solidFill>
                  <a:schemeClr val="bg1"/>
                </a:solidFill>
                <a:ea typeface="+mn-ea"/>
                <a:cs typeface="+mn-cs"/>
              </a:rPr>
              <a:t> </a:t>
            </a:r>
            <a:r>
              <a:rPr lang="pt-PT" sz="1000" kern="0" err="1">
                <a:solidFill>
                  <a:schemeClr val="bg1"/>
                </a:solidFill>
                <a:ea typeface="+mn-ea"/>
                <a:cs typeface="+mn-cs"/>
              </a:rPr>
              <a:t>has</a:t>
            </a:r>
            <a:endParaRPr lang="pt-PT" sz="1000" kern="0">
              <a:solidFill>
                <a:schemeClr val="bg1"/>
              </a:solidFill>
              <a:ea typeface="+mn-ea"/>
              <a:cs typeface="+mn-cs"/>
            </a:endParaRPr>
          </a:p>
        </p:txBody>
      </p:sp>
      <p:sp>
        <p:nvSpPr>
          <p:cNvPr id="8" name="Content Placeholder 2"/>
          <p:cNvSpPr txBox="1">
            <a:spLocks/>
          </p:cNvSpPr>
          <p:nvPr/>
        </p:nvSpPr>
        <p:spPr>
          <a:xfrm>
            <a:off x="4281529" y="1268259"/>
            <a:ext cx="3600000" cy="5040466"/>
          </a:xfrm>
          <a:prstGeom prst="rect">
            <a:avLst/>
          </a:prstGeom>
          <a:noFill/>
        </p:spPr>
        <p:txBody>
          <a:bodyPr vert="horz" lIns="108000" tIns="0" rIns="36000" bIns="72000" rtlCol="0">
            <a:noAutofit/>
          </a:bodyPr>
          <a:lstStyle/>
          <a:p>
            <a:pPr marL="180975" marR="0" lvl="0" indent="0" algn="l" defTabSz="914342" rtl="0" eaLnBrk="1" fontAlgn="auto" latinLnBrk="0" hangingPunct="1">
              <a:lnSpc>
                <a:spcPct val="100000"/>
              </a:lnSpc>
              <a:spcBef>
                <a:spcPts val="400"/>
              </a:spcBef>
              <a:spcAft>
                <a:spcPts val="0"/>
              </a:spcAft>
              <a:buClr>
                <a:srgbClr val="0098C7"/>
              </a:buClr>
              <a:buSzTx/>
              <a:buFontTx/>
              <a:buNone/>
              <a:tabLst/>
              <a:defRPr/>
            </a:pP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an</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environmental</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impact</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and</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we</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make</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the</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commitment</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of</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continuously</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improving</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our</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environmental</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performance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by</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providing</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t>
            </a:r>
            <a:r>
              <a:rPr kumimoji="0" lang="pt-PT" sz="1000" b="0" i="0" u="none" strike="noStrike" kern="1200" cap="none" spc="0" normalizeH="0" baseline="0" noProof="0" err="1">
                <a:ln>
                  <a:noFill/>
                </a:ln>
                <a:solidFill>
                  <a:schemeClr val="bg1"/>
                </a:solidFill>
                <a:effectLst/>
                <a:uLnTx/>
                <a:uFillTx/>
                <a:latin typeface="Ubuntu"/>
                <a:ea typeface="Verdana" panose="020B0604030504040204" pitchFamily="34" charset="0"/>
                <a:cs typeface="Verdana" panose="020B0604030504040204" pitchFamily="34" charset="0"/>
              </a:rPr>
              <a:t>services</a:t>
            </a:r>
            <a:r>
              <a:rPr kumimoji="0" lang="pt-PT" sz="1000" b="0" i="0" u="none" strike="noStrike" kern="1200" cap="none" spc="0" normalizeH="0" baseline="0" noProof="0">
                <a:ln>
                  <a:noFill/>
                </a:ln>
                <a:solidFill>
                  <a:schemeClr val="bg1"/>
                </a:solidFill>
                <a:effectLst/>
                <a:uLnTx/>
                <a:uFillTx/>
                <a:latin typeface="Ubuntu"/>
                <a:ea typeface="Verdana" panose="020B0604030504040204" pitchFamily="34" charset="0"/>
                <a:cs typeface="Verdana" panose="020B0604030504040204" pitchFamily="34" charset="0"/>
              </a:rPr>
              <a:t> as:</a:t>
            </a: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1" i="0" u="none" strike="noStrike" kern="0" cap="none" spc="0" normalizeH="0" baseline="0" noProof="0">
                <a:ln>
                  <a:noFill/>
                </a:ln>
                <a:solidFill>
                  <a:schemeClr val="bg1"/>
                </a:solidFill>
                <a:effectLst/>
                <a:uLnTx/>
                <a:uFillTx/>
                <a:latin typeface="Ubuntu"/>
                <a:ea typeface="+mn-ea"/>
                <a:cs typeface="+mn-cs"/>
              </a:rPr>
              <a:t>Green IT &amp; Information and Communication Technology </a:t>
            </a:r>
            <a:r>
              <a:rPr kumimoji="0" lang="pt-PT" sz="900" b="0" i="0" u="none" strike="noStrike" kern="0" cap="none" spc="0" normalizeH="0" baseline="0" noProof="0">
                <a:ln>
                  <a:noFill/>
                </a:ln>
                <a:solidFill>
                  <a:schemeClr val="bg1"/>
                </a:solidFill>
                <a:effectLst/>
                <a:uLnTx/>
                <a:uFillTx/>
                <a:latin typeface="Ubuntu"/>
                <a:ea typeface="+mn-ea"/>
                <a:cs typeface="+mn-cs"/>
              </a:rPr>
              <a:t>– Reducing emissions of IT through a wide range of initiatives from creating a culture of awareness of the cost of carbon to specific projects and services.</a:t>
            </a: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1" i="0" u="none" strike="noStrike" kern="0" cap="none" spc="0" normalizeH="0" baseline="0" noProof="0" err="1">
                <a:ln>
                  <a:noFill/>
                </a:ln>
                <a:solidFill>
                  <a:schemeClr val="bg1"/>
                </a:solidFill>
                <a:effectLst/>
                <a:uLnTx/>
                <a:uFillTx/>
                <a:latin typeface="Ubuntu"/>
                <a:ea typeface="+mn-ea"/>
                <a:cs typeface="+mn-cs"/>
              </a:rPr>
              <a:t>Smart</a:t>
            </a:r>
            <a:r>
              <a:rPr kumimoji="0" lang="pt-PT" sz="900" b="1" i="0" u="none" strike="noStrike" kern="0" cap="none" spc="0" normalizeH="0" baseline="0" noProof="0">
                <a:ln>
                  <a:noFill/>
                </a:ln>
                <a:solidFill>
                  <a:schemeClr val="bg1"/>
                </a:solidFill>
                <a:effectLst/>
                <a:uLnTx/>
                <a:uFillTx/>
                <a:latin typeface="Ubuntu"/>
                <a:ea typeface="+mn-ea"/>
                <a:cs typeface="+mn-cs"/>
              </a:rPr>
              <a:t> </a:t>
            </a:r>
            <a:r>
              <a:rPr kumimoji="0" lang="pt-PT" sz="900" b="1" i="0" u="none" strike="noStrike" kern="0" cap="none" spc="0" normalizeH="0" baseline="0" noProof="0" err="1">
                <a:ln>
                  <a:noFill/>
                </a:ln>
                <a:solidFill>
                  <a:schemeClr val="bg1"/>
                </a:solidFill>
                <a:effectLst/>
                <a:uLnTx/>
                <a:uFillTx/>
                <a:latin typeface="Ubuntu"/>
                <a:ea typeface="+mn-ea"/>
                <a:cs typeface="+mn-cs"/>
              </a:rPr>
              <a:t>Energy</a:t>
            </a:r>
            <a:r>
              <a:rPr kumimoji="0" lang="pt-PT" sz="900" b="1" i="0" u="none" strike="noStrike" kern="0" cap="none" spc="0" normalizeH="0" baseline="0" noProof="0">
                <a:ln>
                  <a:noFill/>
                </a:ln>
                <a:solidFill>
                  <a:schemeClr val="bg1"/>
                </a:solidFill>
                <a:effectLst/>
                <a:uLnTx/>
                <a:uFillTx/>
                <a:latin typeface="Ubuntu"/>
                <a:ea typeface="+mn-ea"/>
                <a:cs typeface="+mn-cs"/>
              </a:rPr>
              <a:t> </a:t>
            </a:r>
            <a:r>
              <a:rPr kumimoji="0" lang="pt-PT" sz="900" b="0" i="0" u="none" strike="noStrike" kern="0" cap="none" spc="0" normalizeH="0" baseline="0" noProof="0">
                <a:ln>
                  <a:noFill/>
                </a:ln>
                <a:solidFill>
                  <a:schemeClr val="bg1"/>
                </a:solidFill>
                <a:effectLst/>
                <a:uLnTx/>
                <a:uFillTx/>
                <a:latin typeface="Ubuntu"/>
                <a:ea typeface="+mn-ea"/>
                <a:cs typeface="+mn-cs"/>
              </a:rPr>
              <a:t>–We offer a wide range of sustainable energy efficient solutions that enable customers to optimize their energy consumption and its environmental impacts.</a:t>
            </a: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1" i="0" u="none" strike="noStrike" kern="0" cap="none" spc="0" normalizeH="0" baseline="0" noProof="0" err="1">
                <a:ln>
                  <a:noFill/>
                </a:ln>
                <a:solidFill>
                  <a:schemeClr val="bg1"/>
                </a:solidFill>
                <a:effectLst/>
                <a:uLnTx/>
                <a:uFillTx/>
                <a:latin typeface="Ubuntu"/>
                <a:ea typeface="+mn-ea"/>
                <a:cs typeface="+mn-cs"/>
              </a:rPr>
              <a:t>Cloud</a:t>
            </a:r>
            <a:r>
              <a:rPr kumimoji="0" lang="pt-PT" sz="900" b="1" i="0" u="none" strike="noStrike" kern="0" cap="none" spc="0" normalizeH="0" baseline="0" noProof="0">
                <a:ln>
                  <a:noFill/>
                </a:ln>
                <a:solidFill>
                  <a:schemeClr val="bg1"/>
                </a:solidFill>
                <a:effectLst/>
                <a:uLnTx/>
                <a:uFillTx/>
                <a:latin typeface="Ubuntu"/>
                <a:ea typeface="+mn-ea"/>
                <a:cs typeface="+mn-cs"/>
              </a:rPr>
              <a:t> </a:t>
            </a:r>
            <a:r>
              <a:rPr kumimoji="0" lang="pt-PT" sz="900" b="1" i="0" u="none" strike="noStrike" kern="0" cap="none" spc="0" normalizeH="0" baseline="0" noProof="0" err="1">
                <a:ln>
                  <a:noFill/>
                </a:ln>
                <a:solidFill>
                  <a:schemeClr val="bg1"/>
                </a:solidFill>
                <a:effectLst/>
                <a:uLnTx/>
                <a:uFillTx/>
                <a:latin typeface="Ubuntu"/>
                <a:ea typeface="+mn-ea"/>
                <a:cs typeface="+mn-cs"/>
              </a:rPr>
              <a:t>Computing</a:t>
            </a:r>
            <a:r>
              <a:rPr kumimoji="0" lang="pt-PT" sz="900" b="1" i="0" u="none" strike="noStrike" kern="0" cap="none" spc="0" normalizeH="0" baseline="0" noProof="0">
                <a:ln>
                  <a:noFill/>
                </a:ln>
                <a:solidFill>
                  <a:schemeClr val="bg1"/>
                </a:solidFill>
                <a:effectLst/>
                <a:uLnTx/>
                <a:uFillTx/>
                <a:latin typeface="Ubuntu"/>
                <a:ea typeface="+mn-ea"/>
                <a:cs typeface="+mn-cs"/>
              </a:rPr>
              <a:t> </a:t>
            </a:r>
            <a:r>
              <a:rPr kumimoji="0" lang="pt-PT" sz="900" b="0" i="0" u="none" strike="noStrike" kern="0" cap="none" spc="0" normalizeH="0" baseline="0" noProof="0">
                <a:ln>
                  <a:noFill/>
                </a:ln>
                <a:solidFill>
                  <a:schemeClr val="bg1"/>
                </a:solidFill>
                <a:effectLst/>
                <a:uLnTx/>
                <a:uFillTx/>
                <a:latin typeface="Ubuntu"/>
                <a:ea typeface="+mn-ea"/>
                <a:cs typeface="+mn-cs"/>
              </a:rPr>
              <a:t>– Our teams are based on their knowledge about technologies and implementation strategies to help developing, integrating and accelerating the migration plans of the clients' existing IT systems. The future system and the migration plan are designed to meet your needs with the purpose of maximizing the efficiency of your IT platforms incorporating sustainability in your governance, process and infra-structure models.</a:t>
            </a:r>
          </a:p>
          <a:p>
            <a:pPr marL="358775"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1" i="0" u="none" strike="noStrike" kern="0" cap="none" spc="0" normalizeH="0" baseline="0" noProof="0">
                <a:ln>
                  <a:noFill/>
                </a:ln>
                <a:solidFill>
                  <a:schemeClr val="bg1"/>
                </a:solidFill>
                <a:effectLst/>
                <a:uLnTx/>
                <a:uFillTx/>
                <a:latin typeface="Ubuntu"/>
                <a:ea typeface="+mn-ea"/>
                <a:cs typeface="+mn-cs"/>
              </a:rPr>
              <a:t>Carbon calculus and report </a:t>
            </a:r>
            <a:r>
              <a:rPr kumimoji="0" lang="pt-PT" sz="900" b="0" i="0" u="none" strike="noStrike" kern="0" cap="none" spc="0" normalizeH="0" baseline="0" noProof="0">
                <a:ln>
                  <a:noFill/>
                </a:ln>
                <a:solidFill>
                  <a:schemeClr val="bg1"/>
                </a:solidFill>
                <a:effectLst/>
                <a:uLnTx/>
                <a:uFillTx/>
                <a:latin typeface="Ubuntu"/>
                <a:ea typeface="+mn-ea"/>
                <a:cs typeface="+mn-cs"/>
              </a:rPr>
              <a:t>– It is necessary to </a:t>
            </a:r>
            <a:r>
              <a:rPr kumimoji="0" lang="pt-PT" sz="900" b="0" i="0" u="none" strike="noStrike" kern="0" cap="none" spc="0" normalizeH="0" baseline="0" noProof="0" err="1">
                <a:ln>
                  <a:noFill/>
                </a:ln>
                <a:solidFill>
                  <a:schemeClr val="bg1"/>
                </a:solidFill>
                <a:effectLst/>
                <a:uLnTx/>
                <a:uFillTx/>
                <a:latin typeface="Ubuntu"/>
                <a:ea typeface="+mn-ea"/>
                <a:cs typeface="+mn-cs"/>
              </a:rPr>
              <a:t>own</a:t>
            </a:r>
            <a:r>
              <a:rPr kumimoji="0" lang="pt-PT" sz="900" b="0" i="0" u="none" strike="noStrike" kern="0" cap="none" spc="0" normalizeH="0" baseline="0" noProof="0">
                <a:ln>
                  <a:noFill/>
                </a:ln>
                <a:solidFill>
                  <a:schemeClr val="bg1"/>
                </a:solidFill>
                <a:effectLst/>
                <a:uLnTx/>
                <a:uFillTx/>
                <a:latin typeface="Ubuntu"/>
                <a:ea typeface="+mn-ea"/>
                <a:cs typeface="+mn-cs"/>
              </a:rPr>
              <a:t> processes and systems that capture the required vast and complex data for a decision making based on valid and current information. Our outsourcing offers for energy, carbon and information management over sustainability, </a:t>
            </a:r>
            <a:r>
              <a:rPr kumimoji="0" lang="pt-PT" sz="900" b="0" i="0" u="none" strike="noStrike" kern="0" cap="none" spc="0" normalizeH="0" baseline="0" noProof="0" err="1">
                <a:ln>
                  <a:noFill/>
                </a:ln>
                <a:solidFill>
                  <a:schemeClr val="bg1"/>
                </a:solidFill>
                <a:effectLst/>
                <a:uLnTx/>
                <a:uFillTx/>
                <a:latin typeface="Ubuntu"/>
                <a:ea typeface="+mn-ea"/>
                <a:cs typeface="+mn-cs"/>
              </a:rPr>
              <a:t>through</a:t>
            </a:r>
            <a:r>
              <a:rPr kumimoji="0" lang="pt-PT" sz="900" b="0" i="0" u="none" strike="noStrike" kern="0" cap="none" spc="0" normalizeH="0" baseline="0" noProof="0">
                <a:ln>
                  <a:noFill/>
                </a:ln>
                <a:solidFill>
                  <a:schemeClr val="bg1"/>
                </a:solidFill>
                <a:effectLst/>
                <a:uLnTx/>
                <a:uFillTx/>
                <a:latin typeface="Ubuntu"/>
                <a:ea typeface="+mn-ea"/>
                <a:cs typeface="+mn-cs"/>
              </a:rPr>
              <a:t> </a:t>
            </a:r>
            <a:r>
              <a:rPr kumimoji="0" lang="pt-PT" sz="900" b="0" i="0" u="none" strike="noStrike" kern="0" cap="none" spc="0" normalizeH="0" baseline="0" noProof="0" err="1">
                <a:ln>
                  <a:noFill/>
                </a:ln>
                <a:solidFill>
                  <a:schemeClr val="bg1"/>
                </a:solidFill>
                <a:effectLst/>
                <a:uLnTx/>
                <a:uFillTx/>
                <a:latin typeface="Ubuntu"/>
                <a:ea typeface="+mn-ea"/>
                <a:cs typeface="+mn-cs"/>
              </a:rPr>
              <a:t>our</a:t>
            </a:r>
            <a:r>
              <a:rPr kumimoji="0" lang="pt-PT" sz="900" b="0" i="0" u="none" strike="noStrike" kern="0" cap="none" spc="0" normalizeH="0" baseline="0" noProof="0">
                <a:ln>
                  <a:noFill/>
                </a:ln>
                <a:solidFill>
                  <a:schemeClr val="bg1"/>
                </a:solidFill>
                <a:effectLst/>
                <a:uLnTx/>
                <a:uFillTx/>
                <a:latin typeface="Ubuntu"/>
                <a:ea typeface="+mn-ea"/>
                <a:cs typeface="+mn-cs"/>
              </a:rPr>
              <a:t> Business Processes </a:t>
            </a:r>
            <a:r>
              <a:rPr kumimoji="0" lang="pt-PT" sz="900" b="0" i="0" u="none" strike="noStrike" kern="0" cap="none" spc="0" normalizeH="0" baseline="0" noProof="0" err="1">
                <a:ln>
                  <a:noFill/>
                </a:ln>
                <a:solidFill>
                  <a:schemeClr val="bg1"/>
                </a:solidFill>
                <a:effectLst/>
                <a:uLnTx/>
                <a:uFillTx/>
                <a:latin typeface="Ubuntu"/>
                <a:ea typeface="+mn-ea"/>
                <a:cs typeface="+mn-cs"/>
              </a:rPr>
              <a:t>Operations</a:t>
            </a:r>
            <a:r>
              <a:rPr kumimoji="0" lang="pt-PT" sz="900" b="0" i="0" u="none" strike="noStrike" kern="0" cap="none" spc="0" normalizeH="0" baseline="0" noProof="0">
                <a:ln>
                  <a:noFill/>
                </a:ln>
                <a:solidFill>
                  <a:schemeClr val="bg1"/>
                </a:solidFill>
                <a:effectLst/>
                <a:uLnTx/>
                <a:uFillTx/>
                <a:latin typeface="Ubuntu"/>
                <a:ea typeface="+mn-ea"/>
                <a:cs typeface="+mn-cs"/>
              </a:rPr>
              <a:t> (BPO), along with leading software partners, provide an effective, low cost analysis, and high quality management and service reporting.  As a result, the client focuses on their sustainability strategy, operational efficiency and in the identification and development of </a:t>
            </a:r>
            <a:r>
              <a:rPr kumimoji="0" lang="pt-PT" sz="900" b="0" i="0" u="none" strike="noStrike" kern="0" cap="none" spc="0" normalizeH="0" baseline="0" noProof="0" err="1">
                <a:ln>
                  <a:noFill/>
                </a:ln>
                <a:solidFill>
                  <a:schemeClr val="bg1"/>
                </a:solidFill>
                <a:effectLst/>
                <a:uLnTx/>
                <a:uFillTx/>
                <a:latin typeface="Ubuntu"/>
                <a:ea typeface="+mn-ea"/>
                <a:cs typeface="+mn-cs"/>
              </a:rPr>
              <a:t>improvements</a:t>
            </a:r>
            <a:r>
              <a:rPr kumimoji="0" lang="pt-PT" sz="900" b="0" i="0" u="none" strike="noStrike" kern="0" cap="none" spc="0" normalizeH="0" baseline="0" noProof="0">
                <a:ln>
                  <a:noFill/>
                </a:ln>
                <a:solidFill>
                  <a:schemeClr val="bg1"/>
                </a:solidFill>
                <a:effectLst/>
                <a:uLnTx/>
                <a:uFillTx/>
                <a:latin typeface="Ubuntu"/>
                <a:ea typeface="+mn-ea"/>
                <a:cs typeface="+mn-cs"/>
              </a:rPr>
              <a:t>.</a:t>
            </a:r>
          </a:p>
          <a:p>
            <a:pPr marL="177800" marR="0" lvl="0" indent="-177800" algn="l" defTabSz="914342" rtl="0" eaLnBrk="1" fontAlgn="auto" latinLnBrk="0" hangingPunct="1">
              <a:lnSpc>
                <a:spcPct val="100000"/>
              </a:lnSpc>
              <a:spcBef>
                <a:spcPts val="400"/>
              </a:spcBef>
              <a:spcAft>
                <a:spcPts val="0"/>
              </a:spcAft>
              <a:buClr>
                <a:srgbClr val="0098C7"/>
              </a:buClr>
              <a:buSzTx/>
              <a:buFont typeface="Wingdings" pitchFamily="2" charset="2"/>
              <a:buChar char="§"/>
              <a:tabLst/>
              <a:defRPr/>
            </a:pPr>
            <a:r>
              <a:rPr kumimoji="0" lang="pt-PT" sz="1000" b="0" i="0" u="none" strike="noStrike" kern="0" cap="none" spc="0" normalizeH="0" baseline="0" noProof="0">
                <a:ln>
                  <a:noFill/>
                </a:ln>
                <a:solidFill>
                  <a:schemeClr val="bg1"/>
                </a:solidFill>
                <a:effectLst/>
                <a:uLnTx/>
                <a:uFillTx/>
                <a:latin typeface="Ubuntu"/>
                <a:ea typeface="+mn-ea"/>
                <a:cs typeface="+mn-cs"/>
              </a:rPr>
              <a:t>Capgemini Portugal </a:t>
            </a:r>
            <a:r>
              <a:rPr kumimoji="0" lang="pt-PT" sz="1000" b="0" i="0" u="none" strike="noStrike" kern="0" cap="none" spc="0" normalizeH="0" baseline="0" noProof="0" err="1">
                <a:ln>
                  <a:noFill/>
                </a:ln>
                <a:solidFill>
                  <a:schemeClr val="bg1"/>
                </a:solidFill>
                <a:effectLst/>
                <a:uLnTx/>
                <a:uFillTx/>
                <a:latin typeface="Ubuntu"/>
                <a:ea typeface="+mn-ea"/>
                <a:cs typeface="+mn-cs"/>
              </a:rPr>
              <a:t>manages</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its</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growth</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and</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development</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by</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identifying</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and</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taking</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into</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account</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the</a:t>
            </a:r>
            <a:r>
              <a:rPr kumimoji="0" lang="pt-PT" sz="1000" b="0" i="0" u="none" strike="noStrike" kern="0" cap="none" spc="0" normalizeH="0" baseline="0" noProof="0">
                <a:ln>
                  <a:noFill/>
                </a:ln>
                <a:solidFill>
                  <a:schemeClr val="bg1"/>
                </a:solidFill>
                <a:effectLst/>
                <a:uLnTx/>
                <a:uFillTx/>
                <a:latin typeface="Ubuntu"/>
                <a:ea typeface="+mn-ea"/>
                <a:cs typeface="+mn-cs"/>
              </a:rPr>
              <a:t> fundamental </a:t>
            </a:r>
            <a:r>
              <a:rPr kumimoji="0" lang="pt-PT" sz="1000" b="0" i="0" u="none" strike="noStrike" kern="0" cap="none" spc="0" normalizeH="0" baseline="0" noProof="0" err="1">
                <a:ln>
                  <a:noFill/>
                </a:ln>
                <a:solidFill>
                  <a:schemeClr val="bg1"/>
                </a:solidFill>
                <a:effectLst/>
                <a:uLnTx/>
                <a:uFillTx/>
                <a:latin typeface="Ubuntu"/>
                <a:ea typeface="+mn-ea"/>
                <a:cs typeface="+mn-cs"/>
              </a:rPr>
              <a:t>principles</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of</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sustainability</a:t>
            </a:r>
            <a:r>
              <a:rPr kumimoji="0" lang="pt-PT" sz="900" b="0" i="0" u="none" strike="noStrike" kern="0" cap="none" spc="0" normalizeH="0" baseline="0" noProof="0">
                <a:ln>
                  <a:noFill/>
                </a:ln>
                <a:solidFill>
                  <a:schemeClr val="bg1"/>
                </a:solidFill>
                <a:effectLst/>
                <a:uLnTx/>
                <a:uFillTx/>
                <a:latin typeface="Ubuntu"/>
                <a:ea typeface="+mn-ea"/>
                <a:cs typeface="+mn-cs"/>
              </a:rPr>
              <a:t>.</a:t>
            </a:r>
          </a:p>
        </p:txBody>
      </p:sp>
      <p:sp>
        <p:nvSpPr>
          <p:cNvPr id="9" name="Content Placeholder 2"/>
          <p:cNvSpPr txBox="1">
            <a:spLocks/>
          </p:cNvSpPr>
          <p:nvPr/>
        </p:nvSpPr>
        <p:spPr>
          <a:xfrm>
            <a:off x="8041138" y="1268259"/>
            <a:ext cx="3600000" cy="5040466"/>
          </a:xfrm>
          <a:prstGeom prst="rect">
            <a:avLst/>
          </a:prstGeom>
          <a:noFill/>
        </p:spPr>
        <p:txBody>
          <a:bodyPr vert="horz" lIns="108000" tIns="0" rIns="36000" bIns="72000" rtlCol="0">
            <a:noAutofit/>
          </a:bodyPr>
          <a:lstStyle/>
          <a:p>
            <a:pPr marL="177800" marR="0" lvl="0" indent="-177800" algn="l" defTabSz="914342" rtl="0" eaLnBrk="1" fontAlgn="auto" latinLnBrk="0" hangingPunct="1">
              <a:lnSpc>
                <a:spcPct val="100000"/>
              </a:lnSpc>
              <a:spcBef>
                <a:spcPts val="400"/>
              </a:spcBef>
              <a:spcAft>
                <a:spcPts val="0"/>
              </a:spcAft>
              <a:buClr>
                <a:srgbClr val="0098C7"/>
              </a:buClr>
              <a:buSzTx/>
              <a:buFont typeface="Wingdings" pitchFamily="2" charset="2"/>
              <a:buChar char="§"/>
              <a:tabLst/>
              <a:defRPr/>
            </a:pPr>
            <a:r>
              <a:rPr kumimoji="0" lang="pt-PT" sz="1000" b="0" i="0" u="none" strike="noStrike" kern="0" cap="none" spc="0" normalizeH="0" baseline="0" noProof="0" err="1">
                <a:ln>
                  <a:noFill/>
                </a:ln>
                <a:solidFill>
                  <a:schemeClr val="bg1"/>
                </a:solidFill>
                <a:effectLst/>
                <a:uLnTx/>
                <a:uFillTx/>
                <a:latin typeface="Ubuntu"/>
                <a:ea typeface="+mn-ea"/>
                <a:cs typeface="+mn-cs"/>
              </a:rPr>
              <a:t>We</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make</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the</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commitment</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of</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minimizing</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our</a:t>
            </a:r>
            <a:r>
              <a:rPr kumimoji="0" lang="pt-PT" sz="1000" b="0" i="0" u="none" strike="noStrike" kern="0" cap="none" spc="0" normalizeH="0" baseline="0" noProof="0">
                <a:ln>
                  <a:noFill/>
                </a:ln>
                <a:solidFill>
                  <a:schemeClr val="bg1"/>
                </a:solidFill>
                <a:effectLst/>
                <a:uLnTx/>
                <a:uFillTx/>
                <a:latin typeface="Ubuntu"/>
                <a:ea typeface="+mn-ea"/>
                <a:cs typeface="+mn-cs"/>
              </a:rPr>
              <a:t> negative </a:t>
            </a:r>
            <a:r>
              <a:rPr kumimoji="0" lang="pt-PT" sz="1000" b="0" i="0" u="none" strike="noStrike" kern="0" cap="none" spc="0" normalizeH="0" baseline="0" noProof="0" err="1">
                <a:ln>
                  <a:noFill/>
                </a:ln>
                <a:solidFill>
                  <a:schemeClr val="bg1"/>
                </a:solidFill>
                <a:effectLst/>
                <a:uLnTx/>
                <a:uFillTx/>
                <a:latin typeface="Ubuntu"/>
                <a:ea typeface="+mn-ea"/>
                <a:cs typeface="+mn-cs"/>
              </a:rPr>
              <a:t>impacts</a:t>
            </a:r>
            <a:r>
              <a:rPr kumimoji="0" lang="pt-PT" sz="1000" b="0" i="0" u="none" strike="noStrike" kern="0" cap="none" spc="0" normalizeH="0" baseline="0" noProof="0">
                <a:ln>
                  <a:noFill/>
                </a:ln>
                <a:solidFill>
                  <a:schemeClr val="bg1"/>
                </a:solidFill>
                <a:effectLst/>
                <a:uLnTx/>
                <a:uFillTx/>
                <a:latin typeface="Ubuntu"/>
                <a:ea typeface="+mn-ea"/>
                <a:cs typeface="+mn-cs"/>
              </a:rPr>
              <a:t> in </a:t>
            </a:r>
            <a:r>
              <a:rPr kumimoji="0" lang="pt-PT" sz="1000" b="0" i="0" u="none" strike="noStrike" kern="0" cap="none" spc="0" normalizeH="0" baseline="0" noProof="0" err="1">
                <a:ln>
                  <a:noFill/>
                </a:ln>
                <a:solidFill>
                  <a:schemeClr val="bg1"/>
                </a:solidFill>
                <a:effectLst/>
                <a:uLnTx/>
                <a:uFillTx/>
                <a:latin typeface="Ubuntu"/>
                <a:ea typeface="+mn-ea"/>
                <a:cs typeface="+mn-cs"/>
              </a:rPr>
              <a:t>the</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most</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relevant</a:t>
            </a:r>
            <a:r>
              <a:rPr kumimoji="0" lang="pt-PT" sz="1000" b="0" i="0" u="none" strike="noStrike" kern="0" cap="none" spc="0" normalizeH="0" baseline="0" noProof="0">
                <a:ln>
                  <a:noFill/>
                </a:ln>
                <a:solidFill>
                  <a:schemeClr val="bg1"/>
                </a:solidFill>
                <a:effectLst/>
                <a:uLnTx/>
                <a:uFillTx/>
                <a:latin typeface="Ubuntu"/>
                <a:ea typeface="+mn-ea"/>
                <a:cs typeface="+mn-cs"/>
              </a:rPr>
              <a:t> business </a:t>
            </a:r>
            <a:r>
              <a:rPr kumimoji="0" lang="pt-PT" sz="1000" b="0" i="0" u="none" strike="noStrike" kern="0" cap="none" spc="0" normalizeH="0" baseline="0" noProof="0" err="1">
                <a:ln>
                  <a:noFill/>
                </a:ln>
                <a:solidFill>
                  <a:schemeClr val="bg1"/>
                </a:solidFill>
                <a:effectLst/>
                <a:uLnTx/>
                <a:uFillTx/>
                <a:latin typeface="Ubuntu"/>
                <a:ea typeface="+mn-ea"/>
                <a:cs typeface="+mn-cs"/>
              </a:rPr>
              <a:t>areas</a:t>
            </a:r>
            <a:r>
              <a:rPr kumimoji="0" lang="pt-PT" sz="1000" b="0" i="0" u="none" strike="noStrike" kern="0" cap="none" spc="0" normalizeH="0" baseline="0" noProof="0">
                <a:ln>
                  <a:noFill/>
                </a:ln>
                <a:solidFill>
                  <a:schemeClr val="bg1"/>
                </a:solidFill>
                <a:effectLst/>
                <a:uLnTx/>
                <a:uFillTx/>
                <a:latin typeface="Ubuntu"/>
                <a:ea typeface="+mn-ea"/>
                <a:cs typeface="+mn-cs"/>
              </a:rPr>
              <a:t>, in </a:t>
            </a:r>
            <a:r>
              <a:rPr kumimoji="0" lang="pt-PT" sz="1000" b="0" i="0" u="none" strike="noStrike" kern="0" cap="none" spc="0" normalizeH="0" baseline="0" noProof="0" err="1">
                <a:ln>
                  <a:noFill/>
                </a:ln>
                <a:solidFill>
                  <a:schemeClr val="bg1"/>
                </a:solidFill>
                <a:effectLst/>
                <a:uLnTx/>
                <a:uFillTx/>
                <a:latin typeface="Ubuntu"/>
                <a:ea typeface="+mn-ea"/>
                <a:cs typeface="+mn-cs"/>
              </a:rPr>
              <a:t>order</a:t>
            </a:r>
            <a:r>
              <a:rPr kumimoji="0" lang="pt-PT" sz="1000" b="0" i="0" u="none" strike="noStrike" kern="0" cap="none" spc="0" normalizeH="0" baseline="0" noProof="0">
                <a:ln>
                  <a:noFill/>
                </a:ln>
                <a:solidFill>
                  <a:schemeClr val="bg1"/>
                </a:solidFill>
                <a:effectLst/>
                <a:uLnTx/>
                <a:uFillTx/>
                <a:latin typeface="Ubuntu"/>
                <a:ea typeface="+mn-ea"/>
                <a:cs typeface="+mn-cs"/>
              </a:rPr>
              <a:t> to </a:t>
            </a:r>
            <a:r>
              <a:rPr kumimoji="0" lang="pt-PT" sz="1000" b="0" i="0" u="none" strike="noStrike" kern="0" cap="none" spc="0" normalizeH="0" baseline="0" noProof="0" err="1">
                <a:ln>
                  <a:noFill/>
                </a:ln>
                <a:solidFill>
                  <a:schemeClr val="bg1"/>
                </a:solidFill>
                <a:effectLst/>
                <a:uLnTx/>
                <a:uFillTx/>
                <a:latin typeface="Ubuntu"/>
                <a:ea typeface="+mn-ea"/>
                <a:cs typeface="+mn-cs"/>
              </a:rPr>
              <a:t>comply</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with</a:t>
            </a:r>
            <a:r>
              <a:rPr kumimoji="0" lang="pt-PT" sz="1000" b="0" i="0" u="none" strike="noStrike" kern="0" cap="none" spc="0" normalizeH="0" baseline="0" noProof="0">
                <a:ln>
                  <a:noFill/>
                </a:ln>
                <a:solidFill>
                  <a:schemeClr val="bg1"/>
                </a:solidFill>
                <a:effectLst/>
                <a:uLnTx/>
                <a:uFillTx/>
                <a:latin typeface="Ubuntu"/>
                <a:ea typeface="+mn-ea"/>
                <a:cs typeface="+mn-cs"/>
              </a:rPr>
              <a:t> legal </a:t>
            </a:r>
            <a:r>
              <a:rPr kumimoji="0" lang="pt-PT" sz="1000" b="0" i="0" u="none" strike="noStrike" kern="0" cap="none" spc="0" normalizeH="0" baseline="0" noProof="0" err="1">
                <a:ln>
                  <a:noFill/>
                </a:ln>
                <a:solidFill>
                  <a:schemeClr val="bg1"/>
                </a:solidFill>
                <a:effectLst/>
                <a:uLnTx/>
                <a:uFillTx/>
                <a:latin typeface="Ubuntu"/>
                <a:ea typeface="+mn-ea"/>
                <a:cs typeface="+mn-cs"/>
              </a:rPr>
              <a:t>requirements</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and</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others</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and</a:t>
            </a:r>
            <a:r>
              <a:rPr kumimoji="0" lang="pt-PT" sz="1000" b="0" i="0" u="none" strike="noStrike" kern="0" cap="none" spc="0" normalizeH="0" baseline="0" noProof="0">
                <a:ln>
                  <a:noFill/>
                </a:ln>
                <a:solidFill>
                  <a:schemeClr val="bg1"/>
                </a:solidFill>
                <a:effectLst/>
                <a:uLnTx/>
                <a:uFillTx/>
                <a:latin typeface="Ubuntu"/>
                <a:ea typeface="+mn-ea"/>
                <a:cs typeface="+mn-cs"/>
              </a:rPr>
              <a:t> to </a:t>
            </a:r>
            <a:r>
              <a:rPr kumimoji="0" lang="pt-PT" sz="1000" b="0" i="0" u="none" strike="noStrike" kern="0" cap="none" spc="0" normalizeH="0" baseline="0" noProof="0" err="1">
                <a:ln>
                  <a:noFill/>
                </a:ln>
                <a:solidFill>
                  <a:schemeClr val="bg1"/>
                </a:solidFill>
                <a:effectLst/>
                <a:uLnTx/>
                <a:uFillTx/>
                <a:latin typeface="Ubuntu"/>
                <a:ea typeface="+mn-ea"/>
                <a:cs typeface="+mn-cs"/>
              </a:rPr>
              <a:t>continuously</a:t>
            </a:r>
            <a:r>
              <a:rPr kumimoji="0" lang="pt-PT" sz="1000" b="0" i="0" u="none" strike="noStrike" kern="0" cap="none" spc="0" normalizeH="0" baseline="0" noProof="0">
                <a:ln>
                  <a:noFill/>
                </a:ln>
                <a:solidFill>
                  <a:schemeClr val="bg1"/>
                </a:solidFill>
                <a:effectLst/>
                <a:uLnTx/>
                <a:uFillTx/>
                <a:latin typeface="Ubuntu"/>
                <a:ea typeface="+mn-ea"/>
                <a:cs typeface="+mn-cs"/>
              </a:rPr>
              <a:t> improve </a:t>
            </a:r>
            <a:r>
              <a:rPr kumimoji="0" lang="pt-PT" sz="1000" b="0" i="0" u="none" strike="noStrike" kern="0" cap="none" spc="0" normalizeH="0" baseline="0" noProof="0" err="1">
                <a:ln>
                  <a:noFill/>
                </a:ln>
                <a:solidFill>
                  <a:schemeClr val="bg1"/>
                </a:solidFill>
                <a:effectLst/>
                <a:uLnTx/>
                <a:uFillTx/>
                <a:latin typeface="Ubuntu"/>
                <a:ea typeface="+mn-ea"/>
                <a:cs typeface="+mn-cs"/>
              </a:rPr>
              <a:t>our</a:t>
            </a:r>
            <a:r>
              <a:rPr kumimoji="0" lang="pt-PT" sz="1000" b="0" i="0" u="none" strike="noStrike" kern="0" cap="none" spc="0" normalizeH="0" baseline="0" noProof="0">
                <a:ln>
                  <a:noFill/>
                </a:ln>
                <a:solidFill>
                  <a:schemeClr val="bg1"/>
                </a:solidFill>
                <a:effectLst/>
                <a:uLnTx/>
                <a:uFillTx/>
                <a:latin typeface="Ubuntu"/>
                <a:ea typeface="+mn-ea"/>
                <a:cs typeface="+mn-cs"/>
              </a:rPr>
              <a:t> </a:t>
            </a:r>
            <a:r>
              <a:rPr kumimoji="0" lang="pt-PT" sz="1000" b="0" i="0" u="none" strike="noStrike" kern="0" cap="none" spc="0" normalizeH="0" baseline="0" noProof="0" err="1">
                <a:ln>
                  <a:noFill/>
                </a:ln>
                <a:solidFill>
                  <a:schemeClr val="bg1"/>
                </a:solidFill>
                <a:effectLst/>
                <a:uLnTx/>
                <a:uFillTx/>
                <a:latin typeface="Ubuntu"/>
                <a:ea typeface="+mn-ea"/>
                <a:cs typeface="+mn-cs"/>
              </a:rPr>
              <a:t>environmental</a:t>
            </a:r>
            <a:r>
              <a:rPr kumimoji="0" lang="pt-PT" sz="1000" b="0" i="0" u="none" strike="noStrike" kern="0" cap="none" spc="0" normalizeH="0" baseline="0" noProof="0">
                <a:ln>
                  <a:noFill/>
                </a:ln>
                <a:solidFill>
                  <a:schemeClr val="bg1"/>
                </a:solidFill>
                <a:effectLst/>
                <a:uLnTx/>
                <a:uFillTx/>
                <a:latin typeface="Ubuntu"/>
                <a:ea typeface="+mn-ea"/>
                <a:cs typeface="+mn-cs"/>
              </a:rPr>
              <a:t> performance. The development of an environmental management system, based on ISO 14001, helps us monitoring and controlling activities and optimizing natural resources consumption through the implementation of appropriate controls and by increasing our collaborators' awareness.</a:t>
            </a:r>
          </a:p>
          <a:p>
            <a:pPr marL="177800" marR="0" lvl="0" indent="-177800" algn="l" defTabSz="914342" rtl="0" eaLnBrk="1" fontAlgn="auto" latinLnBrk="0" hangingPunct="1">
              <a:lnSpc>
                <a:spcPct val="100000"/>
              </a:lnSpc>
              <a:spcBef>
                <a:spcPts val="400"/>
              </a:spcBef>
              <a:spcAft>
                <a:spcPts val="0"/>
              </a:spcAft>
              <a:buClr>
                <a:srgbClr val="0098C7"/>
              </a:buClr>
              <a:buSzTx/>
              <a:buFont typeface="Wingdings" pitchFamily="2" charset="2"/>
              <a:buChar char="§"/>
              <a:tabLst/>
              <a:defRPr/>
            </a:pPr>
            <a:r>
              <a:rPr kumimoji="0" lang="pt-PT" sz="1000" b="0" i="0" u="none" strike="noStrike" kern="0" cap="none" spc="0" normalizeH="0" baseline="0" noProof="0">
                <a:ln>
                  <a:noFill/>
                </a:ln>
                <a:solidFill>
                  <a:schemeClr val="bg1"/>
                </a:solidFill>
                <a:effectLst/>
                <a:uLnTx/>
                <a:uFillTx/>
                <a:latin typeface="Ubuntu"/>
                <a:ea typeface="+mn-ea"/>
                <a:cs typeface="+mn-cs"/>
              </a:rPr>
              <a:t>According to our business' specifications, Capgemini Portugal promotes</a:t>
            </a:r>
            <a:r>
              <a:rPr kumimoji="0" lang="pt-PT" sz="1000" b="0" i="0" u="none" strike="noStrike" kern="1200" cap="none" spc="0" normalizeH="0" baseline="0" noProof="0">
                <a:ln>
                  <a:noFill/>
                </a:ln>
                <a:solidFill>
                  <a:schemeClr val="bg1"/>
                </a:solidFill>
                <a:effectLst/>
                <a:uLnTx/>
                <a:uFillTx/>
                <a:latin typeface="Ubuntu"/>
                <a:ea typeface="+mn-ea"/>
                <a:cs typeface="+mn-cs"/>
              </a:rPr>
              <a:t>:</a:t>
            </a: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0" i="0" u="none" strike="noStrike" kern="0" cap="none" spc="0" normalizeH="0" baseline="0" noProof="0">
                <a:ln>
                  <a:noFill/>
                </a:ln>
                <a:solidFill>
                  <a:schemeClr val="bg1"/>
                </a:solidFill>
                <a:effectLst/>
                <a:uLnTx/>
                <a:uFillTx/>
                <a:latin typeface="Ubuntu"/>
                <a:ea typeface="+mn-ea"/>
                <a:cs typeface="+mn-cs"/>
              </a:rPr>
              <a:t>Projects and services delivery considering our sustainable offers and sectors and technologies' best practices.</a:t>
            </a: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0" i="0" u="none" strike="noStrike" kern="0" cap="none" spc="0" normalizeH="0" baseline="0" noProof="0">
                <a:ln>
                  <a:noFill/>
                </a:ln>
                <a:solidFill>
                  <a:schemeClr val="bg1"/>
                </a:solidFill>
                <a:effectLst/>
                <a:uLnTx/>
                <a:uFillTx/>
                <a:latin typeface="Ubuntu"/>
                <a:ea typeface="+mn-ea"/>
                <a:cs typeface="+mn-cs"/>
              </a:rPr>
              <a:t>Awareness and information of our </a:t>
            </a:r>
            <a:r>
              <a:rPr kumimoji="0" lang="pt-PT" sz="900" b="0" i="1" u="none" strike="noStrike" kern="0" cap="none" spc="0" normalizeH="0" baseline="0" noProof="0">
                <a:ln>
                  <a:noFill/>
                </a:ln>
                <a:solidFill>
                  <a:schemeClr val="bg1"/>
                </a:solidFill>
                <a:effectLst/>
                <a:uLnTx/>
                <a:uFillTx/>
                <a:latin typeface="Ubuntu"/>
                <a:ea typeface="+mn-ea"/>
                <a:cs typeface="+mn-cs"/>
              </a:rPr>
              <a:t>stakeholders</a:t>
            </a:r>
            <a:r>
              <a:rPr kumimoji="0" lang="pt-PT" sz="900" b="0" i="0" u="none" strike="noStrike" kern="0" cap="none" spc="0" normalizeH="0" baseline="0" noProof="0">
                <a:ln>
                  <a:noFill/>
                </a:ln>
                <a:solidFill>
                  <a:schemeClr val="bg1"/>
                </a:solidFill>
                <a:effectLst/>
                <a:uLnTx/>
                <a:uFillTx/>
                <a:latin typeface="Ubuntu"/>
                <a:ea typeface="+mn-ea"/>
                <a:cs typeface="+mn-cs"/>
              </a:rPr>
              <a:t>;</a:t>
            </a: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0" i="0" u="none" strike="noStrike" kern="0" cap="none" spc="0" normalizeH="0" baseline="0" noProof="0">
                <a:ln>
                  <a:noFill/>
                </a:ln>
                <a:solidFill>
                  <a:schemeClr val="bg1"/>
                </a:solidFill>
                <a:effectLst/>
                <a:uLnTx/>
                <a:uFillTx/>
                <a:latin typeface="Ubuntu"/>
                <a:ea typeface="+mn-ea"/>
                <a:cs typeface="+mn-cs"/>
              </a:rPr>
              <a:t>Reduction, reuse and recycling of hazard and non-hazard residuals;  </a:t>
            </a: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0" i="0" u="none" strike="noStrike" kern="0" cap="none" spc="0" normalizeH="0" baseline="0" noProof="0">
                <a:ln>
                  <a:noFill/>
                </a:ln>
                <a:solidFill>
                  <a:schemeClr val="bg1"/>
                </a:solidFill>
                <a:effectLst/>
                <a:uLnTx/>
                <a:uFillTx/>
                <a:latin typeface="Ubuntu"/>
                <a:ea typeface="+mn-ea"/>
                <a:cs typeface="+mn-cs"/>
              </a:rPr>
              <a:t>Optimization and reduction of fuel, water and energy consumptions; </a:t>
            </a: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0" i="0" u="none" strike="noStrike" kern="0" cap="none" spc="0" normalizeH="0" baseline="0" noProof="0">
                <a:ln>
                  <a:noFill/>
                </a:ln>
                <a:solidFill>
                  <a:schemeClr val="bg1"/>
                </a:solidFill>
                <a:effectLst/>
                <a:uLnTx/>
                <a:uFillTx/>
                <a:latin typeface="Ubuntu"/>
                <a:ea typeface="+mn-ea"/>
                <a:cs typeface="+mn-cs"/>
              </a:rPr>
              <a:t>Optimization of internal IT;</a:t>
            </a: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0" i="0" u="none" strike="noStrike" kern="0" cap="none" spc="0" normalizeH="0" baseline="0" noProof="0">
                <a:ln>
                  <a:noFill/>
                </a:ln>
                <a:solidFill>
                  <a:schemeClr val="bg1"/>
                </a:solidFill>
                <a:effectLst/>
                <a:uLnTx/>
                <a:uFillTx/>
                <a:latin typeface="Ubuntu"/>
                <a:ea typeface="+mn-ea"/>
                <a:cs typeface="+mn-cs"/>
              </a:rPr>
              <a:t>Available resources management through a responsible use of prime materials, for instance; </a:t>
            </a: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r>
              <a:rPr kumimoji="0" lang="pt-PT" sz="900" b="0" i="0" u="none" strike="noStrike" kern="0" cap="none" spc="0" normalizeH="0" baseline="0" noProof="0">
                <a:ln>
                  <a:noFill/>
                </a:ln>
                <a:solidFill>
                  <a:schemeClr val="bg1"/>
                </a:solidFill>
                <a:effectLst/>
                <a:uLnTx/>
                <a:uFillTx/>
                <a:latin typeface="Ubuntu"/>
                <a:ea typeface="+mn-ea"/>
                <a:cs typeface="+mn-cs"/>
              </a:rPr>
              <a:t>Participation in awareness raising activities; </a:t>
            </a:r>
          </a:p>
          <a:p>
            <a:pPr marL="355600" marR="0" lvl="1" indent="-177800" algn="l" defTabSz="914342" rtl="0" eaLnBrk="1" fontAlgn="auto" latinLnBrk="0" hangingPunct="1">
              <a:lnSpc>
                <a:spcPct val="100000"/>
              </a:lnSpc>
              <a:spcBef>
                <a:spcPts val="400"/>
              </a:spcBef>
              <a:spcAft>
                <a:spcPts val="400"/>
              </a:spcAft>
              <a:buClr>
                <a:srgbClr val="12ABDB"/>
              </a:buClr>
              <a:buSzTx/>
              <a:buFont typeface="Arial Narrow" pitchFamily="34" charset="0"/>
              <a:buChar char="―"/>
              <a:tabLst/>
              <a:defRPr/>
            </a:pPr>
            <a:r>
              <a:rPr kumimoji="0" lang="pt-PT" sz="900" b="0" i="0" u="none" strike="noStrike" kern="0" cap="none" spc="0" normalizeH="0" baseline="0" noProof="0">
                <a:ln>
                  <a:noFill/>
                </a:ln>
                <a:solidFill>
                  <a:schemeClr val="bg1"/>
                </a:solidFill>
                <a:effectLst/>
                <a:uLnTx/>
                <a:uFillTx/>
                <a:latin typeface="Ubuntu"/>
                <a:ea typeface="+mn-ea"/>
                <a:cs typeface="+mn-cs"/>
              </a:rPr>
              <a:t>Compliance with environmental </a:t>
            </a:r>
            <a:r>
              <a:rPr kumimoji="0" lang="pt-PT" sz="900" b="0" i="0" u="none" strike="noStrike" kern="0" cap="none" spc="0" normalizeH="0" baseline="0" noProof="0" err="1">
                <a:ln>
                  <a:noFill/>
                </a:ln>
                <a:solidFill>
                  <a:schemeClr val="bg1"/>
                </a:solidFill>
                <a:effectLst/>
                <a:uLnTx/>
                <a:uFillTx/>
                <a:latin typeface="Ubuntu"/>
                <a:ea typeface="+mn-ea"/>
                <a:cs typeface="+mn-cs"/>
              </a:rPr>
              <a:t>legislation</a:t>
            </a:r>
            <a:r>
              <a:rPr kumimoji="0" lang="pt-PT" sz="900" b="0" i="0" u="none" strike="noStrike" kern="0" cap="none" spc="0" normalizeH="0" baseline="0" noProof="0">
                <a:ln>
                  <a:noFill/>
                </a:ln>
                <a:solidFill>
                  <a:schemeClr val="bg1"/>
                </a:solidFill>
                <a:effectLst/>
                <a:uLnTx/>
                <a:uFillTx/>
                <a:latin typeface="Ubuntu"/>
                <a:ea typeface="+mn-ea"/>
                <a:cs typeface="+mn-cs"/>
              </a:rPr>
              <a:t>.</a:t>
            </a:r>
          </a:p>
          <a:p>
            <a:pPr marL="179388" marR="0" lvl="1" indent="-179388" algn="l" defTabSz="914342" rtl="0" eaLnBrk="1" fontAlgn="auto" latinLnBrk="0" hangingPunct="1">
              <a:lnSpc>
                <a:spcPct val="100000"/>
              </a:lnSpc>
              <a:spcBef>
                <a:spcPts val="400"/>
              </a:spcBef>
              <a:spcAft>
                <a:spcPts val="0"/>
              </a:spcAft>
              <a:buClr>
                <a:srgbClr val="12ABDB"/>
              </a:buClr>
              <a:buSzTx/>
              <a:buFont typeface="Wingdings" panose="05000000000000000000" pitchFamily="2" charset="2"/>
              <a:buChar char="§"/>
              <a:tabLst/>
              <a:defRPr/>
            </a:pPr>
            <a:r>
              <a:rPr kumimoji="0" lang="en-US" sz="1000" b="0" i="0" u="none" strike="noStrike" kern="1200" cap="none" spc="0" normalizeH="0" baseline="0" noProof="0">
                <a:ln>
                  <a:noFill/>
                </a:ln>
                <a:solidFill>
                  <a:schemeClr val="bg1"/>
                </a:solidFill>
                <a:effectLst/>
                <a:uLnTx/>
                <a:uFillTx/>
                <a:latin typeface="Ubuntu"/>
                <a:ea typeface="Times New Roman" panose="02020603050405020304" pitchFamily="18" charset="0"/>
                <a:cs typeface="+mn-cs"/>
              </a:rPr>
              <a:t>Capgemini`s environmental policy can be found on the following link: </a:t>
            </a:r>
            <a:r>
              <a:rPr kumimoji="0" lang="en-US" sz="1000" b="0" i="0" u="sng" strike="noStrike" kern="1200" cap="none" spc="0" normalizeH="0" baseline="0" noProof="0">
                <a:ln>
                  <a:noFill/>
                </a:ln>
                <a:solidFill>
                  <a:schemeClr val="bg1"/>
                </a:solidFill>
                <a:effectLst/>
                <a:uLnTx/>
                <a:uFillTx/>
                <a:latin typeface="Ubuntu"/>
                <a:ea typeface="Times New Roman" panose="02020603050405020304" pitchFamily="18" charset="0"/>
                <a:cs typeface="+mn-cs"/>
                <a:hlinkClick r:id="rId3">
                  <a:extLst>
                    <a:ext uri="{A12FA001-AC4F-418D-AE19-62706E023703}">
                      <ahyp:hlinkClr xmlns:ahyp="http://schemas.microsoft.com/office/drawing/2018/hyperlinkcolor" val="tx"/>
                    </a:ext>
                  </a:extLst>
                </a:hlinkClick>
              </a:rPr>
              <a:t>Link</a:t>
            </a:r>
            <a:endParaRPr kumimoji="0" lang="pt-PT" sz="1000" b="0" i="0" u="none" strike="noStrike" kern="1200" cap="none" spc="0" normalizeH="0" baseline="0" noProof="0">
              <a:ln>
                <a:noFill/>
              </a:ln>
              <a:solidFill>
                <a:schemeClr val="bg1"/>
              </a:solidFill>
              <a:effectLst/>
              <a:uLnTx/>
              <a:uFillTx/>
              <a:latin typeface="Ubuntu"/>
              <a:ea typeface="Calibri" panose="020F0502020204030204" pitchFamily="34" charset="0"/>
              <a:cs typeface="+mn-cs"/>
            </a:endParaRPr>
          </a:p>
          <a:p>
            <a:pPr marL="355600" marR="0" lvl="1" indent="-177800" algn="l" defTabSz="914342" rtl="0" eaLnBrk="1" fontAlgn="auto" latinLnBrk="0" hangingPunct="1">
              <a:lnSpc>
                <a:spcPct val="100000"/>
              </a:lnSpc>
              <a:spcBef>
                <a:spcPts val="400"/>
              </a:spcBef>
              <a:spcAft>
                <a:spcPts val="0"/>
              </a:spcAft>
              <a:buClr>
                <a:srgbClr val="12ABDB"/>
              </a:buClr>
              <a:buSzTx/>
              <a:buFont typeface="Arial Narrow" pitchFamily="34" charset="0"/>
              <a:buChar char="―"/>
              <a:tabLst/>
              <a:defRPr/>
            </a:pPr>
            <a:endParaRPr kumimoji="0" lang="pt-PT" sz="900" b="0" i="0" u="none" strike="noStrike" kern="0" cap="none" spc="0" normalizeH="0" baseline="0" noProof="0">
              <a:ln>
                <a:noFill/>
              </a:ln>
              <a:solidFill>
                <a:schemeClr val="bg1"/>
              </a:solidFill>
              <a:effectLst/>
              <a:uLnTx/>
              <a:uFillTx/>
              <a:latin typeface="Ubuntu"/>
              <a:ea typeface="+mn-ea"/>
              <a:cs typeface="+mn-cs"/>
            </a:endParaRPr>
          </a:p>
        </p:txBody>
      </p:sp>
      <p:sp>
        <p:nvSpPr>
          <p:cNvPr id="2" name="Text Placeholder 13">
            <a:extLst>
              <a:ext uri="{FF2B5EF4-FFF2-40B4-BE49-F238E27FC236}">
                <a16:creationId xmlns:a16="http://schemas.microsoft.com/office/drawing/2014/main" id="{740CEC18-C1DE-994C-45DA-F05281E977FE}"/>
              </a:ext>
            </a:extLst>
          </p:cNvPr>
          <p:cNvSpPr txBox="1">
            <a:spLocks/>
          </p:cNvSpPr>
          <p:nvPr/>
        </p:nvSpPr>
        <p:spPr>
          <a:xfrm>
            <a:off x="550863" y="266218"/>
            <a:ext cx="11089753" cy="161001"/>
          </a:xfrm>
          <a:prstGeom prst="rect">
            <a:avLst/>
          </a:prstGeom>
        </p:spPr>
        <p:txBody>
          <a:bodyPr lIns="0" tIns="0" bIns="0"/>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Tx/>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Tx/>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chemeClr val="bg1"/>
                </a:solidFill>
                <a:effectLst/>
                <a:uLnTx/>
                <a:uFillTx/>
                <a:latin typeface="Ubuntu"/>
                <a:ea typeface="+mn-ea"/>
                <a:cs typeface="+mn-cs"/>
              </a:rPr>
              <a:t>Capgemini Portugal</a:t>
            </a:r>
            <a:endParaRPr kumimoji="0" lang="en-PL" sz="1000" b="0" i="0" u="none" strike="noStrike" kern="1200" cap="none" spc="0" normalizeH="0" baseline="0" noProof="0">
              <a:ln>
                <a:noFill/>
              </a:ln>
              <a:solidFill>
                <a:schemeClr val="bg1"/>
              </a:solidFill>
              <a:effectLst/>
              <a:uLnTx/>
              <a:uFillTx/>
              <a:latin typeface="Ubuntu"/>
              <a:ea typeface="+mn-ea"/>
              <a:cs typeface="+mn-cs"/>
            </a:endParaRPr>
          </a:p>
        </p:txBody>
      </p:sp>
    </p:spTree>
    <p:extLst>
      <p:ext uri="{BB962C8B-B14F-4D97-AF65-F5344CB8AC3E}">
        <p14:creationId xmlns:p14="http://schemas.microsoft.com/office/powerpoint/2010/main" val="2159247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3774B-A416-26BD-86D6-33DA09F5BA40}"/>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7EFA6A04-E948-6783-B68E-E79AB9B57B02}"/>
              </a:ext>
            </a:extLst>
          </p:cNvPr>
          <p:cNvSpPr>
            <a:spLocks noGrp="1"/>
          </p:cNvSpPr>
          <p:nvPr>
            <p:ph type="title"/>
          </p:nvPr>
        </p:nvSpPr>
        <p:spPr/>
        <p:txBody>
          <a:bodyPr/>
          <a:lstStyle/>
          <a:p>
            <a:r>
              <a:rPr lang="en-AU" noProof="0"/>
              <a:t>Agenda</a:t>
            </a:r>
          </a:p>
        </p:txBody>
      </p:sp>
      <p:sp>
        <p:nvSpPr>
          <p:cNvPr id="4" name="Espace réservé du texte 3">
            <a:extLst>
              <a:ext uri="{FF2B5EF4-FFF2-40B4-BE49-F238E27FC236}">
                <a16:creationId xmlns:a16="http://schemas.microsoft.com/office/drawing/2014/main" id="{3A3A043C-4DA2-600E-5B1D-F827FBA2D643}"/>
              </a:ext>
            </a:extLst>
          </p:cNvPr>
          <p:cNvSpPr>
            <a:spLocks noGrp="1"/>
          </p:cNvSpPr>
          <p:nvPr>
            <p:ph type="body" sz="quarter" idx="12"/>
          </p:nvPr>
        </p:nvSpPr>
        <p:spPr/>
        <p:txBody>
          <a:bodyPr/>
          <a:lstStyle/>
          <a:p>
            <a:r>
              <a:rPr lang="en-AU" noProof="0" dirty="0">
                <a:solidFill>
                  <a:schemeClr val="bg1">
                    <a:lumMod val="65000"/>
                  </a:schemeClr>
                </a:solidFill>
              </a:rPr>
              <a:t>Context and objectives</a:t>
            </a:r>
          </a:p>
          <a:p>
            <a:r>
              <a:rPr lang="en-AU" noProof="0" dirty="0">
                <a:solidFill>
                  <a:schemeClr val="bg1">
                    <a:lumMod val="65000"/>
                  </a:schemeClr>
                </a:solidFill>
              </a:rPr>
              <a:t>Why Capgemini</a:t>
            </a:r>
          </a:p>
          <a:p>
            <a:r>
              <a:rPr lang="en-AU" noProof="0" dirty="0">
                <a:solidFill>
                  <a:schemeClr val="bg1">
                    <a:lumMod val="65000"/>
                  </a:schemeClr>
                </a:solidFill>
              </a:rPr>
              <a:t>Our vision and methodology</a:t>
            </a:r>
          </a:p>
          <a:p>
            <a:r>
              <a:rPr lang="en-AU" noProof="0" dirty="0">
                <a:solidFill>
                  <a:schemeClr val="bg1">
                    <a:lumMod val="65000"/>
                  </a:schemeClr>
                </a:solidFill>
              </a:rPr>
              <a:t>Project plan</a:t>
            </a:r>
          </a:p>
          <a:p>
            <a:r>
              <a:rPr lang="en-AU" noProof="0" dirty="0">
                <a:solidFill>
                  <a:schemeClr val="bg1">
                    <a:lumMod val="65000"/>
                  </a:schemeClr>
                </a:solidFill>
              </a:rPr>
              <a:t>Proposed team and governance model</a:t>
            </a:r>
          </a:p>
          <a:p>
            <a:r>
              <a:rPr lang="en-AU" noProof="0" dirty="0">
                <a:solidFill>
                  <a:schemeClr val="bg1">
                    <a:lumMod val="65000"/>
                  </a:schemeClr>
                </a:solidFill>
              </a:rPr>
              <a:t>Economics</a:t>
            </a:r>
          </a:p>
          <a:p>
            <a:r>
              <a:rPr lang="en-AU" dirty="0">
                <a:solidFill>
                  <a:schemeClr val="bg1">
                    <a:lumMod val="65000"/>
                  </a:schemeClr>
                </a:solidFill>
              </a:rPr>
              <a:t>Credentials</a:t>
            </a:r>
          </a:p>
          <a:p>
            <a:pPr>
              <a:buClr>
                <a:schemeClr val="accent2"/>
              </a:buClr>
              <a:defRPr/>
            </a:pPr>
            <a:r>
              <a:rPr lang="pt-BR" dirty="0">
                <a:solidFill>
                  <a:schemeClr val="tx1"/>
                </a:solidFill>
                <a:highlight>
                  <a:srgbClr val="00FFFF"/>
                </a:highlight>
              </a:rPr>
              <a:t>Annex II – General Terms and Conditions</a:t>
            </a:r>
          </a:p>
        </p:txBody>
      </p:sp>
      <p:pic>
        <p:nvPicPr>
          <p:cNvPr id="14" name="Picture 13" descr="A fruit and vegetables in a grocery store&#10;&#10;AI-generated content may be incorrect.">
            <a:extLst>
              <a:ext uri="{FF2B5EF4-FFF2-40B4-BE49-F238E27FC236}">
                <a16:creationId xmlns:a16="http://schemas.microsoft.com/office/drawing/2014/main" id="{D1EDB6B9-1016-A5B9-11AA-5305D120F808}"/>
              </a:ext>
            </a:extLst>
          </p:cNvPr>
          <p:cNvPicPr>
            <a:picLocks noChangeAspect="1"/>
          </p:cNvPicPr>
          <p:nvPr/>
        </p:nvPicPr>
        <p:blipFill>
          <a:blip r:embed="rId2"/>
          <a:srcRect l="19443" r="59004"/>
          <a:stretch>
            <a:fillRect/>
          </a:stretch>
        </p:blipFill>
        <p:spPr>
          <a:xfrm>
            <a:off x="7032107" y="0"/>
            <a:ext cx="5159893" cy="6858000"/>
          </a:xfrm>
          <a:prstGeom prst="rect">
            <a:avLst/>
          </a:prstGeom>
        </p:spPr>
      </p:pic>
    </p:spTree>
    <p:extLst>
      <p:ext uri="{BB962C8B-B14F-4D97-AF65-F5344CB8AC3E}">
        <p14:creationId xmlns:p14="http://schemas.microsoft.com/office/powerpoint/2010/main" val="1056547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50862" y="549274"/>
            <a:ext cx="10690357" cy="576263"/>
          </a:xfrm>
        </p:spPr>
        <p:txBody>
          <a:bodyPr>
            <a:noAutofit/>
          </a:bodyPr>
          <a:lstStyle/>
          <a:p>
            <a:r>
              <a:rPr lang="en-US" sz="2400">
                <a:solidFill>
                  <a:schemeClr val="bg1"/>
                </a:solidFill>
              </a:rPr>
              <a:t>General Terms and Conditions</a:t>
            </a:r>
            <a:r>
              <a:rPr lang="pt-PT" sz="2400">
                <a:solidFill>
                  <a:schemeClr val="bg1"/>
                </a:solidFill>
              </a:rPr>
              <a:t> (1/3)</a:t>
            </a:r>
            <a:endParaRPr lang="pt-PT">
              <a:solidFill>
                <a:schemeClr val="bg1"/>
              </a:solidFill>
            </a:endParaRPr>
          </a:p>
        </p:txBody>
      </p:sp>
      <p:sp>
        <p:nvSpPr>
          <p:cNvPr id="9" name="Title 1"/>
          <p:cNvSpPr txBox="1">
            <a:spLocks/>
          </p:cNvSpPr>
          <p:nvPr/>
        </p:nvSpPr>
        <p:spPr>
          <a:xfrm>
            <a:off x="1557999" y="425035"/>
            <a:ext cx="9238590" cy="843379"/>
          </a:xfrm>
          <a:prstGeom prst="rect">
            <a:avLst/>
          </a:prstGeom>
        </p:spPr>
        <p:txBody>
          <a:bodyPr vert="horz" lIns="0" tIns="0" rIns="0" bIns="0" rtlCol="0" anchor="b">
            <a:normAutofit/>
          </a:bodyPr>
          <a:lstStyle>
            <a:lvl1pPr algn="l" defTabSz="914621" rtl="0" eaLnBrk="1" latinLnBrk="0" hangingPunct="1">
              <a:lnSpc>
                <a:spcPts val="3001"/>
              </a:lnSpc>
              <a:spcBef>
                <a:spcPct val="0"/>
              </a:spcBef>
              <a:buNone/>
              <a:defRPr sz="2000" kern="1200">
                <a:solidFill>
                  <a:schemeClr val="tx2"/>
                </a:solidFill>
                <a:latin typeface="+mj-lt"/>
                <a:ea typeface="Verdana" panose="020B0604030504040204" pitchFamily="34" charset="0"/>
                <a:cs typeface="Verdana" panose="020B0604030504040204" pitchFamily="34" charset="0"/>
              </a:defRPr>
            </a:lvl1pPr>
          </a:lstStyle>
          <a:p>
            <a:pPr marL="0" marR="0" lvl="0" indent="0" algn="l" defTabSz="914621" rtl="0" eaLnBrk="1" fontAlgn="auto" latinLnBrk="0" hangingPunct="1">
              <a:lnSpc>
                <a:spcPct val="100000"/>
              </a:lnSpc>
              <a:spcBef>
                <a:spcPct val="0"/>
              </a:spcBef>
              <a:spcAft>
                <a:spcPts val="0"/>
              </a:spcAft>
              <a:buClrTx/>
              <a:buSzTx/>
              <a:buFontTx/>
              <a:buNone/>
              <a:tabLst/>
              <a:defRPr/>
            </a:pPr>
            <a:endParaRPr kumimoji="0" lang="pt-PT" sz="2000" b="0" i="0" u="none" strike="noStrike" kern="1200" cap="none" spc="0" normalizeH="0" baseline="0" noProof="0">
              <a:ln>
                <a:noFill/>
              </a:ln>
              <a:solidFill>
                <a:schemeClr val="bg1"/>
              </a:solidFill>
              <a:effectLst/>
              <a:uLnTx/>
              <a:uFillTx/>
              <a:latin typeface="Ubuntu Medium"/>
              <a:ea typeface="Verdana" panose="020B0604030504040204" pitchFamily="34" charset="0"/>
            </a:endParaRPr>
          </a:p>
        </p:txBody>
      </p:sp>
      <p:sp>
        <p:nvSpPr>
          <p:cNvPr id="10" name="Rectangle 3"/>
          <p:cNvSpPr>
            <a:spLocks noChangeArrowheads="1"/>
          </p:cNvSpPr>
          <p:nvPr/>
        </p:nvSpPr>
        <p:spPr bwMode="auto">
          <a:xfrm>
            <a:off x="550863" y="1491304"/>
            <a:ext cx="11090276" cy="4765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numCol="3" spcCol="180000"/>
          <a:lstStyle/>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a:tabLst>
                <a:tab pos="180340" algn="l"/>
                <a:tab pos="449580" algn="l"/>
              </a:tabLst>
              <a:defRPr/>
            </a:pPr>
            <a:r>
              <a:rPr kumimoji="0" lang="en-US"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Times New Roman" panose="02020603050405020304" pitchFamily="18" charset="0"/>
                <a:cs typeface="Times New Roman" panose="02020603050405020304" pitchFamily="18" charset="0"/>
              </a:rPr>
              <a:t>Scope</a:t>
            </a:r>
            <a:endParaRPr kumimoji="0" lang="pt-PT" sz="800" b="0" i="0" u="none" strike="noStrike" kern="0" cap="all" spc="0" normalizeH="0" baseline="0" noProof="0" dirty="0">
              <a:ln>
                <a:noFill/>
              </a:ln>
              <a:solidFill>
                <a:schemeClr val="bg1"/>
              </a:solidFill>
              <a:effectLst>
                <a:outerShdw sx="0" sy="0">
                  <a:srgbClr val="000000"/>
                </a:outerShdw>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These general terms and conditions shall apply to all offers and agreements for the provision of services or goods entered by and between Capgemini PORTUGAL, S.A. (hereinafter Capgemini) and the CLIENT, regardless of their nature.</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2"/>
              <a:tabLst>
                <a:tab pos="180340" algn="l"/>
                <a:tab pos="449580" algn="l"/>
              </a:tabLst>
              <a:defRPr/>
            </a:pPr>
            <a:r>
              <a:rPr kumimoji="0" lang="en-US"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Times New Roman" panose="02020603050405020304" pitchFamily="18" charset="0"/>
                <a:cs typeface="Times New Roman" panose="02020603050405020304" pitchFamily="18" charset="0"/>
              </a:rPr>
              <a:t>Rules of Precedence </a:t>
            </a:r>
            <a:endParaRPr kumimoji="0" lang="pt-PT" sz="800" b="0" i="0" u="none" strike="noStrike" kern="0" cap="all" spc="0" normalizeH="0" baseline="0" noProof="0" dirty="0">
              <a:ln>
                <a:noFill/>
              </a:ln>
              <a:solidFill>
                <a:schemeClr val="bg1"/>
              </a:solidFill>
              <a:effectLst>
                <a:outerShdw sx="0" sy="0">
                  <a:srgbClr val="000000"/>
                </a:outerShdw>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contractual relationships established between Capgemini and the CLIENT shall be governed according to the agreements established among the parties, whose order of precedence shall be as follows:</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romanUcPeriod"/>
              <a:tabLst/>
              <a:defRPr/>
            </a:pPr>
            <a:r>
              <a:rPr kumimoji="0" lang="en-US" sz="5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The provisions set forth in the provision of services/supply agreement executed between Capgemini and the CLIENT shall prevail in first place. </a:t>
            </a:r>
            <a:r>
              <a:rPr kumimoji="0" lang="en-GB" sz="5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In all aspects not covered by said Specific Agreement, or omitted under the latter, the provisions established in these General Conditions shall apply and then the provisions provided in the Proposal presented by Capgemini and referred herein.</a:t>
            </a:r>
            <a:endParaRPr kumimoji="0" lang="pt-PT" sz="700" b="0" i="0" u="none" strike="noStrike" kern="1200" cap="none" spc="0" normalizeH="0" baseline="0" noProof="0" dirty="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romanUcPeriod"/>
              <a:tabLst/>
              <a:defRPr/>
            </a:pPr>
            <a:r>
              <a:rPr kumimoji="0" lang="en-US" sz="5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Should the parties end up not signing a written agreement with specific conditions, the order of precedence shall consider firstly the provisions set forth in these General Terms and Conditions and secondly the ones provided in the Proposal from Capgemini.</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a:tabLst>
                <a:tab pos="180340" algn="l"/>
                <a:tab pos="449580" algn="l"/>
              </a:tabLst>
              <a:defRPr/>
            </a:pPr>
            <a:r>
              <a:rPr kumimoji="0" lang="en-US"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rPr>
              <a:t>Employees</a:t>
            </a:r>
            <a:endParaRPr kumimoji="0" lang="pt-PT"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During the performance of the services contract, the CLIENT may have the need of hiring a certain employee profile for the project or for any other present or future project. In those cases, if the employee has been identified and/or trained and /or made available by Capgemini, the CLIENT will pay Capgemini for this additional provision of services. The remuneration will correspond to the hired employees’ s yearly salary, assuming that this salary will not be lower than the salary that the employee received before such hiring, plus VAT at the applicable legal rates. This amount will be paid within the 30 days after the date of recruitment of the employee, regardless of the type of contractual relationship at stake.</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This provision of services may occur even after the end of the provision of the services related to the main contract, if such hiring is related to the main provision of services. </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4"/>
              <a:tabLst>
                <a:tab pos="180340" algn="l"/>
                <a:tab pos="449580" algn="l"/>
              </a:tabLst>
              <a:defRPr/>
            </a:pPr>
            <a:r>
              <a:rPr kumimoji="0" lang="en-US"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rPr>
              <a:t>Subcontractors</a:t>
            </a:r>
            <a:endParaRPr kumimoji="0" lang="pt-PT"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Capgemini is entitled to subcontract services under this agreement to companies belonging to its business group, without CLIENT´s prior written consent. Whenever required for the proper formation of the work team, Capgemini may also subcontract the project or service without the CLIENT’s prior consent, to attend unexpected substitutions in the work team for reasons such as absence or illness, as well as to attend specific needs of know-how on particular aspects of the project or service.</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5"/>
              <a:tabLst/>
              <a:defRPr/>
            </a:pPr>
            <a:r>
              <a:rPr kumimoji="0" lang="en-US"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rPr>
              <a:t>Prices</a:t>
            </a:r>
            <a:endParaRPr kumimoji="0" lang="pt-PT"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prices established herein exclude VAT and all other applicable taxes and duties, which shall be paid as set forth in these General Conditions and by law. </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Unless otherwise agreed, Capgemini shall adjust its prices and fees on an annual basis in accordance with the variation resulting from the IPC rate (</a:t>
            </a:r>
            <a:r>
              <a:rPr kumimoji="0" lang="en-US" sz="600" b="0" i="1" u="none" strike="noStrike" kern="1200" cap="none" spc="0" normalizeH="0" baseline="0" noProof="0" dirty="0" err="1">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Índice</a:t>
            </a:r>
            <a:r>
              <a:rPr kumimoji="0" lang="en-US" sz="600" b="0" i="1"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 de </a:t>
            </a:r>
            <a:r>
              <a:rPr kumimoji="0" lang="en-US" sz="600" b="0" i="1" u="none" strike="noStrike" kern="1200" cap="none" spc="0" normalizeH="0" baseline="0" noProof="0" dirty="0" err="1">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Preços</a:t>
            </a:r>
            <a:r>
              <a:rPr kumimoji="0" lang="en-US" sz="600" b="0" i="1"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 </a:t>
            </a:r>
            <a:r>
              <a:rPr kumimoji="0" lang="en-US" sz="600" b="0" i="1" u="none" strike="noStrike" kern="1200" cap="none" spc="0" normalizeH="0" baseline="0" noProof="0" dirty="0" err="1">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ao</a:t>
            </a:r>
            <a:r>
              <a:rPr kumimoji="0" lang="en-US" sz="600" b="0" i="1"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 </a:t>
            </a:r>
            <a:r>
              <a:rPr kumimoji="0" lang="en-US" sz="600" b="0" i="1" u="none" strike="noStrike" kern="1200" cap="none" spc="0" normalizeH="0" baseline="0" noProof="0" dirty="0" err="1">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Consumidor</a:t>
            </a: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 that is set for the Portuguese INE (National Statistics Institute) or its replacing body, plus two percent.</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Unless otherwise agreed, Capgemini shall invoice expenses incurred with the travel and accommodation of employees every time they must travel outside the Lisbon area for the performance of the Agreement.</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6"/>
              <a:tabLst>
                <a:tab pos="180340" algn="l"/>
                <a:tab pos="449580" algn="l"/>
              </a:tabLst>
              <a:defRPr/>
            </a:pPr>
            <a:r>
              <a:rPr kumimoji="0" lang="en-US"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rPr>
              <a:t>Payment terms</a:t>
            </a:r>
            <a:endParaRPr kumimoji="0" lang="pt-PT"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As a rule, and without disregarding the provisions set forth in the Specific Conditions agreed between CLIENT and Capgemini, Capgemini shall invoice its services as follows:</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arabicPeriod"/>
              <a:tabLst>
                <a:tab pos="90170" algn="l"/>
              </a:tabLst>
              <a:defRPr/>
            </a:pPr>
            <a:r>
              <a:rPr kumimoji="0" lang="en-US" sz="5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Works carried out under a Time &amp; Material regime (T &amp; M regime) shall be invoiced monthly in accordance with the fees established in the Proposal herein referred.</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arabicPeriod"/>
              <a:tabLst>
                <a:tab pos="90170" algn="l"/>
              </a:tabLst>
              <a:defRPr/>
            </a:pPr>
            <a:r>
              <a:rPr kumimoji="0" lang="en-US" sz="5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Works carried out under an agreement for a specific service, the amount to be invoiced each month shall be calculated by dividing the total price established for the provision of the service by the number of months of execution of such service</a:t>
            </a:r>
            <a:r>
              <a:rPr kumimoji="0" lang="en-US" sz="5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All invoices shall be paid within 30 days from the date of its issue, except for the first invoice which shall be paid within 15 days from the date of its issue.</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delay in the payment of the invoices issued by Capgemini shall, automatically and without prior request, give rise the accrual of interests in accordance with the legal interest rate for commercial obligations. Such interests shall be accrue until the date of effective payment. The interests accrued, if any, as a result of any delay in the payment by CLIENT shall be included by Capgemini in the invoices issued for the subsequent month.</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acceptance of any payment shall under no circumstance constitute the waiving o the accrued interests or passed deadlines if no express notification for such purpose is issued. </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Capgemini shall be entitled to opt for suspension of the Service or even for the termination of the Contract when a delay in payment occurs. No right shall be transferred or granted to the CLIENT until all the amounts due to Capgemini by the CLIENT, related to the Contract/Service/ Proposal, have been paid in full and according to the terms set forth in the Contract /Proposal and its Annexes.</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Payments arising from any Contract/Proposal or its Schedules shall be performed in EURO, according to the rules and terms of conversion issued by the European Union.</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7"/>
              <a:tabLst>
                <a:tab pos="180340" algn="l"/>
                <a:tab pos="449580" algn="l"/>
              </a:tabLst>
              <a:defRPr/>
            </a:pPr>
            <a:r>
              <a:rPr kumimoji="0" lang="en-US"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rPr>
              <a:t>Warranty</a:t>
            </a:r>
            <a:endParaRPr kumimoji="0" lang="pt-PT"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Capgemini warrants that services are executed according to the Quality System DELIVER</a:t>
            </a:r>
            <a:r>
              <a:rPr kumimoji="0" lang="en-US" sz="600" b="0" i="0" u="none" strike="noStrike" kern="1200" cap="none" spc="0" normalizeH="0" baseline="3000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TM</a:t>
            </a: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 This system supports all Capgemini services offerings, supplying methodologies, techniques &amp; tools for the management of all types of programs, projects &amp; services. The use of this System is mandatory except when the CLIENT requires the use of its own quality system, which must be previously agreed between both parties. </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However, due to the technical particularities inherent to the products, Capgemini does not warrant that the same will be error-free or that they will meet the specific requirements of any CLIENT. Consequently, Capgemini waives all liability for any hidden defects not known by Capgemini. </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In those cases where the scope of the contract includes the development or implementation of software by Capgemini, Capgemini warrants that the products will perform/function mostly in accordance with the documentation for the then-current version during a term of one month (30 days) as from delivery/completion of its services.</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During such warranty period, and when applicable, Capgemini shall remedy, free of charge, any programming errors that are identified during the use of the applications developed by Capgemini. The warranty covers exclusively the programming errors caused by Capgemini and is not valid in case of non-compliance with the requirements and/or errors resulting from the technological environment where the application is executed.</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CLIENT shall be responsible for taking all necessary precautions to guarantee the preservation of all documents, files, recorded data and other storage media used by CLIENT. Capgemini will not be responsible for loss, destruction, deletion or any type of error in the data occurring during products’ operation or resulting from the provision of any of the services agreed under this agreement and its schedules.</a:t>
            </a:r>
            <a:endParaRPr kumimoji="0" lang="pt-PT" sz="700" b="0" i="0" u="none" strike="noStrike" kern="1200" cap="none" spc="0" normalizeH="0" baseline="0" noProof="0" dirty="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5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 </a:t>
            </a:r>
            <a:endParaRPr kumimoji="0" lang="pt-PT" sz="700" b="0" i="0" u="none" strike="noStrike" kern="1200" cap="none" spc="0" normalizeH="0" baseline="0" noProof="0" dirty="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8"/>
              <a:tabLst>
                <a:tab pos="180340" algn="l"/>
                <a:tab pos="449580" algn="l"/>
              </a:tabLst>
              <a:defRPr/>
            </a:pPr>
            <a:r>
              <a:rPr kumimoji="0" lang="en-US"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rPr>
              <a:t>Liability</a:t>
            </a:r>
            <a:endParaRPr kumimoji="0" lang="pt-PT"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Capgemini’s liability shall be limited to the performance of its obligations hereunder, and/or the damages arising out of its delivery of services.</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Capgemini shall be liable for all damages caused to Client by Capgemini willful misconduct or gross negligence under this agreement.</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Capgemini’s liability regarding damages caused by its intervention as well as compensation for damages and payment of interests shall be limited by a penalty clause. Consequently, in no event, shall Capgemini’s liability exceed the amount of the fees/price received for the services hereunder, excluding VAT and expenses. Capgemini shall not be liable for indirect or consequential damages (including, but not limited, for loss of profit) neither for any claim, which may be brought against it by third parties.</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When the contract is entered for a period longer than one year, Capgemini’s liability is limited to the amounts invoiced and paid by the clients in the previous three months, excluding VAT and expenses.</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CLIENT may only bring claims against Capgemini within six months after the event giving rise to the claim has taken place. </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tab pos="2250440" algn="l"/>
                <a:tab pos="2992120" algn="l"/>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With respect to penalties, it is expressly stated that only penalties agreed in writing by the parties may be applied. In no event the amount of the penalties may exceed 10% (ten percent) of the monthly invoice or event of payment (when applicable), but always subject to an aggregate Cap of 5% of the amount of the Contract/Proposal/Service.</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tab pos="2250440" algn="l"/>
                <a:tab pos="2992120" algn="l"/>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Prior to applying penalties, Capgemini shall be informed in order to express its consent or express its disagreement. In any case, penalties shall not be applied during periods of transition, knowledge transfer or service run-down. </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tab pos="2250440" algn="l"/>
                <a:tab pos="2992120" algn="l"/>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Penalties may not be applicable after 3 (three) months from the date of event which originated its application. Before applying any penalty, the Client will always grant a period of 30 (thirty) calendar days counted from the date of the occurrence of the event that may origin the application of a penalty, for Capgemini to remedy the situation.</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9"/>
              <a:tabLst>
                <a:tab pos="180340" algn="l"/>
                <a:tab pos="449580" algn="l"/>
              </a:tabLst>
              <a:defRPr/>
            </a:pPr>
            <a:r>
              <a:rPr kumimoji="0" lang="en-US"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rPr>
              <a:t>Early Termination</a:t>
            </a:r>
            <a:endParaRPr kumimoji="0" lang="pt-PT"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Except for the cases foreseen under the Law, both parties waive the right to terminate the contract for convenience. The contract is established for a certain period, having the price and conditions been establish considering this assumption.</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If the Contract is terminated for convenience before the end of its period, Capgemini will be always entitled to the payment of the Services executed until the date of termination, as well as to the payment of a compensation by the Client for early termination (to be agreed between the parties).</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10"/>
              <a:tabLst>
                <a:tab pos="180340" algn="l"/>
                <a:tab pos="449580" algn="l"/>
              </a:tabLst>
              <a:defRPr/>
            </a:pPr>
            <a:r>
              <a:rPr kumimoji="0" lang="en-US"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rPr>
              <a:t>Termination</a:t>
            </a:r>
            <a:endParaRPr kumimoji="0" lang="pt-PT" sz="600" b="1" i="0" u="none" strike="noStrike" kern="0" cap="all" spc="0" normalizeH="0" baseline="0" noProof="0" dirty="0">
              <a:ln>
                <a:noFill/>
              </a:ln>
              <a:solidFill>
                <a:schemeClr val="bg1"/>
              </a:solidFill>
              <a:effectLst>
                <a:outerShdw sx="0" sy="0">
                  <a:srgbClr val="000000"/>
                </a:outerShdw>
              </a:effectLst>
              <a:uLnTx/>
              <a:uFillTx/>
              <a:latin typeface="Ubuntu" panose="020B0504030602030204" pitchFamily="34"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Capgemini may terminate this agreement in accordance with the applicable law or in any of the following events:</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arabicPeriod"/>
              <a:tabLst>
                <a:tab pos="-4231005" algn="l"/>
              </a:tabLst>
              <a:defRPr/>
            </a:pPr>
            <a:r>
              <a:rPr kumimoji="0" lang="en-US" sz="500" b="0" i="0" u="none" strike="noStrike" kern="1200" cap="none" spc="0" normalizeH="0" baseline="0" noProof="0" dirty="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CLIENT fails to pay any amount due within the time limits specified in the Specific Conditions or in these General Conditions and such failure is not remedied within the period established by Capgemini for such purpose. The foregoing does affect the right to claim any interests which may be accrued due to any late payment, pursuant to the provisions set forth in the invoicing clause herein.</a:t>
            </a:r>
            <a:endParaRPr kumimoji="0" lang="pt-PT" sz="1000" b="0" i="0" u="none" strike="noStrike" kern="1200" cap="none" spc="0" normalizeH="0" baseline="0" noProof="0" dirty="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p:txBody>
      </p:sp>
      <p:sp>
        <p:nvSpPr>
          <p:cNvPr id="6" name="Rectangle 6">
            <a:extLst>
              <a:ext uri="{FF2B5EF4-FFF2-40B4-BE49-F238E27FC236}">
                <a16:creationId xmlns:a16="http://schemas.microsoft.com/office/drawing/2014/main" id="{0B7B0969-4426-4977-ABBB-BB29A2E6A3FC}"/>
              </a:ext>
            </a:extLst>
          </p:cNvPr>
          <p:cNvSpPr>
            <a:spLocks noChangeArrowheads="1"/>
          </p:cNvSpPr>
          <p:nvPr/>
        </p:nvSpPr>
        <p:spPr bwMode="auto">
          <a:xfrm>
            <a:off x="550863" y="1135693"/>
            <a:ext cx="9361487" cy="27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rIns="0"/>
          <a:lstStyle/>
          <a:p>
            <a:pPr marL="0" marR="0" lvl="0" indent="0" algn="just" defTabSz="914400" rtl="0" eaLnBrk="1" fontAlgn="auto" latinLnBrk="0" hangingPunct="1">
              <a:lnSpc>
                <a:spcPct val="100000"/>
              </a:lnSpc>
              <a:spcBef>
                <a:spcPct val="40000"/>
              </a:spcBef>
              <a:spcAft>
                <a:spcPts val="0"/>
              </a:spcAft>
              <a:buClrTx/>
              <a:buSzTx/>
              <a:buFontTx/>
              <a:buNone/>
              <a:tabLst/>
              <a:defRPr/>
            </a:pPr>
            <a:r>
              <a:rPr kumimoji="0" lang="en-US" sz="700" b="1" i="0" u="none" strike="noStrike" kern="1200" cap="none" spc="0" normalizeH="0" baseline="0" noProof="0">
                <a:ln>
                  <a:noFill/>
                </a:ln>
                <a:solidFill>
                  <a:schemeClr val="bg1"/>
                </a:solidFill>
                <a:effectLst/>
                <a:uLnTx/>
                <a:uFillTx/>
                <a:latin typeface="Ubuntu"/>
                <a:ea typeface="+mn-ea"/>
                <a:cs typeface="+mn-cs"/>
              </a:rPr>
              <a:t>The price and the conditions of the proposal have been established according to the following conditions that are an integral and inseparable part of the same </a:t>
            </a:r>
            <a:endParaRPr kumimoji="0" lang="pt-PT" sz="700" b="0" i="0" u="none" strike="noStrike" kern="1200" cap="none" spc="0" normalizeH="0" baseline="0" noProof="0">
              <a:ln>
                <a:noFill/>
              </a:ln>
              <a:solidFill>
                <a:schemeClr val="bg1"/>
              </a:solidFill>
              <a:effectLst/>
              <a:uLnTx/>
              <a:uFillTx/>
              <a:latin typeface="Ubuntu"/>
              <a:ea typeface="+mn-ea"/>
              <a:cs typeface="+mn-cs"/>
            </a:endParaRPr>
          </a:p>
        </p:txBody>
      </p:sp>
      <p:sp>
        <p:nvSpPr>
          <p:cNvPr id="2" name="Text Placeholder 13">
            <a:extLst>
              <a:ext uri="{FF2B5EF4-FFF2-40B4-BE49-F238E27FC236}">
                <a16:creationId xmlns:a16="http://schemas.microsoft.com/office/drawing/2014/main" id="{5AFCC2DC-0500-DA76-F3BD-833FC2A37A0C}"/>
              </a:ext>
            </a:extLst>
          </p:cNvPr>
          <p:cNvSpPr txBox="1">
            <a:spLocks/>
          </p:cNvSpPr>
          <p:nvPr/>
        </p:nvSpPr>
        <p:spPr>
          <a:xfrm>
            <a:off x="550863" y="266218"/>
            <a:ext cx="11089753" cy="161001"/>
          </a:xfrm>
          <a:prstGeom prst="rect">
            <a:avLst/>
          </a:prstGeom>
        </p:spPr>
        <p:txBody>
          <a:bodyPr lIns="0" tIns="0" bIns="0"/>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Tx/>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Tx/>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chemeClr val="bg1"/>
                </a:solidFill>
                <a:effectLst/>
                <a:uLnTx/>
                <a:uFillTx/>
                <a:latin typeface="Ubuntu"/>
                <a:ea typeface="+mn-ea"/>
                <a:cs typeface="+mn-cs"/>
              </a:rPr>
              <a:t>Capgemini Portugal</a:t>
            </a:r>
            <a:endParaRPr kumimoji="0" lang="en-PL" sz="1000" b="0" i="0" u="none" strike="noStrike" kern="1200" cap="none" spc="0" normalizeH="0" baseline="0" noProof="0">
              <a:ln>
                <a:noFill/>
              </a:ln>
              <a:solidFill>
                <a:schemeClr val="bg1"/>
              </a:solidFill>
              <a:effectLst/>
              <a:uLnTx/>
              <a:uFillTx/>
              <a:latin typeface="Ubuntu"/>
              <a:ea typeface="+mn-ea"/>
              <a:cs typeface="+mn-cs"/>
            </a:endParaRPr>
          </a:p>
        </p:txBody>
      </p:sp>
    </p:spTree>
    <p:extLst>
      <p:ext uri="{BB962C8B-B14F-4D97-AF65-F5344CB8AC3E}">
        <p14:creationId xmlns:p14="http://schemas.microsoft.com/office/powerpoint/2010/main" val="3252490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0862" y="549275"/>
            <a:ext cx="10690357" cy="576825"/>
          </a:xfrm>
        </p:spPr>
        <p:txBody>
          <a:bodyPr>
            <a:noAutofit/>
          </a:bodyPr>
          <a:lstStyle/>
          <a:p>
            <a:r>
              <a:rPr kumimoji="0" lang="en-US" sz="2400" b="0" i="0" u="none" strike="noStrike" kern="1200" cap="none" spc="0" normalizeH="0" baseline="0" noProof="0">
                <a:ln>
                  <a:noFill/>
                </a:ln>
                <a:solidFill>
                  <a:schemeClr val="bg1"/>
                </a:solidFill>
                <a:effectLst/>
                <a:uLnTx/>
                <a:uFillTx/>
                <a:latin typeface="Ubuntu Medium"/>
                <a:ea typeface="Verdana" panose="020B0604030504040204" pitchFamily="34" charset="0"/>
              </a:rPr>
              <a:t>General Terms and Conditions</a:t>
            </a:r>
            <a:r>
              <a:rPr kumimoji="0" lang="pt-PT" sz="2400" b="0" i="0" u="none" strike="noStrike" kern="1200" cap="none" spc="0" normalizeH="0" baseline="0" noProof="0">
                <a:ln>
                  <a:noFill/>
                </a:ln>
                <a:solidFill>
                  <a:schemeClr val="bg1"/>
                </a:solidFill>
                <a:effectLst/>
                <a:uLnTx/>
                <a:uFillTx/>
                <a:latin typeface="Ubuntu Medium"/>
                <a:ea typeface="Verdana" panose="020B0604030504040204" pitchFamily="34" charset="0"/>
              </a:rPr>
              <a:t> (2/3)</a:t>
            </a:r>
            <a:endParaRPr lang="pt-PT" sz="2400">
              <a:solidFill>
                <a:schemeClr val="bg1"/>
              </a:solidFill>
            </a:endParaRPr>
          </a:p>
        </p:txBody>
      </p:sp>
      <p:sp>
        <p:nvSpPr>
          <p:cNvPr id="8" name="Rectangle 3"/>
          <p:cNvSpPr>
            <a:spLocks noChangeArrowheads="1"/>
          </p:cNvSpPr>
          <p:nvPr/>
        </p:nvSpPr>
        <p:spPr bwMode="auto">
          <a:xfrm>
            <a:off x="550863" y="1484313"/>
            <a:ext cx="11090276" cy="4679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numCol="3" spcCol="180000"/>
          <a:lstStyle/>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arabicPeriod" startAt="2"/>
              <a:tabLst>
                <a:tab pos="-4231005" algn="l"/>
              </a:tabLst>
              <a:defRPr/>
            </a:pPr>
            <a:r>
              <a:rPr kumimoji="0" lang="en-US"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If the CLIENT is an individual: its death, any modification affecting his/her capacity to act or his/her physical and/or mental condition which may impede or prevent the performance of the agreement; and if CLIENT is a legal person: winding-up, transformation, merge, spin off, reduction of capital or significant changes in the shareholding structure of the company.</a:t>
            </a:r>
            <a:endParaRPr kumimoji="0" lang="pt-PT"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arabicPeriod" startAt="2"/>
              <a:tabLst>
                <a:tab pos="-4231005" algn="l"/>
              </a:tabLst>
              <a:defRPr/>
            </a:pPr>
            <a:r>
              <a:rPr kumimoji="0" lang="en-US"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Declaration of bankruptcy of the CLIENT on demand of a legitimate creditor, filling of a creditor’s request of voluntary bankruptcy or suspension of payments, or existence of any legal action, temporary injunction or any other interim measure which may reveal a decrease in CLIENT’s economic solvency or financial difficulties to meet the normal fulfilment of its obligations. </a:t>
            </a:r>
            <a:endParaRPr kumimoji="0" lang="pt-PT"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arabicPeriod" startAt="2"/>
              <a:tabLst>
                <a:tab pos="-4231005" algn="l"/>
              </a:tabLst>
              <a:defRPr/>
            </a:pPr>
            <a:r>
              <a:rPr kumimoji="0" lang="en-US"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The CLIENT shall be deemed to be under any of the circumstances above, when the same apply to the parent company, other company or companies of the same Group, or to any company in the company’s association or partnership which CLIENT belongs to.</a:t>
            </a:r>
            <a:endParaRPr kumimoji="0" lang="pt-PT"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arabicPeriod" startAt="2"/>
              <a:tabLst>
                <a:tab pos="-4231005" algn="l"/>
              </a:tabLst>
              <a:defRPr/>
            </a:pPr>
            <a:r>
              <a:rPr kumimoji="0" lang="en-US"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Any other breach by the CLIENT, which may prevent or significantly affect the performance of the agreement.</a:t>
            </a:r>
            <a:endParaRPr kumimoji="0" lang="pt-PT"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arabicPeriod" startAt="2"/>
              <a:tabLst>
                <a:tab pos="-4231005" algn="l"/>
              </a:tabLst>
              <a:defRPr/>
            </a:pPr>
            <a:r>
              <a:rPr kumimoji="0" lang="en-US"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Any force major event, which may prevent the provision of the services.</a:t>
            </a:r>
            <a:endParaRPr kumimoji="0" lang="pt-PT"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Without waiving its right to any other compensation for damages that may be applicable, in the event of termination of this agreement for any reason, including termination by mutual agreement, the CLIENT shall pay the amount of the services executed until the termination date, as well as expenses and investments performed for the provision of the services and/or costs arising for Capgemini for the completion of the project and/or service (including the cost for contract cancellation with third parties and relocation), as well as any costs associated with the termination of the services (acquisition of hardware, software, communication lines and any residual debt related to the contracted service).</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The provisions of this clause shall also apply in any case of termination for reasons not attributable to Capgemini.</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11"/>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Times New Roman" panose="02020603050405020304" pitchFamily="18" charset="0"/>
                <a:cs typeface="Times New Roman" panose="02020603050405020304" pitchFamily="18" charset="0"/>
              </a:rPr>
              <a:t>Intellectual property </a:t>
            </a:r>
            <a:endParaRPr kumimoji="0" lang="pt-PT" sz="600" b="0" i="0" u="none" strike="noStrike" kern="0" cap="all" spc="0" normalizeH="0" baseline="0" noProof="0">
              <a:ln>
                <a:noFill/>
              </a:ln>
              <a:solidFill>
                <a:schemeClr val="bg1"/>
              </a:solidFill>
              <a:effectLst>
                <a:outerShdw sx="0" sy="0">
                  <a:srgbClr val="000000"/>
                </a:outerShdw>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The rights that Intellectual Property or Author Laws may recognize over the results obtained, or over those that may be obtained as a result of the provision of the professional services by Capgemini for the CLIENT will become property of the CLIENT after payment to Capgemini of the total amount due for those services is performed, except for what concerns licenses for use of third parties’ products. Capgemini will maintain exclusive intellectual property and author rights regarding the abovementioned results until full payment of the price of the services is rendered. </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Notwithstanding the previous paragraph, Capgemini will maintain the intellectual property and author rights over the models, tools, database, know-how and other standard elements developed by Capgemini and that Capgemini has used for the performance of the tasks resulting from the provision of the services. In the event the scope of the services includes the development of Software or implementation of services, the CLIENT will have a non-exclusive, non-transferable and non- assignable license to use over the models, tools, database, know-how and other standard elements, limited to the use regarding CLIENT’s equipment and IT systems. </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tab pos="2250440" algn="l"/>
                <a:tab pos="2992120" algn="l"/>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Notwithstanding the transfer of the rights to use and explore mentioned in the first paragraph, Capgemini shall, for the provision of services to other companies, be entitled to use the knowledge, experience, skills, know-how and methodologies acquired during the performance of the service/project. Likewise, Capgemini shall retain the intellectual property rights over those modules, tools, databases and other standard elements developed by Capgemini prior to the signature of this contract (including its successive versions and derived programs) and those supplied for the delivery of the works under the contract. Over these elements, and if they are incorporated into the final product delivered to the CLIENT, the latter shall have a non-exclusive, non-transferable license to use them on its own computer systems. </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tab pos="2250440" algn="l"/>
                <a:tab pos="2992120" algn="l"/>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The CLIENT shall comply with all brands and restrictive trademarks applied by Capgemini to everything it supplied to CLIENT under the contract.</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12"/>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Open Source</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When free software (Open Source/Freeware/OSS) is used under the project/service, the CLIENT assumes and agrees to the conditions of the license of the product. Said product shall be considered acquired by the CLIENT. The Open Source license agreement shall be attached to the present agreement and shall govern all agreements entered and to be entered by Capgemini and the CLIENT, whereby the CLIENT undertakes all covenants and obligations arising from this license agreement. Capgemini undertakes no liability that may arise from said products such as those related with use, interoperability, intellectual property, quality, design or software functionality, access to its maintenance, updates or any other that may affect such products. Regarding the ownership and the use rights over the results of the work performed on an OSS tool, the provisions set forth under the product license shall apply. CLIENT undertakes the limitation associated with the use of the OSS and shall not pursue any claim against Capgemini in respect thereof, as well as for the defects, deficiencies or damages that OSS may cause including its own use. Without limiting the foregoing, CLIENT expressly acknowledges that: 1.- The use of OSS may cause additional costs due to hindering improvements, developments, maintenance and other activities related to the services and deliverables that Capgemini provides. 2.-License Agreement obligations shall prevail over the obligations established between Capgemini and CLIENT. 3.- In the future, OSS may change, not be updated or even be unavailable. </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13"/>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Risk</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Any risk of loss or damage of the subject matter hereof shall be borne by the CLIENT upon delivery of the same to the CLIENT or to any of its employees. If the scope of the services is defined in milestones or partial deliverables, such milestones or partial deliverables shall be deemed to be delivered upon delivery of each of them to CLIENT.</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14"/>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Cooperation by CLIENT</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Given the type of services that form part of the scope of the contract, CLIENT´s collaboration is essential for the adequate delivery of the services, constituting a material obligation of the CLIENT. Notwithstanding the right of Capgemini to terminate the contract, Capgemini is entitled to require the suspension of the contract at any time if the CLIENT fails to remedy its lack of collaboration within 5 days from Capgemini´s notification for such purpose.</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The following collaboration obligations, which are not a limited list, are intrinsic to CLIENT´s obligations: </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romanLcParenBoth"/>
              <a:tabLst/>
              <a:defRPr/>
            </a:pPr>
            <a:r>
              <a:rPr kumimoji="0" lang="en-US"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Provide, at its own cost and within a reasonable term, the necessary information and facilities for the correct delivery of the service; </a:t>
            </a:r>
            <a:endParaRPr kumimoji="0" lang="pt-PT"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romanLcParenBoth"/>
              <a:tabLst/>
              <a:defRPr/>
            </a:pPr>
            <a:r>
              <a:rPr kumimoji="0" lang="en-US"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attend the meetings set by Capgemini and manage the authorizations, approvals and certificates necessary for the completion of the service in the agreed time; </a:t>
            </a:r>
            <a:endParaRPr kumimoji="0" lang="pt-PT"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romanLcParenBoth"/>
              <a:tabLst/>
              <a:defRPr/>
            </a:pPr>
            <a:r>
              <a:rPr kumimoji="0" lang="en-US"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have adequate backup copies, verification or security control procedures and control for virus detection in the systems and equipment used in the service and perform according to its own criteria the backup copies as often as necessary without Capgemini being held responsible for the possible loss of data; </a:t>
            </a:r>
            <a:endParaRPr kumimoji="0" lang="pt-PT"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romanLcParenBoth"/>
              <a:tabLst/>
              <a:defRPr/>
            </a:pPr>
            <a:r>
              <a:rPr kumimoji="0" lang="en-US"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provide at its own cost and within a reasonable time, any information and material required by Capgemini for the provision of the service, said information shall be true, accurate and not misleading in any way so that Capgemini shall not be held responsible for loss, damage or deficiency in services resulting from any inaccurate, incomplete or otherwise defective information and/or materials provided by the CLIENT.</a:t>
            </a:r>
            <a:endParaRPr kumimoji="0" lang="pt-PT"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auto" latinLnBrk="0" hangingPunct="1">
              <a:lnSpc>
                <a:spcPct val="100000"/>
              </a:lnSpc>
              <a:spcBef>
                <a:spcPts val="300"/>
              </a:spcBef>
              <a:spcAft>
                <a:spcPts val="200"/>
              </a:spcAft>
              <a:buClr>
                <a:srgbClr val="12ABDB"/>
              </a:buClr>
              <a:buSzTx/>
              <a:buFont typeface="+mj-lt"/>
              <a:buAutoNum type="romanLcParenBoth"/>
              <a:tabLst/>
              <a:defRPr/>
            </a:pPr>
            <a:r>
              <a:rPr kumimoji="0" lang="en-US" sz="5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have a computer system with proper and adequate conditions for the delivery of the service. Any impact on the work performed by Capgemini as a result of any element of CLIENT´s computing environment not working properly, shall not be Capgemini´s responsibility.</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Capgemini shall not be liable for any losses or damages claimed by the CLIENT due to, either directly or indirectly, any delay, impossibility or incomplete fulfilment of Capgemini’s obligations, if such breach is caused by the lack of cooperation by the CLIENT. Moreover, if the services are affected by the lack of cooperation of the CLIENT and this results in an impact on costs and services schedule, Capgemini may demand the payment by the CLIENT of the increased costs related with the services.</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If the services are executed in CLIENT’s facilities, the latter shall provide suitable premises as well as all necessary hardware and telecommunications elements. Should Capgemini transfer work tools to the premises of CLIENT, the latter shall become depositary thereof and shall assume all obligations arising in connection thereto. Likewise, CLIENT shall become the depositary of the services executed by Capgemini. In the event of loss of any piece of work executed by Capgemini, the compensation shall be calculated based on the total price of the services and the period elapsed as from their commencement. </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15"/>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Delivery &amp; Acceptance </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The different phases of a project’s execution shall be delivered by Capgemini and accepted by the CLIENT, according to the rules specifically agreed between parties.</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If nothing is specifically agreed, the following rules shall be applied: the CLIENT must deliver an acceptance declaration within 5 working days from the delivery dates by Capgemini. If this term elapses and the CLIENT doesn’t issue the acceptance document, and if there is no written notification stating differently (containing the reasons for non-acceptance), the deliverable shall be automatically deemed accepted.</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Testing (if applicable): in case the CLIENT, after notification for the execution of tests, cannot attend for reasons attributable to it, Capgemini will book a new date for this purpose. If it is still not possible to execute the tests, Capgemini considers that they have been done successfully and that the CLIENT has definitively accepted the system and/or applications. If the application and/or the system go into production, it is deemed to be accepted.</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In the event the tests show errors that do not prevent the application and/or system from functioning or do not change the information processed, the contract is deemed to be fulfilled by Capgemini. The errors with minor impact, which are detected at this stage, will be corrected under the warranty period and will not hinder final acceptance. Every time the project has subsystems of information and/or applications separable between them, each of them will be individually deemed accepted definitively. </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Capgemini will deliver to the CLIENT all project documentation that is compulsory according to what is agreed on the Proposal.</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16"/>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Force Majeure</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Calibri" panose="020F0502020204030204" pitchFamily="34" charset="0"/>
              </a:rPr>
              <a:t>Neither party shall be liable for delay or failure to perform its obligations to the extent that such delay or failure results from a Force Majeure Event, including, but not limited, to earthquakes, seaquakes, fires, floods, epidemies or pandemics, officially declared catastrophes, acts of terrorism, war, riots, amongst others. The Party affected by a Force Majeure event shall give notice within seven days counted from the occurrence of the event of Force Majeure, with the details of the circumstances that originated the referred event.</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Calibri" panose="020F0502020204030204" pitchFamily="34" charset="0"/>
            </a:endParaRPr>
          </a:p>
          <a:p>
            <a:pPr marL="180975" marR="0" lvl="0" indent="-180975" algn="just" defTabSz="914400" rtl="0" eaLnBrk="1" fontAlgn="base" latinLnBrk="0" hangingPunct="1">
              <a:lnSpc>
                <a:spcPct val="100000"/>
              </a:lnSpc>
              <a:spcBef>
                <a:spcPts val="300"/>
              </a:spcBef>
              <a:spcAft>
                <a:spcPts val="200"/>
              </a:spcAft>
              <a:buClr>
                <a:srgbClr val="12ABDB"/>
              </a:buClr>
              <a:buSzTx/>
              <a:buFont typeface="+mj-lt"/>
              <a:buAutoNum type="romanUcPeriod" startAt="17"/>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Confidentiality</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The parties undertake to maintain strict confidentiality regarding the content of preliminary agreements and its existence as well as negotiations and proposals agreed between them. </a:t>
            </a: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rPr>
              <a:t>All information considered as confidential between the parties may only be used within the framework of this agreement.</a:t>
            </a:r>
            <a:endParaRPr kumimoji="0" lang="pt-PT" sz="600" b="0" i="0" u="none" strike="noStrike" kern="1200" cap="none" spc="0" normalizeH="0" baseline="0" noProof="0">
              <a:ln>
                <a:noFill/>
              </a:ln>
              <a:solidFill>
                <a:schemeClr val="bg1"/>
              </a:solidFill>
              <a:effectLst/>
              <a:uLnTx/>
              <a:uFillTx/>
              <a:latin typeface="Ubuntu"/>
              <a:ea typeface="Times New Roman" panose="02020603050405020304" pitchFamily="18" charset="0"/>
              <a:cs typeface="Times New Roman" panose="02020603050405020304" pitchFamily="18" charset="0"/>
            </a:endParaRPr>
          </a:p>
        </p:txBody>
      </p:sp>
      <p:sp>
        <p:nvSpPr>
          <p:cNvPr id="2" name="Text Placeholder 13">
            <a:extLst>
              <a:ext uri="{FF2B5EF4-FFF2-40B4-BE49-F238E27FC236}">
                <a16:creationId xmlns:a16="http://schemas.microsoft.com/office/drawing/2014/main" id="{3C53C940-A76E-C291-4F82-F9E2A4339C8C}"/>
              </a:ext>
            </a:extLst>
          </p:cNvPr>
          <p:cNvSpPr txBox="1">
            <a:spLocks/>
          </p:cNvSpPr>
          <p:nvPr/>
        </p:nvSpPr>
        <p:spPr>
          <a:xfrm>
            <a:off x="550863" y="266218"/>
            <a:ext cx="11089753" cy="161001"/>
          </a:xfrm>
          <a:prstGeom prst="rect">
            <a:avLst/>
          </a:prstGeom>
        </p:spPr>
        <p:txBody>
          <a:bodyPr lIns="0" tIns="0" bIns="0"/>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Tx/>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Tx/>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chemeClr val="bg1"/>
                </a:solidFill>
                <a:effectLst/>
                <a:uLnTx/>
                <a:uFillTx/>
                <a:latin typeface="Ubuntu"/>
                <a:ea typeface="+mn-ea"/>
                <a:cs typeface="+mn-cs"/>
              </a:rPr>
              <a:t>Capgemini Portugal</a:t>
            </a:r>
            <a:endParaRPr kumimoji="0" lang="en-PL" sz="1000" b="0" i="0" u="none" strike="noStrike" kern="1200" cap="none" spc="0" normalizeH="0" baseline="0" noProof="0">
              <a:ln>
                <a:noFill/>
              </a:ln>
              <a:solidFill>
                <a:schemeClr val="bg1"/>
              </a:solidFill>
              <a:effectLst/>
              <a:uLnTx/>
              <a:uFillTx/>
              <a:latin typeface="Ubuntu"/>
              <a:ea typeface="+mn-ea"/>
              <a:cs typeface="+mn-cs"/>
            </a:endParaRPr>
          </a:p>
        </p:txBody>
      </p:sp>
    </p:spTree>
    <p:extLst>
      <p:ext uri="{BB962C8B-B14F-4D97-AF65-F5344CB8AC3E}">
        <p14:creationId xmlns:p14="http://schemas.microsoft.com/office/powerpoint/2010/main" val="2990832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0862" y="549275"/>
            <a:ext cx="10690357" cy="576825"/>
          </a:xfrm>
        </p:spPr>
        <p:txBody>
          <a:bodyPr>
            <a:noAutofit/>
          </a:bodyPr>
          <a:lstStyle/>
          <a:p>
            <a:r>
              <a:rPr kumimoji="0" lang="en-US" sz="2400" b="0" i="0" u="none" strike="noStrike" kern="1200" cap="none" spc="0" normalizeH="0" baseline="0" noProof="0">
                <a:ln>
                  <a:noFill/>
                </a:ln>
                <a:solidFill>
                  <a:schemeClr val="bg1"/>
                </a:solidFill>
                <a:effectLst/>
                <a:uLnTx/>
                <a:uFillTx/>
                <a:latin typeface="Ubuntu Medium"/>
                <a:ea typeface="Verdana" panose="020B0604030504040204" pitchFamily="34" charset="0"/>
              </a:rPr>
              <a:t>General Terms and Conditions</a:t>
            </a:r>
            <a:r>
              <a:rPr kumimoji="0" lang="pt-PT" sz="2400" b="0" i="0" u="none" strike="noStrike" kern="1200" cap="none" spc="0" normalizeH="0" baseline="0" noProof="0">
                <a:ln>
                  <a:noFill/>
                </a:ln>
                <a:solidFill>
                  <a:schemeClr val="bg1"/>
                </a:solidFill>
                <a:effectLst/>
                <a:uLnTx/>
                <a:uFillTx/>
                <a:latin typeface="Ubuntu Medium"/>
                <a:ea typeface="Verdana" panose="020B0604030504040204" pitchFamily="34" charset="0"/>
              </a:rPr>
              <a:t> (3/3)</a:t>
            </a:r>
            <a:endParaRPr lang="pt-PT" sz="2400">
              <a:solidFill>
                <a:schemeClr val="bg1"/>
              </a:solidFill>
            </a:endParaRPr>
          </a:p>
        </p:txBody>
      </p:sp>
      <p:sp>
        <p:nvSpPr>
          <p:cNvPr id="7" name="Rectangle 3"/>
          <p:cNvSpPr>
            <a:spLocks noChangeArrowheads="1"/>
          </p:cNvSpPr>
          <p:nvPr/>
        </p:nvSpPr>
        <p:spPr bwMode="auto">
          <a:xfrm>
            <a:off x="550863" y="1496110"/>
            <a:ext cx="11090275" cy="4787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numCol="3" spcCol="180000"/>
          <a:lstStyle/>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The parties shall agree to deal with the data and information identified as confidential or that are confidential by nature, in a strictly confidential manner, by not disclosing this information, except to the employees who need to know such information in order to deliver or prepare this proposal and/or execute the Services. The information provided by Capgemini is confidential and owned by Capgemini; its disclosure would represent a benefit for its competitors. Therefore, the use and the disclosure of information contained in Capgemini’s documentation beyond assessing its content, is explicitly prohibited, this material is considered as secret and confidential. No part of this proposal shall be copied or duplicated without the previous authorization of Capgemini, except when it is necessary in order to assess the documentation. Notwithstanding the foregoing, Capgemini shall mention the services to its existing and potential clients, as an indication of its experience, as well as using CLIENT’s logo for the same purpose. Furthermore, Capgemini is authorized to issue public reports on the services provided to the CLIENT by Capgemini, as well as to inform of the existence and the content of the proposal to those people who collaborate in the delivery and preparation of said agreement and to companies of the Capgemini Group. Under no circumstances shall the data concerning information that must be provided to any Public Administration be considered as confidential. The obligations on confidentiality stated in this clause shall be in force for a term of two years from the date of conclusion of the services.</a:t>
            </a:r>
            <a:endParaRPr kumimoji="0" lang="pt-PT" sz="700" b="0" i="0" u="none" strike="noStrike" kern="1200" cap="none" spc="0" normalizeH="0" baseline="0" noProof="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parties agree that the provision of such information if required by law or for the purpose of submitting proposals in public tenders shall not be deemed as a breach of the confidentiality obligation,</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In the context of the Agreement/ Proposal/ this General Conditions, the obligation of confidentiality shall not include information that:</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auto" latinLnBrk="0" hangingPunct="1">
              <a:lnSpc>
                <a:spcPct val="100000"/>
              </a:lnSpc>
              <a:spcBef>
                <a:spcPts val="300"/>
              </a:spcBef>
              <a:spcAft>
                <a:spcPts val="200"/>
              </a:spcAft>
              <a:buClr>
                <a:srgbClr val="12ABDB"/>
              </a:buClr>
              <a:buSzPts val="600"/>
              <a:buFont typeface="Ubuntu" panose="020B0504030602030204" pitchFamily="34" charset="0"/>
              <a:buAutoNum type="romanUcPeriod"/>
              <a:tabLst>
                <a:tab pos="180340" algn="l"/>
              </a:tabLst>
              <a:defRPr/>
            </a:pPr>
            <a:r>
              <a:rPr kumimoji="0" lang="en-US" sz="5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is or becomes a matter of public knowledge through no fault of the Receiving Party; or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auto" latinLnBrk="0" hangingPunct="1">
              <a:lnSpc>
                <a:spcPct val="100000"/>
              </a:lnSpc>
              <a:spcBef>
                <a:spcPts val="300"/>
              </a:spcBef>
              <a:spcAft>
                <a:spcPts val="200"/>
              </a:spcAft>
              <a:buClr>
                <a:srgbClr val="12ABDB"/>
              </a:buClr>
              <a:buSzPts val="600"/>
              <a:buFont typeface="Ubuntu" panose="020B0504030602030204" pitchFamily="34" charset="0"/>
              <a:buAutoNum type="romanUcPeriod"/>
              <a:tabLst>
                <a:tab pos="180340" algn="l"/>
              </a:tabLst>
              <a:defRPr/>
            </a:pPr>
            <a:r>
              <a:rPr kumimoji="0" lang="en-US" sz="5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was rightfully in the Receiving Party’s possession prior to receipt from the Disclosing Party; or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auto" latinLnBrk="0" hangingPunct="1">
              <a:lnSpc>
                <a:spcPct val="100000"/>
              </a:lnSpc>
              <a:spcBef>
                <a:spcPts val="300"/>
              </a:spcBef>
              <a:spcAft>
                <a:spcPts val="200"/>
              </a:spcAft>
              <a:buClr>
                <a:srgbClr val="12ABDB"/>
              </a:buClr>
              <a:buSzPts val="600"/>
              <a:buFont typeface="Ubuntu" panose="020B0504030602030204" pitchFamily="34" charset="0"/>
              <a:buAutoNum type="romanUcPeriod"/>
              <a:tabLst>
                <a:tab pos="180340" algn="l"/>
              </a:tabLst>
              <a:defRPr/>
            </a:pPr>
            <a:r>
              <a:rPr kumimoji="0" lang="en-US" sz="5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was rightfully disclosed to the Receiving Party by another person without restriction;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auto" latinLnBrk="0" hangingPunct="1">
              <a:lnSpc>
                <a:spcPct val="100000"/>
              </a:lnSpc>
              <a:spcBef>
                <a:spcPts val="300"/>
              </a:spcBef>
              <a:spcAft>
                <a:spcPts val="200"/>
              </a:spcAft>
              <a:buClr>
                <a:srgbClr val="12ABDB"/>
              </a:buClr>
              <a:buSzPts val="600"/>
              <a:buFont typeface="Ubuntu" panose="020B0504030602030204" pitchFamily="34" charset="0"/>
              <a:buAutoNum type="romanUcPeriod"/>
              <a:tabLst>
                <a:tab pos="180340" algn="l"/>
              </a:tabLst>
              <a:defRPr/>
            </a:pPr>
            <a:r>
              <a:rPr kumimoji="0" lang="en-US" sz="5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is independently developed by the Receiving Party without access to such Confidential Information or does not result from breach of any confidentiality agreement;</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auto" latinLnBrk="0" hangingPunct="1">
              <a:lnSpc>
                <a:spcPct val="100000"/>
              </a:lnSpc>
              <a:spcBef>
                <a:spcPts val="300"/>
              </a:spcBef>
              <a:spcAft>
                <a:spcPts val="200"/>
              </a:spcAft>
              <a:buClr>
                <a:srgbClr val="12ABDB"/>
              </a:buClr>
              <a:buSzPts val="600"/>
              <a:buFont typeface="Ubuntu" panose="020B0504030602030204" pitchFamily="34" charset="0"/>
              <a:buAutoNum type="romanUcPeriod"/>
              <a:tabLst>
                <a:tab pos="180340" algn="l"/>
              </a:tabLst>
              <a:defRPr/>
            </a:pPr>
            <a:r>
              <a:rPr kumimoji="0" lang="en-US" sz="5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is disclosed pursuant to any statutory or regulatory authority or court order, provided the Disclosing Party is given prompt prior written notice of such requirement and the scope of such disclosure is limited to the extent possible.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285750" marR="0" lvl="0" indent="-285750" algn="just" defTabSz="914400" rtl="0" eaLnBrk="1" fontAlgn="base" latinLnBrk="0" hangingPunct="1">
              <a:lnSpc>
                <a:spcPct val="100000"/>
              </a:lnSpc>
              <a:spcBef>
                <a:spcPts val="300"/>
              </a:spcBef>
              <a:spcAft>
                <a:spcPts val="200"/>
              </a:spcAft>
              <a:buClr>
                <a:srgbClr val="12ABDB"/>
              </a:buClr>
              <a:buSzTx/>
              <a:buFont typeface="+mj-lt"/>
              <a:buAutoNum type="romanUcPeriod" startAt="18"/>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Data Privacy</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Capgemini will use the personal data of the CLIENT’s employees in those cases where it is necessary for the good performance of the contract, in those cases where it is required by law and when it is necessary for the protection of Capgemini’s interest. The CLIENT declares that it has the necessary authorizations required by the applicable law for the processing of such data by Capgemini. The maximum retention period is the one permitted by law. Capgemini will comply with the applicable data protection laws.</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Due to the nature of the services of this contract Capgemini may have to process personal data contained in CLIENT’s files or to access personal data therein.</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Bearing in mind the fulfilment by the CLIENT of its obligations, as Data Controller, this clause defines the principles and rules that Capgemini and its subcontracted entities will comply with, as Data Processor on behalf of the CLIENT.</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For the purposes of this clause the following terms have the meaning set out below.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auto" latinLnBrk="0" hangingPunct="1">
              <a:lnSpc>
                <a:spcPct val="100000"/>
              </a:lnSpc>
              <a:spcBef>
                <a:spcPts val="300"/>
              </a:spcBef>
              <a:spcAft>
                <a:spcPts val="200"/>
              </a:spcAft>
              <a:buClr>
                <a:srgbClr val="12ABDB"/>
              </a:buClr>
              <a:buSzTx/>
              <a:buFont typeface="+mj-lt"/>
              <a:buAutoNum type="arabicPeriod"/>
              <a:tabLst>
                <a:tab pos="90170" algn="l"/>
              </a:tabLst>
              <a:defRPr/>
            </a:pPr>
            <a:r>
              <a:rPr kumimoji="0" lang="en-US" sz="500" b="1"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Personal data - </a:t>
            </a:r>
            <a:r>
              <a:rPr kumimoji="0" lang="en-US" sz="5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shall mean any information of any type, irrespective of the type of medium involved, including sound and image, relating to an identified or identifiable natural person (“data subject”) which is being processed by Capgemini as data processor on behalf of the CLIENT; an identifiable person is a person who can be identified, directly or indirectly, in particular by reference to an indication number or to one or more factors specifically related with his physical, physiological, mental, economic, cultural or social identity;</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auto" latinLnBrk="0" hangingPunct="1">
              <a:lnSpc>
                <a:spcPct val="100000"/>
              </a:lnSpc>
              <a:spcBef>
                <a:spcPts val="300"/>
              </a:spcBef>
              <a:spcAft>
                <a:spcPts val="200"/>
              </a:spcAft>
              <a:buClr>
                <a:srgbClr val="12ABDB"/>
              </a:buClr>
              <a:buSzTx/>
              <a:buFont typeface="+mj-lt"/>
              <a:buAutoNum type="arabicPeriod"/>
              <a:tabLst>
                <a:tab pos="90170" algn="l"/>
              </a:tabLst>
              <a:defRPr/>
            </a:pPr>
            <a:r>
              <a:rPr kumimoji="0" lang="en-US" sz="500" b="1"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Data Protection Legislation – </a:t>
            </a:r>
            <a:r>
              <a:rPr kumimoji="0" lang="en-US" sz="5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REGULATION (EU) 2016/679 OF THE EUROPEAN PARLIAMENT AND OF THE COUNCIL of 27 April 2016 on the protection of natural persons regarding the processing of personal data and on the free movement of such data (“GDPR”), and other related and subsequent legislation;</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auto" latinLnBrk="0" hangingPunct="1">
              <a:lnSpc>
                <a:spcPct val="100000"/>
              </a:lnSpc>
              <a:spcBef>
                <a:spcPts val="300"/>
              </a:spcBef>
              <a:spcAft>
                <a:spcPts val="200"/>
              </a:spcAft>
              <a:buClr>
                <a:srgbClr val="12ABDB"/>
              </a:buClr>
              <a:buSzTx/>
              <a:buFont typeface="+mj-lt"/>
              <a:buAutoNum type="arabicPeriod"/>
              <a:tabLst>
                <a:tab pos="90170" algn="l"/>
              </a:tabLst>
              <a:defRPr/>
            </a:pPr>
            <a:r>
              <a:rPr kumimoji="0" lang="en-US" sz="500" b="1"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Controller - </a:t>
            </a:r>
            <a:r>
              <a:rPr kumimoji="0" lang="en-US" sz="5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shall mean the natural or legal person, public authority, agency or any other body which alone or jointly with others determines the purposes and means of the processing of personal data;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auto" latinLnBrk="0" hangingPunct="1">
              <a:lnSpc>
                <a:spcPct val="100000"/>
              </a:lnSpc>
              <a:spcBef>
                <a:spcPts val="300"/>
              </a:spcBef>
              <a:spcAft>
                <a:spcPts val="200"/>
              </a:spcAft>
              <a:buClr>
                <a:srgbClr val="12ABDB"/>
              </a:buClr>
              <a:buSzTx/>
              <a:buFont typeface="+mj-lt"/>
              <a:buAutoNum type="arabicPeriod"/>
              <a:tabLst>
                <a:tab pos="90170" algn="l"/>
              </a:tabLst>
              <a:defRPr/>
            </a:pPr>
            <a:r>
              <a:rPr kumimoji="0" lang="en-US" sz="500" b="1"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Processor - </a:t>
            </a:r>
            <a:r>
              <a:rPr kumimoji="0" lang="en-US" sz="5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shall mean a natural or legal person, public authority, agency or any other body which processes personal data on behalf of the controller;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auto" latinLnBrk="0" hangingPunct="1">
              <a:lnSpc>
                <a:spcPct val="100000"/>
              </a:lnSpc>
              <a:spcBef>
                <a:spcPts val="300"/>
              </a:spcBef>
              <a:spcAft>
                <a:spcPts val="200"/>
              </a:spcAft>
              <a:buClr>
                <a:srgbClr val="12ABDB"/>
              </a:buClr>
              <a:buSzTx/>
              <a:buFont typeface="+mj-lt"/>
              <a:buAutoNum type="arabicPeriod"/>
              <a:tabLst>
                <a:tab pos="90170" algn="l"/>
              </a:tabLst>
              <a:defRPr/>
            </a:pPr>
            <a:r>
              <a:rPr kumimoji="0" lang="en-US" sz="500" b="1"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Personal data subject – </a:t>
            </a:r>
            <a:r>
              <a:rPr kumimoji="0" lang="en-US" sz="5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natural person identified or identifiable to whom the personal data refer.</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parties agree that, in relation to the Personal Data referred to in this contract and for the services indicated in the Proposal, the CLIENT is the Data Controller and Capgemini is the Data Processor within the meaning of the Data Protection Legislation.</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CLIENT declares that it takes full responsibility for the definition of the processing purposes, the contents of the processed data and the use and processing of the data that will be processed by Capgemini on its behalf as well as the respective means for processing the data.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Furthermore, both parties, by initiative and indication of the CLIENT, as Data Controller, will agree on an annexure that will specifically regulate the processing of personal data according to the scope of services defined for the contract.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Nevertheless, the CLIENT is responsible for fulfilling all the obligations applicable in its condition of data controller and assumes, including but not limited to, the following: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a:t>
            </a:r>
            <a:r>
              <a:rPr kumimoji="0" lang="en-US" sz="600" b="0" i="0" u="none" strike="noStrike" kern="1200" cap="none" spc="0" normalizeH="0" baseline="0" noProof="0" err="1">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i</a:t>
            </a: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 To manage the data only according to the scope defined on the contract or services; (ii) to apply, and indicate to Capgemini, all applicable security measures defined in the contract and adequate for the Services, especially when services are executed in their own facilities or with equipment or communication lines owned by the CLIENT; (iii) to provide personalized users and passwords to all of Capgemini´s team members assigned to the provision of the services; (iv) to manage any authorization or procedure with the competent authorities in the field of data protection; (v) to restrict, under its responsibility, access to personal data, solely allowing those accesses and permissions that are essential for the correct delivery of the service; (vi) to define and indicate the security measures to be applied to the services/Contract; (vii) to regularly organize activities among its employees that encourage awareness in personal data protection and in particular regarding GDPR. </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For the purposes of the obligations undertaken under this contract, Capgemini undertakes to comply with the CLIENT’s instructions including its Data privacy policy if the CLIENT provides a copy of the mentioned policy, and maintains Capgemini informed of any changes to it, including collection, use and communication of Personal Data. Any change in the scope of the services to be provided by Capgemini resulting from the CLIENT’s instructions must be implemented in accordance with the change request rules.</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Capgemini undertakes to implement the organizational and technical measures defined in order to protect the personal data against unauthorized or illegal usage, as well as to avoid any loss, damage, changes or accidental disclosure of the same. The CLIENT declares that the technical and organizational measures defined are adequate to protect the personal data and are compliant with the Personal Data Protection Legislation that define the obligations to be fulfilled by the entity responsible for the processing. In the absence of indication of such measures, CLIENT accepts that the standard measures implemented at Capgemini are adequate for these purposes.</a:t>
            </a:r>
            <a:endParaRPr kumimoji="0" lang="pt-PT" sz="700" b="0" i="0" u="none" strike="noStrike" kern="1200" cap="none" spc="0" normalizeH="0" baseline="0" noProof="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L="179388" marR="0" lvl="0" indent="-179388" algn="just" defTabSz="914400" rtl="0" eaLnBrk="1" fontAlgn="base" latinLnBrk="0" hangingPunct="1">
              <a:lnSpc>
                <a:spcPct val="100000"/>
              </a:lnSpc>
              <a:spcBef>
                <a:spcPts val="300"/>
              </a:spcBef>
              <a:spcAft>
                <a:spcPts val="200"/>
              </a:spcAft>
              <a:buClr>
                <a:srgbClr val="12ABDB"/>
              </a:buClr>
              <a:buSzTx/>
              <a:buFont typeface="+mj-lt"/>
              <a:buAutoNum type="romanUcPeriod" startAt="19"/>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Location of the Services and Office Hours</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Services object of this Proposal may, at Capgemini's discretion, be performed by </a:t>
            </a:r>
            <a:r>
              <a:rPr kumimoji="0" lang="en-US" sz="600" b="0" i="0" u="none" strike="noStrike" kern="1200" cap="none" spc="0" normalizeH="0" baseline="0" noProof="0" err="1">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Capgeminis</a:t>
            </a: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 professionals remotely [from their homes or any offices of Capgemini, its partners or subcontractors, in Portugal or abroad].</a:t>
            </a: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normal office hours during the working week are the following: from Monday to Thursday from 9 am to 1 pm and from 2.o0 pm to 6.30 pm; and on Friday from 9 am to 1 pm, and from 2 pm to 4 pm. However, when the provision of the services must be performed at CLIENT’s premises the parties may agree that the services will be provided in accordance with the CLIENT’s office hours, within the limitations of the applicable law. </a:t>
            </a: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For services performed outside Capgemini’s normal office hours, during the working week or performed on weekends and public holidays, the fees rates shall be increased to two times the normal rates. These services must be previously agreed between the parties.</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179388" marR="0" lvl="0" indent="-179388" algn="just" defTabSz="914400" rtl="0" eaLnBrk="1" fontAlgn="base" latinLnBrk="0" hangingPunct="1">
              <a:lnSpc>
                <a:spcPct val="100000"/>
              </a:lnSpc>
              <a:spcBef>
                <a:spcPts val="300"/>
              </a:spcBef>
              <a:spcAft>
                <a:spcPts val="200"/>
              </a:spcAft>
              <a:buClr>
                <a:srgbClr val="12ABDB"/>
              </a:buClr>
              <a:buSzTx/>
              <a:buFont typeface="+mj-lt"/>
              <a:buAutoNum type="romanUcPeriod" startAt="20"/>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Relationship between the parties</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Times New Roman" panose="02020603050405020304" pitchFamily="18" charset="0"/>
              </a:rPr>
              <a:t>The relationship between the parties has an exclusively business nature; there is no labor connection between the CLIENT and Capgemini’s staff. The personnel of Capgemini participating in the service provision will always be subject to and in any case under the control, guidance and disciplinary authority of Capgemini. In addition, Capgemini is explicitly entitled to organize the team in the way it deems appropriate and suitable to guarantee an effective delivery of the services, being able to, according to the foregoing and if considered necessary, to proceed with the replacement of any member of the team executing the service.</a:t>
            </a:r>
            <a:endParaRPr kumimoji="0" lang="pt-PT" sz="1000" b="0" i="0" u="none" strike="noStrike" kern="1200" cap="none" spc="0" normalizeH="0" baseline="0" noProof="0">
              <a:ln>
                <a:noFill/>
              </a:ln>
              <a:solidFill>
                <a:schemeClr val="bg1"/>
              </a:solidFill>
              <a:effectLst/>
              <a:uLnTx/>
              <a:uFillTx/>
              <a:latin typeface="Arial" panose="020B0604020202020204" pitchFamily="34" charset="0"/>
              <a:ea typeface="Times New Roman" panose="02020603050405020304" pitchFamily="18" charset="0"/>
              <a:cs typeface="Times New Roman" panose="02020603050405020304" pitchFamily="18" charset="0"/>
            </a:endParaRPr>
          </a:p>
          <a:p>
            <a:pPr marL="285750" marR="0" lvl="0" indent="-285750" algn="just" defTabSz="914400" rtl="0" eaLnBrk="1" fontAlgn="base" latinLnBrk="0" hangingPunct="1">
              <a:lnSpc>
                <a:spcPct val="100000"/>
              </a:lnSpc>
              <a:spcBef>
                <a:spcPts val="300"/>
              </a:spcBef>
              <a:spcAft>
                <a:spcPts val="200"/>
              </a:spcAft>
              <a:buClr>
                <a:srgbClr val="12ABDB"/>
              </a:buClr>
              <a:buSzTx/>
              <a:buFont typeface="+mj-lt"/>
              <a:buAutoNum type="romanUcPeriod" startAt="21"/>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Governing Law</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These General Conditions as well as any contracts that amend or complete them, or are executed under it, will be interpreted and executed in accordance with the Laws of Portugal.</a:t>
            </a:r>
            <a:endParaRPr kumimoji="0" lang="pt-PT" sz="700" b="0" i="0" u="none" strike="noStrike" kern="1200" cap="none" spc="0" normalizeH="0" baseline="0" noProof="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L="285750" marR="0" lvl="0" indent="-285750" algn="just" defTabSz="914400" rtl="0" eaLnBrk="1" fontAlgn="base" latinLnBrk="0" hangingPunct="1">
              <a:lnSpc>
                <a:spcPct val="100000"/>
              </a:lnSpc>
              <a:spcBef>
                <a:spcPts val="300"/>
              </a:spcBef>
              <a:spcAft>
                <a:spcPts val="200"/>
              </a:spcAft>
              <a:buClr>
                <a:srgbClr val="12ABDB"/>
              </a:buClr>
              <a:buSzTx/>
              <a:buFont typeface="+mj-lt"/>
              <a:buAutoNum type="romanUcPeriod" startAt="22"/>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Jurisdiction</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All litigation matters or claims that may arise from the interpretation or execution of this General Conditions, or from any contract that is signed under it, and which the parties are not able to settle amicably, shall be submitted to the final jurisdiction of the Judicial Courts of Lisbon, Portugal with explicit waiver to any other jurisdiction.</a:t>
            </a:r>
            <a:endParaRPr kumimoji="0" lang="pt-PT" sz="700" b="0" i="0" u="none" strike="noStrike" kern="1200" cap="none" spc="0" normalizeH="0" baseline="0" noProof="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L="285750" marR="0" lvl="0" indent="-285750" algn="just" defTabSz="914400" rtl="0" eaLnBrk="1" fontAlgn="base" latinLnBrk="0" hangingPunct="1">
              <a:lnSpc>
                <a:spcPct val="100000"/>
              </a:lnSpc>
              <a:spcBef>
                <a:spcPts val="300"/>
              </a:spcBef>
              <a:spcAft>
                <a:spcPts val="200"/>
              </a:spcAft>
              <a:buClr>
                <a:srgbClr val="12ABDB"/>
              </a:buClr>
              <a:buSzTx/>
              <a:buFont typeface="+mj-lt"/>
              <a:buAutoNum type="romanUcPeriod" startAt="23"/>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Occupational Risk Prevention</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228600" algn="just" defTabSz="914400" rtl="0" eaLnBrk="1" fontAlgn="auto" latinLnBrk="0" hangingPunct="1">
              <a:lnSpc>
                <a:spcPct val="100000"/>
              </a:lnSpc>
              <a:spcBef>
                <a:spcPts val="300"/>
              </a:spcBef>
              <a:spcAft>
                <a:spcPts val="200"/>
              </a:spcAft>
              <a:buClrTx/>
              <a:buSzTx/>
              <a:buFontTx/>
              <a:buNone/>
              <a:tabLst>
                <a:tab pos="180340" algn="l"/>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mn-ea"/>
                <a:cs typeface="Calibri" panose="020F0502020204030204" pitchFamily="34" charset="0"/>
              </a:rPr>
              <a:t>In the case of services being performed on CLIENT´s premises, both parties expressly agree to comply with the laws in force regarding Occupational Risk Prevention. For this purpose, and in relation to the activities to be performed under this document, both parties undertake to: (</a:t>
            </a:r>
            <a:r>
              <a:rPr kumimoji="0" lang="en-US" sz="600" b="0" i="0" u="none" strike="noStrike" kern="1200" cap="none" spc="0" normalizeH="0" baseline="0" noProof="0" err="1">
                <a:ln>
                  <a:noFill/>
                </a:ln>
                <a:solidFill>
                  <a:schemeClr val="bg1"/>
                </a:solidFill>
                <a:effectLst/>
                <a:uLnTx/>
                <a:uFillTx/>
                <a:latin typeface="Ubuntu" panose="020B0504030602030204" pitchFamily="34" charset="0"/>
                <a:ea typeface="+mn-ea"/>
                <a:cs typeface="Calibri" panose="020F0502020204030204" pitchFamily="34" charset="0"/>
              </a:rPr>
              <a:t>i</a:t>
            </a: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mn-ea"/>
                <a:cs typeface="Calibri" panose="020F0502020204030204" pitchFamily="34" charset="0"/>
              </a:rPr>
              <a:t>) take into account the information received from the other party regarding its Occupational Risk Evaluation planning; (ii) report to its employees the information and instructions received, certifying that they represent all the theoretical and practical trainings adapted to the characteristics, functions and risks of the workplace, as well as verifying their medical aptitude for performing the activities contracted herein.</a:t>
            </a:r>
            <a:r>
              <a:rPr kumimoji="0" lang="en-US" sz="500" b="0" i="0" u="none" strike="noStrike" kern="1200" cap="all"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 </a:t>
            </a:r>
            <a:endParaRPr kumimoji="0" lang="pt-PT" sz="800" b="0" i="0" u="none" strike="noStrike" kern="1200" cap="all" spc="0" normalizeH="0" baseline="0" noProof="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L="285750" marR="0" lvl="0" indent="-285750" algn="just" defTabSz="914400" rtl="0" eaLnBrk="1" fontAlgn="base" latinLnBrk="0" hangingPunct="1">
              <a:lnSpc>
                <a:spcPct val="100000"/>
              </a:lnSpc>
              <a:spcBef>
                <a:spcPts val="300"/>
              </a:spcBef>
              <a:spcAft>
                <a:spcPts val="200"/>
              </a:spcAft>
              <a:buClr>
                <a:srgbClr val="12ABDB"/>
              </a:buClr>
              <a:buSzTx/>
              <a:buFont typeface="+mj-lt"/>
              <a:buAutoNum type="romanUcPeriod" startAt="24"/>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Amendments </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No amendments to these General Conditions shall be valid unless agreed in writing by the duly authorized representatives of each party.</a:t>
            </a:r>
            <a:endParaRPr kumimoji="0" lang="pt-PT" sz="700" b="0" i="0" u="none" strike="noStrike" kern="1200" cap="none" spc="0" normalizeH="0" baseline="0" noProof="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L="285750" marR="0" lvl="0" indent="-285750" algn="just" defTabSz="914400" rtl="0" eaLnBrk="1" fontAlgn="base" latinLnBrk="0" hangingPunct="1">
              <a:lnSpc>
                <a:spcPct val="100000"/>
              </a:lnSpc>
              <a:spcBef>
                <a:spcPts val="300"/>
              </a:spcBef>
              <a:spcAft>
                <a:spcPts val="200"/>
              </a:spcAft>
              <a:buClr>
                <a:srgbClr val="12ABDB"/>
              </a:buClr>
              <a:buSzTx/>
              <a:buFont typeface="+mj-lt"/>
              <a:buAutoNum type="romanUcPeriod" startAt="25"/>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Assignment </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The CLIENT may not assign to any third party its rights and obligations arising from these General Conditions or under any specific agreement signed afterwards, unless Capgemini expressly authorizes so in writing.</a:t>
            </a:r>
            <a:endParaRPr kumimoji="0" lang="pt-PT" sz="700" b="0" i="0" u="none" strike="noStrike" kern="1200" cap="none" spc="0" normalizeH="0" baseline="0" noProof="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a:p>
            <a:pPr marL="285750" marR="0" lvl="0" indent="-285750" algn="just" defTabSz="914400" rtl="0" eaLnBrk="1" fontAlgn="base" latinLnBrk="0" hangingPunct="1">
              <a:lnSpc>
                <a:spcPct val="100000"/>
              </a:lnSpc>
              <a:spcBef>
                <a:spcPts val="300"/>
              </a:spcBef>
              <a:spcAft>
                <a:spcPts val="200"/>
              </a:spcAft>
              <a:buClr>
                <a:srgbClr val="12ABDB"/>
              </a:buClr>
              <a:buSzTx/>
              <a:buFont typeface="+mj-lt"/>
              <a:buAutoNum type="romanUcPeriod" startAt="26"/>
              <a:tabLst>
                <a:tab pos="180975" algn="l"/>
                <a:tab pos="449263" algn="l"/>
              </a:tabLst>
              <a:defRPr/>
            </a:pPr>
            <a:r>
              <a:rPr kumimoji="0" lang="en-US"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rPr>
              <a:t>Ethics and Compliance</a:t>
            </a:r>
            <a:endParaRPr kumimoji="0" lang="pt-PT" sz="600" b="1" i="0" u="none" strike="noStrike" kern="0" cap="all" spc="0" normalizeH="0" baseline="0" noProof="0">
              <a:ln>
                <a:noFill/>
              </a:ln>
              <a:solidFill>
                <a:schemeClr val="bg1"/>
              </a:solidFill>
              <a:effectLst>
                <a:outerShdw sx="0" sy="0">
                  <a:srgbClr val="000000"/>
                </a:outerShdw>
              </a:effectLst>
              <a:uLnTx/>
              <a:uFillTx/>
              <a:latin typeface="Ubuntu"/>
              <a:ea typeface="+mn-ea"/>
              <a:cs typeface="Times New Roman" panose="02020603050405020304" pitchFamily="18" charset="0"/>
            </a:endParaRPr>
          </a:p>
          <a:p>
            <a:pPr marL="0" marR="0" lvl="0" indent="0" algn="just" defTabSz="914400" rtl="0" eaLnBrk="1" fontAlgn="auto" latinLnBrk="0" hangingPunct="1">
              <a:lnSpc>
                <a:spcPct val="100000"/>
              </a:lnSpc>
              <a:spcBef>
                <a:spcPts val="300"/>
              </a:spcBef>
              <a:spcAft>
                <a:spcPts val="200"/>
              </a:spcAft>
              <a:buClrTx/>
              <a:buSzTx/>
              <a:buFontTx/>
              <a:buNone/>
              <a:tabLst/>
              <a:defRPr/>
            </a:pPr>
            <a:r>
              <a:rPr kumimoji="0" lang="en-US" sz="600" b="0" i="0" u="none" strike="noStrike" kern="1200" cap="none" spc="0" normalizeH="0" baseline="0" noProof="0">
                <a:ln>
                  <a:noFill/>
                </a:ln>
                <a:solidFill>
                  <a:schemeClr val="bg1"/>
                </a:solidFill>
                <a:effectLst/>
                <a:uLnTx/>
                <a:uFillTx/>
                <a:latin typeface="Ubuntu" panose="020B0504030602030204" pitchFamily="34" charset="0"/>
                <a:ea typeface="Times New Roman" panose="02020603050405020304" pitchFamily="18" charset="0"/>
                <a:cs typeface="Calibri" panose="020F0502020204030204" pitchFamily="34" charset="0"/>
              </a:rPr>
              <a:t>Both parties declare that they comply with the local laws that are applicable to their respective activities, as well as those international laws relating to ethics in business, including not receiving, nor offering commissions or gifts in order to influence any conduct, nor adopting any other unlawful practices. Parties also commit to comply with all competition rules applicable to its agreements. Both parties further declare that they shall ensure its agents and subcontractors and any person acting on their behalf will comply with all such laws.</a:t>
            </a:r>
            <a:endParaRPr kumimoji="0" lang="pt-PT" sz="700" b="0" i="0" u="none" strike="noStrike" kern="1200" cap="none" spc="0" normalizeH="0" baseline="0" noProof="0">
              <a:ln>
                <a:noFill/>
              </a:ln>
              <a:solidFill>
                <a:schemeClr val="bg1"/>
              </a:solidFill>
              <a:effectLst/>
              <a:uLnTx/>
              <a:uFillTx/>
              <a:latin typeface="Calibri" panose="020F0502020204030204" pitchFamily="34" charset="0"/>
              <a:ea typeface="Times New Roman" panose="02020603050405020304" pitchFamily="18" charset="0"/>
              <a:cs typeface="Calibri" panose="020F0502020204030204" pitchFamily="34" charset="0"/>
            </a:endParaRPr>
          </a:p>
        </p:txBody>
      </p:sp>
      <p:sp>
        <p:nvSpPr>
          <p:cNvPr id="2" name="Text Placeholder 13">
            <a:extLst>
              <a:ext uri="{FF2B5EF4-FFF2-40B4-BE49-F238E27FC236}">
                <a16:creationId xmlns:a16="http://schemas.microsoft.com/office/drawing/2014/main" id="{5D76FC77-0B77-7E02-0CDE-D37755553461}"/>
              </a:ext>
            </a:extLst>
          </p:cNvPr>
          <p:cNvSpPr txBox="1">
            <a:spLocks/>
          </p:cNvSpPr>
          <p:nvPr/>
        </p:nvSpPr>
        <p:spPr>
          <a:xfrm>
            <a:off x="550863" y="266218"/>
            <a:ext cx="11089753" cy="161001"/>
          </a:xfrm>
          <a:prstGeom prst="rect">
            <a:avLst/>
          </a:prstGeom>
        </p:spPr>
        <p:txBody>
          <a:bodyPr lIns="0" tIns="0" bIns="0"/>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Tx/>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Tx/>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chemeClr val="bg1"/>
                </a:solidFill>
                <a:effectLst/>
                <a:uLnTx/>
                <a:uFillTx/>
                <a:latin typeface="Ubuntu"/>
                <a:ea typeface="+mn-ea"/>
                <a:cs typeface="+mn-cs"/>
              </a:rPr>
              <a:t>Capgemini Portugal</a:t>
            </a:r>
            <a:endParaRPr kumimoji="0" lang="en-PL" sz="1000" b="0" i="0" u="none" strike="noStrike" kern="1200" cap="none" spc="0" normalizeH="0" baseline="0" noProof="0">
              <a:ln>
                <a:noFill/>
              </a:ln>
              <a:solidFill>
                <a:schemeClr val="bg1"/>
              </a:solidFill>
              <a:effectLst/>
              <a:uLnTx/>
              <a:uFillTx/>
              <a:latin typeface="Ubuntu"/>
              <a:ea typeface="+mn-ea"/>
              <a:cs typeface="+mn-cs"/>
            </a:endParaRPr>
          </a:p>
        </p:txBody>
      </p:sp>
    </p:spTree>
    <p:extLst>
      <p:ext uri="{BB962C8B-B14F-4D97-AF65-F5344CB8AC3E}">
        <p14:creationId xmlns:p14="http://schemas.microsoft.com/office/powerpoint/2010/main" val="1793717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145038F4-83D9-23F0-EC86-A9C9B04630AC}"/>
              </a:ext>
            </a:extLst>
          </p:cNvPr>
          <p:cNvSpPr txBox="1">
            <a:spLocks noGrp="1"/>
          </p:cNvSpPr>
          <p:nvPr>
            <p:ph type="title" idx="4294967295"/>
          </p:nvPr>
        </p:nvSpPr>
        <p:spPr>
          <a:xfrm>
            <a:off x="407368" y="1370585"/>
            <a:ext cx="2219960" cy="2296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0" normalizeH="0" baseline="0" noProof="0" dirty="0">
                <a:ln>
                  <a:noFill/>
                </a:ln>
                <a:solidFill>
                  <a:schemeClr val="lt1"/>
                </a:solidFill>
                <a:effectLst/>
                <a:uLnTx/>
                <a:uFillTx/>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AU" sz="1400" b="0" i="0" u="none" strike="noStrike" kern="1200" cap="none" spc="0" normalizeH="0" baseline="0" noProof="0">
                <a:ln>
                  <a:noFill/>
                </a:ln>
                <a:solidFill>
                  <a:schemeClr val="bg1"/>
                </a:solidFill>
                <a:effectLst/>
                <a:uLnTx/>
                <a:uFillTx/>
                <a:latin typeface="Ubuntu" panose="020B0504030602030204" pitchFamily="34" charset="0"/>
                <a:ea typeface="+mn-ea"/>
                <a:cs typeface="+mn-cs"/>
              </a:rPr>
              <a:t>About Capgemini</a:t>
            </a:r>
          </a:p>
        </p:txBody>
      </p:sp>
      <p:sp>
        <p:nvSpPr>
          <p:cNvPr id="3" name="Rectangle 2">
            <a:extLst>
              <a:ext uri="{FF2B5EF4-FFF2-40B4-BE49-F238E27FC236}">
                <a16:creationId xmlns:a16="http://schemas.microsoft.com/office/drawing/2014/main" id="{89B8110F-D8D5-3DFE-AD37-49D117B4FBC8}"/>
              </a:ext>
            </a:extLst>
          </p:cNvPr>
          <p:cNvSpPr/>
          <p:nvPr/>
        </p:nvSpPr>
        <p:spPr>
          <a:xfrm>
            <a:off x="407369" y="1749849"/>
            <a:ext cx="4248471"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AU" sz="900" b="0" i="0" noProof="0">
                <a:solidFill>
                  <a:schemeClr val="bg1"/>
                </a:solidFill>
                <a:effectLst/>
                <a:latin typeface="Ubuntu" panose="020B0504030602030204" pitchFamily="34" charset="0"/>
              </a:rPr>
              <a:t>Capgemini is a global business and technology transformation partner, helping organizations to accelerate their dual transition to a digital and sustainable world, while creating tangible impact for enterprises and society. It is a responsible and diverse group of 340,000 team members in more than 50 countries. With its strong over 55-year heritage, Capgemini is trusted by its clients to unlock the value of technology to address the entire breadth of their business needs. It delivers end-to-end services and solutions leveraging strengths from strategy and design to engineering, all </a:t>
            </a:r>
            <a:r>
              <a:rPr lang="en-AU" sz="900" b="0" i="0" noProof="0" err="1">
                <a:solidFill>
                  <a:schemeClr val="bg1"/>
                </a:solidFill>
                <a:effectLst/>
                <a:latin typeface="Ubuntu" panose="020B0504030602030204" pitchFamily="34" charset="0"/>
              </a:rPr>
              <a:t>fueled</a:t>
            </a:r>
            <a:r>
              <a:rPr lang="en-AU" sz="900" b="0" i="0" noProof="0">
                <a:solidFill>
                  <a:schemeClr val="bg1"/>
                </a:solidFill>
                <a:effectLst/>
                <a:latin typeface="Ubuntu" panose="020B0504030602030204" pitchFamily="34" charset="0"/>
              </a:rPr>
              <a:t> by its market leading capabilities in AI, generative AI, cloud and data, combined with its deep industry expertise and partner ecosystem. The Group reported 2024 global revenues of €22.1 billion.</a:t>
            </a:r>
            <a:endParaRPr lang="en-AU" sz="900" noProof="0">
              <a:solidFill>
                <a:schemeClr val="bg1"/>
              </a:solidFill>
              <a:effectLst/>
              <a:ea typeface="Calibri" panose="020F0502020204030204" pitchFamily="34" charset="0"/>
            </a:endParaRPr>
          </a:p>
        </p:txBody>
      </p:sp>
      <p:sp>
        <p:nvSpPr>
          <p:cNvPr id="4" name="Rectangle 3">
            <a:extLst>
              <a:ext uri="{FF2B5EF4-FFF2-40B4-BE49-F238E27FC236}">
                <a16:creationId xmlns:a16="http://schemas.microsoft.com/office/drawing/2014/main" id="{11139ED4-B084-EF28-3E4A-EF3316BC8512}"/>
              </a:ext>
            </a:extLst>
          </p:cNvPr>
          <p:cNvSpPr/>
          <p:nvPr/>
        </p:nvSpPr>
        <p:spPr>
          <a:xfrm>
            <a:off x="407368"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AU" sz="900" noProof="0">
                <a:solidFill>
                  <a:schemeClr val="bg1"/>
                </a:solidFill>
                <a:effectLst/>
                <a:latin typeface="Ubuntu" panose="020B0504030602030204" pitchFamily="34" charset="0"/>
              </a:rPr>
              <a:t>Get the future you want | </a:t>
            </a:r>
            <a:r>
              <a:rPr lang="en-AU" sz="1050" noProof="0">
                <a:solidFill>
                  <a:schemeClr val="accent2"/>
                </a:solidFill>
                <a:latin typeface="Ubuntu" panose="020B0504030602030204" pitchFamily="34" charset="0"/>
              </a:rPr>
              <a:t>www.capgemini.com</a:t>
            </a:r>
          </a:p>
        </p:txBody>
      </p:sp>
    </p:spTree>
    <p:extLst>
      <p:ext uri="{BB962C8B-B14F-4D97-AF65-F5344CB8AC3E}">
        <p14:creationId xmlns:p14="http://schemas.microsoft.com/office/powerpoint/2010/main" val="1623157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AGENDAWIZARD" val="&lt;ee4p&gt;&lt;layouts&gt;&lt;layout name=&quot;Capgemini invent Line Grey&quot; id=&quot;435_2&quot;&gt;&lt;standard&gt;&lt;textframe horizontalAnchor=&quot;1&quot; marginBottom=&quot;0&quot; marginLeft=&quot;0&quot; marginRight=&quot;0&quot; marginTop=&quot;0&quot; orientation=&quot;1&quot; verticalAnchor=&quot;1&quot; /&gt;&lt;font name=&quot;Ubuntu&quot; bold=&quot;0&quot; italic=&quot;0&quot; color=&quot;#ffffff&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hadow visible=&quot;0&quot; /&gt;&lt;/standard&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gt;&lt;columns&gt;&lt;column field=&quot;itemno&quot; label=&quot;No.&quot; checked=&quot;1&quot; leftSpacing=&quot;0&quot; rightSpacing=&quot;0&quot; dock=&quot;1&quot; fixedWidth=&quot;52&quot; /&gt;&lt;column field=&quot;topic&quot; label=&quot;Topic&quot; leftSpacing=&quot;10&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84.31764&quot; top=&quot;128.4218&quot; width=&quot;611.1824&quot; height=&quot;379.8731&quot; /&gt;&lt;settings allowedSizingModeIds=&quot;1|2&quot; allowedFontSizes=&quot;8|9|10|10.5|11|12|14|16|18&quot; allowedTimeFormatIds=&quot;1|2|3&quot; slideLayout=&quot;11&quot; customLayoutName=&quot;1_Agenda&quot; customLayoutNameBackup=&quot;1_Agenda&quot; customLayoutIndex=&quot;&quot; showBreak=&quot;1&quot; singleAgendaSlideSelected=&quot;0&quot; backupSlideTitle=&quot;Backup: %agendaName%&quot; topMargin=&quot;0&quot; leftMargin=&quot;0&quot; allowedLevels=&quot;4&quot; itemNoFormats=&quot;{1:2}¦{1:2}.{2}¦{3:alphaLC}¦{3:alphaLC}.{4:alphaLC}&quot; /&gt;&lt;!-- Agenda item formats --&gt;&lt;cases&gt;&lt;case level=&quot;1&quot; selected=&quot;0&quot; break=&quot;0&quot; topMinSpacing=&quot;15&quot; topMaxSpacing=&quot;15&quot; bottomMinSpacing=&quot;0&quot; bottomMaxSpacing=&quot;0&quo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gt;&lt;textframe marginLeft=&quot;0&quot; marginRight=&quot;0&quot; /&gt;&lt;paragraphformat alignment=&quot;1&quot; /&gt;&lt;font bold=&quot;1&quo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0&quot; break=&quot;0&quot; topMinSpacing=&quot;15&quot; topMaxSpacing=&quot;15&quot; bottomMinSpacing=&quot;0&quot; bottomMaxSpacing=&quot;0&quo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2&quot; selected=&quot;1&quot; break=&quot;0&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itemno&quot; type=&quot;autoshape&quot; autoShapeType=&quot;1&quot; indent=&quot;(level-1)*(itemNoWidth+topicLeftSpacing) &quot; indentType=&quot;1&quot;&gt;&lt;textframe marginLeft=&quot;0&quot; marginRight=&quot;0&quot; /&gt;&lt;paragraphformat alignment=&quot;1&quot; /&gt;&lt;font bold=&quot;1&quot; color=&quot;6&quot; /&gt;&lt;/element&gt;&lt;element field=&quot;topic&quot; type=&quot;autoshape&quot; autoShapeType=&quot;1&quot; indent=&quot;(level-1)*(itemNoWidth+topicLeftSpacing) &quot; indentType=&quot;2&quot;&gt;&lt;paragraphformat alignment=&quot;1&quot; /&gt;&lt;textframe marginLeft=&quot;0&quot; /&gt;&lt;/element&gt;&lt;element field=&quot;responsible&quot; type=&quot;autoshape&quot; autoShapeType=&quot;1&quot; indent=&quot;(level-1)*(itemNoWidth+topicLeftSpacing) &quot; indentType=&quot;1&quot;&gt;&lt;paragraphformat alignment=&quot;1&quot; /&gt;&lt;/element&gt;&lt;element field=&quot;freecolumn&quot; type=&quot;autoshape&quot; autoShapeType=&quot;1&quot; indent=&quot;(level-1)*(itemNoWidth+topicLeftSpacing) &quot; indentType=&quot;1&quot;&gt;&lt;paragraphformat alignment=&quot;1&quot; /&gt;&lt;/element&gt;&lt;element field=&quot;timeslot&quot; type=&quot;autoshape&quot; autoShapeType=&quot;1&quot;&gt;&lt;paragraphformat alignment=&quot;3&quot; /&gt;&lt;/element&gt;&lt;element field=&quot;pageno&quot; type=&quot;autoshape&quot; autoShapeType=&quot;1&quot;&gt;&lt;paragraphformat alignment=&quot;3&quot; /&gt;&lt;/element&gt;&lt;/case&gt;&lt;case level=&quot;1&quot; selected=&quot;0&quot; break=&quot;1&quot; topMinSpacing=&quot;15&quot; topMaxSpacing=&quot;15&quot; bottomMinSpacing=&quot;0&quot; bottomMaxSpacing=&quot;0&quo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 level=&quot;1&quot; selected=&quot;1&quot; break=&quot;1&quot; topMinSpacing=&quot;15&quot; topMaxSpacing=&quot;15&quot; bottomMinSpacing=&quot;0&quot; bottomMaxSpacing=&quot;0&quot;&gt;&lt;element type=&quot;line&quot; value=&quot;&quot;&gt;&lt;position left=&quot;0&quot; top=&quot;itemHeight+3*scale*fontScale&quot; width=&quot;agendaWidth&quot; height=&quot;0&quot; /&gt;&lt;line style=&quot;1&quot; dashStyle=&quot;1&quot; foreColor=&quot;6&quot; transparency=&quot;0&quot; visible=&quot;1&quot; weight=&quot;1&quot; /&gt;&lt;/element&gt;&lt;element type=&quot;line&quot; value=&quot;&quot;&gt;&lt;position left=&quot;0&quot; top=&quot;0&quot; width=&quot;agendaWidth&quot; height=&quot;0&quot; /&gt;&lt;line style=&quot;1&quot; dashStyle=&quot;1&quot; foreColor=&quot;6&quot; transparency=&quot;0&quot; visible=&quot;1&quot; weight=&quot;1&quot; /&gt;&lt;/element&gt;&lt;element field=&quot;topic&quot; type=&quot;autoshape&quot; autoShapeType=&quot;1&quot; indent=&quot;(level-1)*(itemNoWidth+topicLeftSpacing) &quot; indentType=&quot;2&quot;&gt;&lt;paragraphformat alignment=&quot;1&quot; /&gt;&lt;font italic=&quot;1&quot; /&gt;&lt;/element&gt;&lt;element field=&quot;responsible&quot; type=&quot;autoshape&quot; autoShapeType=&quot;1&quot; indent=&quot;(level-1)*(itemNoWidth+topicLeftSpacing) &quot; indentType=&quot;1&quot;&gt;&lt;paragraphformat alignment=&quot;1&quot; /&gt;&lt;font italic=&quot;1&quot; /&gt;&lt;/element&gt;&lt;element field=&quot;freecolumn&quot; type=&quot;autoshape&quot; autoShapeType=&quot;1&quot; indent=&quot;(level-1)*(itemNoWidth+topicLeftSpacing) &quot; indentType=&quot;1&quot;&gt;&lt;paragraphformat alignment=&quot;1&quot; /&gt;&lt;font italic=&quot;1&quot; /&gt;&lt;/element&gt;&lt;element field=&quot;timeslot&quot; type=&quot;autoshape&quot; autoShapeType=&quot;1&quot;&gt;&lt;paragraphformat alignment=&quot;3&quot; /&gt;&lt;font italic=&quot;1&quot; /&gt;&lt;/element&gt;&lt;element field=&quot;pageno&quot; type=&quot;autoshape&quot; autoShapeType=&quot;1&quot;&gt;&lt;paragraphformat alignment=&quot;3&quot; /&gt;&lt;font italic=&quot;1&quot; /&gt;&lt;/element&gt;&lt;/case&gt;&lt;/cases&gt;&lt;!-- Elements on slide independent of items --&gt;&lt;elements&gt;&lt;!--   &lt;element type=&quot;picture&quot; picture=&quot;image.png&quot; value=&quot;asdf&quot;  &gt;&#10;          &lt;position left=&quot;-278.9405&quot; top=&quot;-142.375&quot; width=&quot;457.6407&quot; height=&quot;540.0002&quot;/&gt;        &#10;        &lt;/element&gt;&#10;&#10;        &lt;element type=&quot;picture&quot; picture=&quot;BG_blue.png&quot; value=&quot;asdf&quot;  &gt;&#10;          &lt;position left=&quot;-278.9405&quot; top=&quot;-142.375&quot; width=&quot;960&quot; height=&quot;540&quot;/&gt;        &#10;        &lt;/element&gt; --&gt;&lt;/elements&gt;&lt;/layout&gt;&lt;/layouts&gt;&lt;contents&gt;&lt;agenda name=&quot;New Agenda&quot; title=&quot;Agenda&quot; subtitle=&quot;&quot; sizingModeId=&quot;2&quot; fontSize=&quot;24&quot; fontSizeAuto=&quot;1&quot; startTime=&quot;540&quot; timeFormatId=&quot;2&quot; startItemNo=&quot;1&quot; createSingleAgendaSlide=&quot;1&quot; createSeparatingSlides=&quot;1&quot; createBackupSlide=&quot;1&quot; layoutId=&quot;435_2&quot; hideSeparatingSlides=&quot;0&quot; createSections=&quot;0&quot; singleSlideId=&quot;4a985bb3-9c0f-4d30-bab0-e861f6c1f7d9&quot; backupSlideId=&quot;59f12b8f-bcfa-4c72-806d-af721da5741a&quot;&gt;&lt;columns leftSpacing=&quot;0&quot; rightSpacing=&quot;0&quot;&gt;&lt;column field=&quot;itemno&quot; label=&quot;No.&quot; checked=&quot;1&quot; leftSpacing=&quot;0&quot; rightSpacing=&quot;0&quot; dock=&quot;1&quot; fixedWidth=&quot;52&quot; /&gt;&lt;column field=&quot;topic&quot; label=&quot;Topic&quot; leftSpacing=&quot;10&quot; rightDistribute=&quot;1&quot; dock=&quot;1&quot; rightSpacing=&quot;114.0997&quot; /&gt;&lt;column field=&quot;responsible&quot; label=&quot;Responsible&quot; visible=&quot;1&quot; checked=&quot;1&quot; leftSpacing=&quot;10&quot; rightDistribute=&quot;1&quot; dock=&quot;1&quot; rightSpacing=&quot;114.0997&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items&gt;&lt;item duration=&quot;30&quot; id=&quot;f30ff3b2-059e-47be-bfce-20f89c801ddd&quot; parentId=&quot;&quot; level=&quot;1&quot; generateAgendaSlide=&quot;1&quot; showAgendaItem=&quot;1&quot; isBreak=&quot;0&quot; topic=&quot;Part 1&quot; agendaSlideId=&quot;af0b860f-cd42-4a9e-9c99-a53635a9e083&quot; /&gt;&lt;item duration=&quot;30&quot; id=&quot;7f2c9adb-5359-438f-8174-f3799807dfb9&quot; parentId=&quot;&quot; level=&quot;1&quot; generateAgendaSlide=&quot;1&quot; showAgendaItem=&quot;1&quot; isBreak=&quot;0&quot; topic=&quot;Part 2&quot; agendaSlideId=&quot;07e6bc76-8a2b-48ad-97c4-1f85e540bbd5&quot; /&gt;&lt;item duration=&quot;30&quot; id=&quot;00ba97b5-5509-49fc-95b8-9afe1f8e54cf&quot; parentId=&quot;&quot; level=&quot;1&quot; generateAgendaSlide=&quot;1&quot; showAgendaItem=&quot;1&quot; isBreak=&quot;0&quot; topic=&quot;Part 3&quot; agendaSlideId=&quot;4d6dfe7c-00a3-4d20-aa7f-6447da594e0a&quot; /&gt;&lt;item duration=&quot;30&quot; id=&quot;d6c20a75-a816-4fd9-9cac-9e1eb824eb5f&quot; parentId=&quot;&quot; level=&quot;1&quot; generateAgendaSlide=&quot;1&quot; showAgendaItem=&quot;1&quot; isBreak=&quot;0&quot; topic=&quot;Part 4&quot; agendaSlideId=&quot;d29762e6-a410-4070-9806-5d73acff4eaf&quot; /&gt;&lt;/items&gt;&lt;/agenda&gt;&lt;/contents&gt;&lt;/ee4p&gt;"/>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6.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7.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8.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9.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10.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11.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ags/tag12.xml><?xml version="1.0" encoding="utf-8"?>
<p:tagLst xmlns:a="http://schemas.openxmlformats.org/drawingml/2006/main" xmlns:r="http://schemas.openxmlformats.org/officeDocument/2006/relationships" xmlns:p="http://schemas.openxmlformats.org/presentationml/2006/main">
  <p:tag name="EE4P_AGENDAWIZARD" val="item_68696509-810f-4220-a852-2c26fe3ed797_Element"/>
</p:tagLst>
</file>

<file path=ppt/theme/theme1.xml><?xml version="1.0" encoding="utf-8"?>
<a:theme xmlns:a="http://schemas.openxmlformats.org/drawingml/2006/main" name="Capgemini_2025">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5-new.pptx" id="{1A5E21FD-F1C4-4602-B93C-205760177B2A}" vid="{524A17E9-0B99-43DD-868E-483190FF6BA1}"/>
    </a:ext>
  </a:extLst>
</a:theme>
</file>

<file path=ppt/theme/theme2.xml><?xml version="1.0" encoding="utf-8"?>
<a:theme xmlns:a="http://schemas.openxmlformats.org/drawingml/2006/main" name="1_Office Theme">
  <a:themeElements>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o Offic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Capgemini Invent">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2.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3.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4.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5.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6.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7.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8.xml><?xml version="1.0" encoding="utf-8"?>
<a:themeOverride xmlns:a="http://schemas.openxmlformats.org/drawingml/2006/main">
  <a:clrScheme name="Capgemini">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D005C7-03E4-4069-A4FB-9A9D17E8A0A1}">
  <we:reference id="wa200000729" version="3.19.222.0" store="en-US" storeType="OMEX"/>
  <we:alternateReferences>
    <we:reference id="wa200000729" version="3.19.222.0" store="WA200000729"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7A7807763BD042B5920F5BF2367035" ma:contentTypeVersion="71" ma:contentTypeDescription="Create a new document." ma:contentTypeScope="" ma:versionID="4510042d6e4769ba7d75d5cdb238b5ba">
  <xsd:schema xmlns:xsd="http://www.w3.org/2001/XMLSchema" xmlns:xs="http://www.w3.org/2001/XMLSchema" xmlns:p="http://schemas.microsoft.com/office/2006/metadata/properties" xmlns:ns1="http://schemas.microsoft.com/sharepoint/v3" xmlns:ns2="f1dd10a8-9eb2-4ff7-a8ec-ab99f5e1c406" xmlns:ns3="1213e3f9-8870-4b20-be6f-d37da4f00e7c" xmlns:ns4="af9ff5d0-1094-47a3-9b81-22397605bbab" targetNamespace="http://schemas.microsoft.com/office/2006/metadata/properties" ma:root="true" ma:fieldsID="d2ac1519993a638891a4a07a34eee837" ns1:_="" ns2:_="" ns3:_="" ns4:_="">
    <xsd:import namespace="http://schemas.microsoft.com/sharepoint/v3"/>
    <xsd:import namespace="f1dd10a8-9eb2-4ff7-a8ec-ab99f5e1c406"/>
    <xsd:import namespace="1213e3f9-8870-4b20-be6f-d37da4f00e7c"/>
    <xsd:import namespace="af9ff5d0-1094-47a3-9b81-22397605bbab"/>
    <xsd:element name="properties">
      <xsd:complexType>
        <xsd:sequence>
          <xsd:element name="documentManagement">
            <xsd:complexType>
              <xsd:all>
                <xsd:element ref="ns2:Asset_x0020_Category" minOccurs="0"/>
                <xsd:element ref="ns2:VisualisationCategory" minOccurs="0"/>
                <xsd:element ref="ns2:Archetypes" minOccurs="0"/>
                <xsd:element ref="ns2:GlobalOffers" minOccurs="0"/>
                <xsd:element ref="ns2:Capability_x0020_Unit" minOccurs="0"/>
                <xsd:element ref="ns2:Industry" minOccurs="0"/>
                <xsd:element ref="ns2:Contact_x0020_Person" minOccurs="0"/>
                <xsd:element ref="ns2:Year" minOccurs="0"/>
                <xsd:element ref="ns2:Confidentiality" minOccurs="0"/>
                <xsd:element ref="ns2:Permission" minOccurs="0"/>
                <xsd:element ref="ns2:X_x002d_Port_x0020_Category" minOccurs="0"/>
                <xsd:element ref="ns2:Document_x0020_Type" minOccurs="0"/>
                <xsd:element ref="ns2:IsUploadOnXport" minOccurs="0"/>
                <xsd:element ref="ns2:Main_x0020_Topics" minOccurs="0"/>
                <xsd:element ref="ns2:TempItemId" minOccurs="0"/>
                <xsd:element ref="ns2:Client" minOccurs="0"/>
                <xsd:element ref="ns2:Thumbnail" minOccurs="0"/>
                <xsd:element ref="ns2:SubOffer" minOccurs="0"/>
                <xsd:element ref="ns2:MediaServiceDateTaken" minOccurs="0"/>
                <xsd:element ref="ns2:MediaLengthInSeconds" minOccurs="0"/>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4:IsOfficial" minOccurs="0"/>
                <xsd:element ref="ns1:AverageRating" minOccurs="0"/>
                <xsd:element ref="ns1:RatingCount" minOccurs="0"/>
                <xsd:element ref="ns1:RatedBy" minOccurs="0"/>
                <xsd:element ref="ns1:Ratings" minOccurs="0"/>
                <xsd:element ref="ns1:LikesCount" minOccurs="0"/>
                <xsd:element ref="ns1:LikedBy" minOccurs="0"/>
                <xsd:element ref="ns3:SharedWithUsers" minOccurs="0"/>
                <xsd:element ref="ns3:SharedWithDetails" minOccurs="0"/>
                <xsd:element ref="ns4:MediaServiceSearchProperties" minOccurs="0"/>
                <xsd:element ref="ns4:Industry_x003a_Title" minOccurs="0"/>
                <xsd:element ref="ns4:Capability_x0020_Unit_x003a_Title"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9" nillable="true" ma:displayName="Rating (0-5)" ma:decimals="2" ma:description="Average value of all the ratings that have been submitted" ma:internalName="AverageRating" ma:readOnly="true">
      <xsd:simpleType>
        <xsd:restriction base="dms:Number"/>
      </xsd:simpleType>
    </xsd:element>
    <xsd:element name="RatingCount" ma:index="40" nillable="true" ma:displayName="Number of Ratings" ma:decimals="0" ma:description="Number of ratings submitted" ma:internalName="RatingCount" ma:readOnly="true">
      <xsd:simpleType>
        <xsd:restriction base="dms:Number"/>
      </xsd:simpleType>
    </xsd:element>
    <xsd:element name="RatedBy" ma:index="41"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42" nillable="true" ma:displayName="User ratings" ma:description="User ratings for the item" ma:hidden="true" ma:internalName="Ratings">
      <xsd:simpleType>
        <xsd:restriction base="dms:Note"/>
      </xsd:simpleType>
    </xsd:element>
    <xsd:element name="LikesCount" ma:index="43" nillable="true" ma:displayName="Number of Likes" ma:internalName="LikesCount">
      <xsd:simpleType>
        <xsd:restriction base="dms:Unknown"/>
      </xsd:simpleType>
    </xsd:element>
    <xsd:element name="LikedBy" ma:index="44"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1dd10a8-9eb2-4ff7-a8ec-ab99f5e1c406" elementFormDefault="qualified">
    <xsd:import namespace="http://schemas.microsoft.com/office/2006/documentManagement/types"/>
    <xsd:import namespace="http://schemas.microsoft.com/office/infopath/2007/PartnerControls"/>
    <xsd:element name="Asset_x0020_Category" ma:index="2" nillable="true" ma:displayName="Asset Category" ma:indexed="true" ma:list="{12bdc906-a047-4fea-91d8-3382550dc426}" ma:internalName="Asset_x0020_Category" ma:showField="Title">
      <xsd:simpleType>
        <xsd:restriction base="dms:Lookup"/>
      </xsd:simpleType>
    </xsd:element>
    <xsd:element name="VisualisationCategory" ma:index="3" nillable="true" ma:displayName="Visualization Category" ma:list="{b05db691-1846-4073-b775-031ae4a8ef7d}" ma:internalName="VisualisationCategory" ma:readOnly="false" ma:showField="Title">
      <xsd:simpleType>
        <xsd:restriction base="dms:Lookup"/>
      </xsd:simpleType>
    </xsd:element>
    <xsd:element name="Archetypes" ma:index="4" nillable="true" ma:displayName="Archetypes" ma:list="{df8dbe7f-3a0a-4037-bb10-eb126104646e}" ma:internalName="Archetypes" ma:readOnly="false" ma:showField="Title">
      <xsd:simpleType>
        <xsd:restriction base="dms:Lookup"/>
      </xsd:simpleType>
    </xsd:element>
    <xsd:element name="GlobalOffers" ma:index="5" nillable="true" ma:displayName="GlobalOffers" ma:list="{3435bc14-1912-49b8-bc41-8df390b79b75}" ma:internalName="GlobalOffers" ma:readOnly="false" ma:showField="Title">
      <xsd:simpleType>
        <xsd:restriction base="dms:Lookup"/>
      </xsd:simpleType>
    </xsd:element>
    <xsd:element name="Capability_x0020_Unit" ma:index="6" nillable="true" ma:displayName="Capability Unit" ma:list="{1571a591-d9b0-4b1d-b81d-6e1fd79406a5}" ma:internalName="Capability_x0020_Unit" ma:readOnly="false" ma:showField="Title">
      <xsd:complexType>
        <xsd:complexContent>
          <xsd:extension base="dms:MultiChoiceLookup">
            <xsd:sequence>
              <xsd:element name="Value" type="dms:Lookup" maxOccurs="unbounded" minOccurs="0" nillable="true"/>
            </xsd:sequence>
          </xsd:extension>
        </xsd:complexContent>
      </xsd:complexType>
    </xsd:element>
    <xsd:element name="Industry" ma:index="7" nillable="true" ma:displayName="Industry" ma:list="{8ffde883-d039-4984-ac83-c9004682c426}" ma:internalName="Industry" ma:readOnly="false" ma:showField="Title">
      <xsd:complexType>
        <xsd:complexContent>
          <xsd:extension base="dms:MultiChoiceLookup">
            <xsd:sequence>
              <xsd:element name="Value" type="dms:Lookup" maxOccurs="unbounded" minOccurs="0" nillable="true"/>
            </xsd:sequence>
          </xsd:extension>
        </xsd:complexContent>
      </xsd:complexType>
    </xsd:element>
    <xsd:element name="Contact_x0020_Person" ma:index="8" nillable="true" ma:displayName="Contact Person" ma:list="UserInfo" ma:SharePointGroup="0" ma:internalName="Contact_x0020_Person" ma:readOnly="fals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Year" ma:index="9" nillable="true" ma:displayName="Year" ma:format="Dropdown" ma:internalName="Year">
      <xsd:simpleType>
        <xsd:restriction base="dms:Choice">
          <xsd:enumeration value="2025"/>
          <xsd:enumeration value="2024"/>
          <xsd:enumeration value="2023"/>
          <xsd:enumeration value="2022"/>
          <xsd:enumeration value="2021"/>
          <xsd:enumeration value="2020"/>
          <xsd:enumeration value="2026"/>
        </xsd:restriction>
      </xsd:simpleType>
    </xsd:element>
    <xsd:element name="Confidentiality" ma:index="10" nillable="true" ma:displayName="Confidentiality" ma:format="Dropdown" ma:internalName="Confidentiality">
      <xsd:simpleType>
        <xsd:restriction base="dms:Choice">
          <xsd:enumeration value="SEC 0"/>
          <xsd:enumeration value="SEC 1"/>
          <xsd:enumeration value="SEC 2"/>
        </xsd:restriction>
      </xsd:simpleType>
    </xsd:element>
    <xsd:element name="Permission" ma:index="11" nillable="true" ma:displayName="Permission" ma:format="Dropdown" ma:indexed="true" ma:internalName="Permission">
      <xsd:simpleType>
        <xsd:restriction base="dms:Choice">
          <xsd:enumeration value="Green"/>
          <xsd:enumeration value="Orange"/>
          <xsd:enumeration value="Red"/>
        </xsd:restriction>
      </xsd:simpleType>
    </xsd:element>
    <xsd:element name="X_x002d_Port_x0020_Category" ma:index="12" nillable="true" ma:displayName="X-Port Category" ma:format="Dropdown" ma:indexed="true" ma:internalName="X_x002d_Port_x0020_Category">
      <xsd:simpleType>
        <xsd:restriction base="dms:Choice">
          <xsd:enumeration value="Elevator pitch &amp; Battlecard"/>
          <xsd:enumeration value="Impactful Presentation"/>
          <xsd:enumeration value="Other Information"/>
          <xsd:enumeration value="Delivery Methodology Overview"/>
          <xsd:enumeration value="Leading Point of View"/>
        </xsd:restriction>
      </xsd:simpleType>
    </xsd:element>
    <xsd:element name="Document_x0020_Type" ma:index="13" nillable="true" ma:displayName="Document Type" ma:format="Dropdown" ma:internalName="Document_x0020_Type">
      <xsd:simpleType>
        <xsd:restriction base="dms:Choice">
          <xsd:enumeration value="Internal Webinar"/>
          <xsd:enumeration value="Point of View"/>
          <xsd:enumeration value="Sales Deck"/>
          <xsd:enumeration value="Full Credentials Pack"/>
          <xsd:enumeration value="Client Case Study"/>
          <xsd:enumeration value="Project Methodology"/>
          <xsd:enumeration value="One Pager Credentials"/>
          <xsd:enumeration value="Playbook"/>
          <xsd:enumeration value="White Paper or Research Paper"/>
          <xsd:enumeration value="Internal [resource]"/>
          <xsd:enumeration value="External Webinar"/>
          <xsd:enumeration value="External Event"/>
          <xsd:enumeration value="Client Meeting"/>
          <xsd:enumeration value="Client Proposal"/>
          <xsd:enumeration value="Brochure"/>
          <xsd:enumeration value="Internal Webinar"/>
          <xsd:enumeration value="Meaningful Demo of Real Use Case"/>
          <xsd:enumeration value="Elevator Pitch"/>
          <xsd:enumeration value="Introduction"/>
          <xsd:enumeration value="Assessment Diagnostic Tool"/>
        </xsd:restriction>
      </xsd:simpleType>
    </xsd:element>
    <xsd:element name="IsUploadOnXport" ma:index="14" nillable="true" ma:displayName="IsUploadOnXport" ma:default="0" ma:internalName="IsUploadOnXport">
      <xsd:simpleType>
        <xsd:restriction base="dms:Boolean"/>
      </xsd:simpleType>
    </xsd:element>
    <xsd:element name="Main_x0020_Topics" ma:index="15" nillable="true" ma:displayName="Main Topics" ma:indexed="true" ma:internalName="Main_x0020_Topics">
      <xsd:simpleType>
        <xsd:restriction base="dms:Text">
          <xsd:maxLength value="255"/>
        </xsd:restriction>
      </xsd:simpleType>
    </xsd:element>
    <xsd:element name="TempItemId" ma:index="16" nillable="true" ma:displayName="TempItemId" ma:format="Dropdown" ma:internalName="TempItemId">
      <xsd:simpleType>
        <xsd:restriction base="dms:Text">
          <xsd:maxLength value="255"/>
        </xsd:restriction>
      </xsd:simpleType>
    </xsd:element>
    <xsd:element name="Client" ma:index="18" nillable="true" ma:displayName="Client" ma:indexed="true" ma:internalName="Client">
      <xsd:simpleType>
        <xsd:restriction base="dms:Text">
          <xsd:maxLength value="255"/>
        </xsd:restriction>
      </xsd:simpleType>
    </xsd:element>
    <xsd:element name="Thumbnail" ma:index="19" nillable="true" ma:displayName="Thumbnail" ma:format="Thumbnail" ma:internalName="Thumbnail">
      <xsd:simpleType>
        <xsd:restriction base="dms:Unknown"/>
      </xsd:simpleType>
    </xsd:element>
    <xsd:element name="SubOffer" ma:index="20" nillable="true" ma:displayName="SubOffer" ma:list="{969f12cb-c6e4-4a61-a545-dfe14f291968}" ma:internalName="SubOffer" ma:showField="Title">
      <xsd:simpleType>
        <xsd:restriction base="dms:Lookup"/>
      </xsd:simpleType>
    </xsd:element>
    <xsd:element name="MediaServiceDateTaken" ma:index="23" nillable="true" ma:displayName="MediaServiceDateTaken" ma:hidden="true" ma:indexed="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lcf76f155ced4ddcb4097134ff3c332f" ma:index="33"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35" nillable="true" ma:displayName="Extracted Text" ma:internalName="MediaServiceOCR" ma:readOnly="true">
      <xsd:simpleType>
        <xsd:restriction base="dms:Note">
          <xsd:maxLength value="255"/>
        </xsd:restriction>
      </xsd:simpleType>
    </xsd:element>
    <xsd:element name="MediaServiceGenerationTime" ma:index="36" nillable="true" ma:displayName="MediaServiceGenerationTime" ma:hidden="true" ma:internalName="MediaServiceGenerationTime" ma:readOnly="true">
      <xsd:simpleType>
        <xsd:restriction base="dms:Text"/>
      </xsd:simpleType>
    </xsd:element>
    <xsd:element name="MediaServiceEventHashCode" ma:index="3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213e3f9-8870-4b20-be6f-d37da4f00e7c" elementFormDefault="qualified">
    <xsd:import namespace="http://schemas.microsoft.com/office/2006/documentManagement/types"/>
    <xsd:import namespace="http://schemas.microsoft.com/office/infopath/2007/PartnerControls"/>
    <xsd:element name="TaxCatchAll" ma:index="34" nillable="true" ma:displayName="Taxonomy Catch All Column" ma:hidden="true" ma:list="{b38d1254-c8fb-404d-bd13-81d972287c2c}" ma:internalName="TaxCatchAll" ma:showField="CatchAllData" ma:web="1213e3f9-8870-4b20-be6f-d37da4f00e7c">
      <xsd:complexType>
        <xsd:complexContent>
          <xsd:extension base="dms:MultiChoiceLookup">
            <xsd:sequence>
              <xsd:element name="Value" type="dms:Lookup" maxOccurs="unbounded" minOccurs="0" nillable="true"/>
            </xsd:sequence>
          </xsd:extension>
        </xsd:complexContent>
      </xsd:complexType>
    </xsd:element>
    <xsd:element name="SharedWithUsers" ma:index="4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f9ff5d0-1094-47a3-9b81-22397605bbab" elementFormDefault="qualified">
    <xsd:import namespace="http://schemas.microsoft.com/office/2006/documentManagement/types"/>
    <xsd:import namespace="http://schemas.microsoft.com/office/infopath/2007/PartnerControls"/>
    <xsd:element name="IsOfficial" ma:index="38" nillable="true" ma:displayName="IsOfficial" ma:default="1" ma:format="Dropdown" ma:internalName="IsOfficial">
      <xsd:simpleType>
        <xsd:restriction base="dms:Boolean"/>
      </xsd:simpleType>
    </xsd:element>
    <xsd:element name="MediaServiceSearchProperties" ma:index="47" nillable="true" ma:displayName="MediaServiceSearchProperties" ma:hidden="true" ma:internalName="MediaServiceSearchProperties" ma:readOnly="true">
      <xsd:simpleType>
        <xsd:restriction base="dms:Note"/>
      </xsd:simpleType>
    </xsd:element>
    <xsd:element name="Industry_x003a_Title" ma:index="48" nillable="true" ma:displayName="Industry:Title" ma:list="{8ffde883-d039-4984-ac83-c9004682c426}" ma:internalName="Industry_x003a_Title" ma:readOnly="true" ma:showField="Title" ma:web="7d547f66-ecac-4371-a2ab-94a3e6a562cd">
      <xsd:complexType>
        <xsd:complexContent>
          <xsd:extension base="dms:MultiChoiceLookup">
            <xsd:sequence>
              <xsd:element name="Value" type="dms:Lookup" maxOccurs="unbounded" minOccurs="0" nillable="true"/>
            </xsd:sequence>
          </xsd:extension>
        </xsd:complexContent>
      </xsd:complexType>
    </xsd:element>
    <xsd:element name="Capability_x0020_Unit_x003a_Title" ma:index="49" nillable="true" ma:displayName="Capability Unit:Title" ma:list="{1571a591-d9b0-4b1d-b81d-6e1fd79406a5}" ma:internalName="Capability_x0020_Unit_x003a_Title" ma:readOnly="true" ma:showField="Title" ma:web="7d547f66-ecac-4371-a2ab-94a3e6a562cd">
      <xsd:complexType>
        <xsd:complexContent>
          <xsd:extension base="dms:MultiChoiceLookup">
            <xsd:sequence>
              <xsd:element name="Value" type="dms:Lookup" maxOccurs="unbounded" minOccurs="0" nillable="true"/>
            </xsd:sequence>
          </xsd:extension>
        </xsd:complexContent>
      </xsd:complexType>
    </xsd:element>
    <xsd:element name="MediaServiceBillingMetadata" ma:index="5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7"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ikesCount xmlns="http://schemas.microsoft.com/sharepoint/v3" xsi:nil="true"/>
    <Ratings xmlns="http://schemas.microsoft.com/sharepoint/v3" xsi:nil="true"/>
    <LikedBy xmlns="http://schemas.microsoft.com/sharepoint/v3">
      <UserInfo>
        <DisplayName/>
        <AccountId xsi:nil="true"/>
        <AccountType/>
      </UserInfo>
    </LikedBy>
    <RatedBy xmlns="http://schemas.microsoft.com/sharepoint/v3">
      <UserInfo>
        <DisplayName/>
        <AccountId xsi:nil="true"/>
        <AccountType/>
      </UserInfo>
    </RatedBy>
    <Main_x0020_Topics xmlns="f1dd10a8-9eb2-4ff7-a8ec-ab99f5e1c406">demand,supply,planning,S&amp;OP,operations improvement</Main_x0020_Topics>
    <Capability_x0020_Unit xmlns="f1dd10a8-9eb2-4ff7-a8ec-ab99f5e1c406">
      <Value>2</Value>
    </Capability_x0020_Unit>
    <lcf76f155ced4ddcb4097134ff3c332f xmlns="f1dd10a8-9eb2-4ff7-a8ec-ab99f5e1c406">
      <Terms xmlns="http://schemas.microsoft.com/office/infopath/2007/PartnerControls"/>
    </lcf76f155ced4ddcb4097134ff3c332f>
    <Contact_x0020_Person xmlns="f1dd10a8-9eb2-4ff7-a8ec-ab99f5e1c406">
      <UserInfo>
        <DisplayName>i:0#.f|membership|alicia.lillo-castillo@capgemini.com,#i:0#.f|membership|alicia.lillo-castillo@capgemini.com,#alicia.lillo-castillo@capgemini.com,#,#Lillo Castillo, Alicia,#,#Corporate Functions,#Manager</DisplayName>
        <AccountId>67</AccountId>
        <AccountType/>
      </UserInfo>
      <UserInfo>
        <DisplayName>i:0#.f|membership|maria.reinoso-otero@capgemini.com,#i:0#.f|membership|maria.reinoso-otero@capgemini.com,#maria.reinoso-otero@capgemini.com,#,#Reinoso Otero, Maria,#,#Corporate Functions,#Business Transformn Sr Mgr</DisplayName>
        <AccountId>2878</AccountId>
        <AccountType/>
      </UserInfo>
      <UserInfo>
        <DisplayName>i:0#.f|membership|pablo.aldonza@capgemini.com,#i:0#.f|membership|pablo.aldonza@capgemini.com,#pablo.aldonza@capgemini.com,#,#Aldonza Rubio, Pablo,#,#Corporate Functions,#*Director CSS</DisplayName>
        <AccountId>416</AccountId>
        <AccountType/>
      </UserInfo>
    </Contact_x0020_Person>
    <TaxCatchAll xmlns="1213e3f9-8870-4b20-be6f-d37da4f00e7c" xsi:nil="true"/>
    <Thumbnail xmlns="f1dd10a8-9eb2-4ff7-a8ec-ab99f5e1c406" xsi:nil="true"/>
    <Permission xmlns="f1dd10a8-9eb2-4ff7-a8ec-ab99f5e1c406">Red</Permission>
    <Client xmlns="f1dd10a8-9eb2-4ff7-a8ec-ab99f5e1c406" xsi:nil="true"/>
    <Year xmlns="f1dd10a8-9eb2-4ff7-a8ec-ab99f5e1c406">2026</Year>
    <VisualisationCategory xmlns="f1dd10a8-9eb2-4ff7-a8ec-ab99f5e1c406">5</VisualisationCategory>
    <GlobalOffers xmlns="f1dd10a8-9eb2-4ff7-a8ec-ab99f5e1c406">8</GlobalOffers>
    <X_x002d_Port_x0020_Category xmlns="f1dd10a8-9eb2-4ff7-a8ec-ab99f5e1c406" xsi:nil="true"/>
    <Document_x0020_Type xmlns="f1dd10a8-9eb2-4ff7-a8ec-ab99f5e1c406" xsi:nil="true"/>
    <Archetypes xmlns="f1dd10a8-9eb2-4ff7-a8ec-ab99f5e1c406">2</Archetypes>
    <Asset_x0020_Category xmlns="f1dd10a8-9eb2-4ff7-a8ec-ab99f5e1c406">45</Asset_x0020_Category>
    <Industry xmlns="f1dd10a8-9eb2-4ff7-a8ec-ab99f5e1c406">
      <Value>7</Value>
    </Industry>
    <SubOffer xmlns="f1dd10a8-9eb2-4ff7-a8ec-ab99f5e1c406" xsi:nil="true"/>
    <Confidentiality xmlns="f1dd10a8-9eb2-4ff7-a8ec-ab99f5e1c406">SEC 2</Confidentiality>
    <TempItemId xmlns="f1dd10a8-9eb2-4ff7-a8ec-ab99f5e1c406" xsi:nil="true"/>
    <IsOfficial xmlns="af9ff5d0-1094-47a3-9b81-22397605bbab">true</IsOfficial>
    <IsUploadOnXport xmlns="f1dd10a8-9eb2-4ff7-a8ec-ab99f5e1c406">false</IsUploadOnXport>
    <SharedWithUsers xmlns="1213e3f9-8870-4b20-be6f-d37da4f00e7c">
      <UserInfo>
        <DisplayName/>
        <AccountId xsi:nil="true"/>
        <AccountType/>
      </UserInfo>
    </SharedWithUsers>
    <AverageRating xmlns="http://schemas.microsoft.com/sharepoint/v3" xsi:nil="true"/>
    <RatingCount xmlns="http://schemas.microsoft.com/sharepoint/v3" xsi:nil="true"/>
  </documentManagement>
</p:properties>
</file>

<file path=customXml/itemProps1.xml><?xml version="1.0" encoding="utf-8"?>
<ds:datastoreItem xmlns:ds="http://schemas.openxmlformats.org/officeDocument/2006/customXml" ds:itemID="{FBB43962-FC80-421D-893C-9779D4958F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1dd10a8-9eb2-4ff7-a8ec-ab99f5e1c406"/>
    <ds:schemaRef ds:uri="1213e3f9-8870-4b20-be6f-d37da4f00e7c"/>
    <ds:schemaRef ds:uri="af9ff5d0-1094-47a3-9b81-22397605bb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BFB2CD6-A922-42D0-B0DD-9FD0874529B4}">
  <ds:schemaRefs>
    <ds:schemaRef ds:uri="http://schemas.microsoft.com/sharepoint/v3/contenttype/forms"/>
  </ds:schemaRefs>
</ds:datastoreItem>
</file>

<file path=customXml/itemProps3.xml><?xml version="1.0" encoding="utf-8"?>
<ds:datastoreItem xmlns:ds="http://schemas.openxmlformats.org/officeDocument/2006/customXml" ds:itemID="{E8D3231D-630E-4BCA-96BE-5935CF22B3CA}">
  <ds:schemaRefs>
    <ds:schemaRef ds:uri="http://purl.org/dc/elements/1.1/"/>
    <ds:schemaRef ds:uri="http://schemas.microsoft.com/office/infopath/2007/PartnerControls"/>
    <ds:schemaRef ds:uri="http://schemas.openxmlformats.org/package/2006/metadata/core-properties"/>
    <ds:schemaRef ds:uri="af9ff5d0-1094-47a3-9b81-22397605bbab"/>
    <ds:schemaRef ds:uri="http://www.w3.org/XML/1998/namespace"/>
    <ds:schemaRef ds:uri="f1dd10a8-9eb2-4ff7-a8ec-ab99f5e1c406"/>
    <ds:schemaRef ds:uri="http://purl.org/dc/dcmitype/"/>
    <ds:schemaRef ds:uri="http://purl.org/dc/terms/"/>
    <ds:schemaRef ds:uri="http://schemas.microsoft.com/office/2006/documentManagement/types"/>
    <ds:schemaRef ds:uri="1213e3f9-8870-4b20-be6f-d37da4f00e7c"/>
    <ds:schemaRef ds:uri="http://schemas.microsoft.com/sharepoint/v3"/>
    <ds:schemaRef ds:uri="http://schemas.microsoft.com/office/2006/metadata/propertie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4909</TotalTime>
  <Words>9801</Words>
  <Application>Microsoft Office PowerPoint</Application>
  <PresentationFormat>Widescreen</PresentationFormat>
  <Paragraphs>613</Paragraphs>
  <Slides>25</Slides>
  <Notes>8</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25</vt:i4>
      </vt:variant>
    </vt:vector>
  </HeadingPairs>
  <TitlesOfParts>
    <vt:vector size="40" baseType="lpstr">
      <vt:lpstr>Tahoma</vt:lpstr>
      <vt:lpstr>Arial</vt:lpstr>
      <vt:lpstr>Segoe UI</vt:lpstr>
      <vt:lpstr>Verdana</vt:lpstr>
      <vt:lpstr>Ubuntu Light</vt:lpstr>
      <vt:lpstr>Wingdings</vt:lpstr>
      <vt:lpstr>Calibri</vt:lpstr>
      <vt:lpstr>Ubuntu</vt:lpstr>
      <vt:lpstr>Arial Narrow</vt:lpstr>
      <vt:lpstr>Ubuntu Medium</vt:lpstr>
      <vt:lpstr>Wingdings,Sans-Serif</vt:lpstr>
      <vt:lpstr>Capgemini_2025</vt:lpstr>
      <vt:lpstr>1_Office Theme</vt:lpstr>
      <vt:lpstr>3_Office Theme</vt:lpstr>
      <vt:lpstr>think-cell Slide</vt:lpstr>
      <vt:lpstr>Agenda</vt:lpstr>
      <vt:lpstr> </vt:lpstr>
      <vt:lpstr>Agenda</vt:lpstr>
      <vt:lpstr> </vt:lpstr>
      <vt:lpstr> </vt:lpstr>
      <vt:lpstr> </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Agenda</vt:lpstr>
      <vt:lpstr>PowerPoint Presentation</vt:lpstr>
      <vt:lpstr>Agenda</vt:lpstr>
      <vt:lpstr>Corporate Responsibility and Sustainability Commitment</vt:lpstr>
      <vt:lpstr>Agenda</vt:lpstr>
      <vt:lpstr>General Terms and Conditions (1/3)</vt:lpstr>
      <vt:lpstr>General Terms and Conditions (2/3)</vt:lpstr>
      <vt:lpstr>General Terms and Conditions (3/3)</vt:lpstr>
      <vt:lpstr>About Capgemini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planning, Supply planning and S&amp;OP implementation</dc:title>
  <dc:subject>Template</dc:subject>
  <dc:creator>Reinoso Otero, Maria</dc:creator>
  <cp:lastModifiedBy>E, Monika</cp:lastModifiedBy>
  <cp:revision>6</cp:revision>
  <dcterms:created xsi:type="dcterms:W3CDTF">2025-05-12T09:21:05Z</dcterms:created>
  <dcterms:modified xsi:type="dcterms:W3CDTF">2026-10-19T08:35:23Z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0x010100917A7807763BD042B5920F5BF2367035</vt:lpwstr>
  </property>
  <property fmtid="{D5CDD505-2E9C-101B-9397-08002B2CF9AE}" pid="3" name="MediaServiceImageTags">
    <vt:lpwstr/>
  </property>
  <property fmtid="{D5CDD505-2E9C-101B-9397-08002B2CF9AE}" pid="4" name="Global">
    <vt:lpwstr>Yes</vt:lpwstr>
  </property>
  <property fmtid="{D5CDD505-2E9C-101B-9397-08002B2CF9AE}" pid="5" name="Order">
    <vt:lpwstr>82900.0000000000</vt:lpwstr>
  </property>
  <property fmtid="{D5CDD505-2E9C-101B-9397-08002B2CF9AE}" pid="6" name="AssetCategories">
    <vt:lpwstr>Proposals</vt:lpwstr>
  </property>
  <property fmtid="{D5CDD505-2E9C-101B-9397-08002B2CF9AE}" pid="7" name="xd_ProgID">
    <vt:lpwstr/>
  </property>
  <property fmtid="{D5CDD505-2E9C-101B-9397-08002B2CF9AE}" pid="8" name="Contract Value">
    <vt:lpwstr>N/A</vt:lpwstr>
  </property>
  <property fmtid="{D5CDD505-2E9C-101B-9397-08002B2CF9AE}" pid="9" name="Permission Status">
    <vt:lpwstr>Red</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IsMetaTagUpdatedInSheet">
    <vt:lpwstr>false</vt:lpwstr>
  </property>
  <property fmtid="{D5CDD505-2E9C-101B-9397-08002B2CF9AE}" pid="14" name="NSO Go-to-market Tools">
    <vt:lpwstr>N/A</vt:lpwstr>
  </property>
  <property fmtid="{D5CDD505-2E9C-101B-9397-08002B2CF9AE}" pid="15" name="xd_Signature">
    <vt:lpwstr/>
  </property>
  <property fmtid="{D5CDD505-2E9C-101B-9397-08002B2CF9AE}" pid="16" name="Offerings">
    <vt:lpwstr>6</vt:lpwstr>
  </property>
  <property fmtid="{D5CDD505-2E9C-101B-9397-08002B2CF9AE}" pid="17" name="Industry2021">
    <vt:lpwstr>7</vt:lpwstr>
  </property>
  <property fmtid="{D5CDD505-2E9C-101B-9397-08002B2CF9AE}" pid="18" name="SubGeography0">
    <vt:lpwstr>18</vt:lpwstr>
  </property>
  <property fmtid="{D5CDD505-2E9C-101B-9397-08002B2CF9AE}" pid="19" name="SEC Status">
    <vt:lpwstr>SEC 2</vt:lpwstr>
  </property>
  <property fmtid="{D5CDD505-2E9C-101B-9397-08002B2CF9AE}" pid="20" name="Content Language New">
    <vt:lpwstr>French</vt:lpwstr>
  </property>
  <property fmtid="{D5CDD505-2E9C-101B-9397-08002B2CF9AE}" pid="21" name="Country where delivered">
    <vt:lpwstr>SCE</vt:lpwstr>
  </property>
  <property fmtid="{D5CDD505-2E9C-101B-9397-08002B2CF9AE}" pid="22" name="TriggerFlowInfo">
    <vt:lpwstr/>
  </property>
</Properties>
</file>